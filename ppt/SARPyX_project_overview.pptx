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9" r:id="rId4"/>
    <p:sldId id="260" r:id="rId5"/>
    <p:sldId id="261" r:id="rId6"/>
    <p:sldId id="263" r:id="rId7"/>
    <p:sldId id="264" r:id="rId8"/>
    <p:sldId id="265" r:id="rId9"/>
    <p:sldId id="266" r:id="rId10"/>
    <p:sldId id="267" r:id="rId11"/>
    <p:sldId id="268" r:id="rId12"/>
    <p:sldId id="272" r:id="rId13"/>
    <p:sldId id="269" r:id="rId14"/>
    <p:sldId id="270" r:id="rId15"/>
    <p:sldId id="271"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746"/>
    <p:restoredTop sz="94610"/>
  </p:normalViewPr>
  <p:slideViewPr>
    <p:cSldViewPr snapToGrid="0" snapToObjects="1">
      <p:cViewPr varScale="1">
        <p:scale>
          <a:sx n="217" d="100"/>
          <a:sy n="217" d="100"/>
        </p:scale>
        <p:origin x="408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92374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original presentation slide 1: /mnt/data/SARPyX_project_overview.pptx</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original presentation slide 2: /mnt/data/SARPyX_project_overview.pptx</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original presentation slide 4: /mnt/data/SARPyX_project_overview.pptx</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User-provided original presentation slide 5: /mnt/data/SARPyX_project_overview.pptx</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SARPyX overview, architecture, and usage docs: https://github.com/sirbastiano/srp
- SARPyX CLI usage examples: https://raw.githubusercontent.com/sirbastiano/srp/main/docs/usage.html
- WORLDSAR introduction and execution model: https://sirbastiano.github.io/WORLDSAR/intro.html
- WORLDSAR repository (apptainer branch): https://github.com/sirbastiano/WORLDSAR/tree/apptainer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WORLDSAR getting started docs: https://sirbastiano.github.io/WORLDSAR/getting-started.html
- WORLDSAR runtime assets docs: https://sirbastiano.github.io/WORLDSAR/runtime-assets.html
- WORLDSAR input and running docs: https://sirbastiano.github.io/WORLDSAR/input-and-run.html
- WORLDSAR repository apptainer branch: https://github.com/sirbastiano/WORLDSAR/tree/apptainer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WORLDSAR repository apptainer branch: https://github.com/sirbastiano/WORLDSAR/tree/apptainer
- WORLDSAR raw main.sh (apptainer): https://raw.githubusercontent.com/sirbastiano/WORLDSAR/apptainer/main.sh
- WORLDSAR raw Makefile (apptainer): https://raw.githubusercontent.com/sirbastiano/WORLDSAR/apptainer/Makefile
- WORLDSAR raw worldsar.py (apptainer): https://raw.githubusercontent.com/sirbastiano/WORLDSAR/apptainer/pyscripts/worldsar.py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WORLDSAR acquisition modes table: https://sirbastiano.github.io/WORLDSAR/sar-acquisition-modes-tables.html
- WORLDSAR raw worldsar.py router logic: https://raw.githubusercontent.com/sirbastiano/WORLDSAR/apptainer/pyscripts/worldsar.py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WORLDSAR raw worldsar.py (apptainer branch): https://raw.githubusercontent.com/sirbastiano/WORLDSAR/apptainer/pyscripts/worldsar.py
- WORLDSAR Sentinel-1 metadata page for observed outputs and processing lineage: https://sirbastiano.github.io/WORLDSAR/sentinel1-metadata.html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WORLDSAR raw worldsar.py Sentinel routing and pipeline logic: https://raw.githubusercontent.com/sirbastiano/WORLDSAR/apptainer/pyscripts/worldsar.py
- WORLDSAR acquisition modes table: https://sirbastiano.github.io/WORLDSAR/sar-acquisition-modes-tables.html</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WORLDSAR raw worldsar.py tiling and database helpers: https://raw.githubusercontent.com/sirbastiano/WORLDSAR/apptainer/pyscripts/worldsar.py
- WORLDSAR Sentinel-1 metadata page for HDF5 tile structure: https://sirbastiano.github.io/WORLDSAR/sentinel1-metadata.html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4BE2A1-AF88-39F2-6072-ED763F013D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A63C37-8568-5184-3E21-FF6AA75DE5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D42133-8FC6-8258-E902-3DB8C910721F}"/>
              </a:ext>
            </a:extLst>
          </p:cNvPr>
          <p:cNvSpPr>
            <a:spLocks noGrp="1"/>
          </p:cNvSpPr>
          <p:nvPr>
            <p:ph type="body" idx="1"/>
          </p:nvPr>
        </p:nvSpPr>
        <p:spPr/>
        <p:txBody>
          <a:bodyPr/>
          <a:lstStyle/>
          <a:p>
            <a:r>
              <a:rPr lang="en-US" dirty="0"/>
              <a:t>[Sources]
- WORLDSAR raw worldsar.py tiling and database helpers: https://raw.githubusercontent.com/sirbastiano/WORLDSAR/apptainer/pyscripts/worldsar.py
- WORLDSAR Sentinel-1 metadata page for HDF5 tile structure: https://sirbastiano.github.io/WORLDSAR/sentinel1-metadata.html</a:t>
            </a:r>
          </a:p>
        </p:txBody>
      </p:sp>
      <p:sp>
        <p:nvSpPr>
          <p:cNvPr id="4" name="Slide Number Placeholder 3">
            <a:extLst>
              <a:ext uri="{FF2B5EF4-FFF2-40B4-BE49-F238E27FC236}">
                <a16:creationId xmlns:a16="http://schemas.microsoft.com/office/drawing/2014/main" id="{AB7A455D-DFCC-6DAD-6942-9E9086FA1950}"/>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4860727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WORLDSAR Sentinel-1 metadata documentation: https://sirbastiano.github.io/WORLDSAR/sentinel1-metadata.html
- WORLDSAR raw worldsar.py output, subset, and database logic: https://raw.githubusercontent.com/sirbastiano/WORLDSAR/apptainer/pyscripts/worldsar.py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WORLDSAR raw Makefile defaults (apptainer branch): https://raw.githubusercontent.com/sirbastiano/WORLDSAR/apptainer/Makefile
- WORLDSAR input and running docs: https://sirbastiano.github.io/WORLDSAR/input-and-run.html
- WORLDSAR operations docs: https://sirbastiano.github.io/WORLDSAR/operations.html</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SARPyX usage and architecture docs: https://raw.githubusercontent.com/sirbastiano/srp/main/docs/usage.html
- WORLDSAR introduction and running docs: https://sirbastiano.github.io/WORLDSAR/intro.html
- WORLDSAR repository apptainer branch: https://github.com/sirbastiano/WORLDSAR/tree/apptainer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6.jpe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mnt/data/SARPyX_project_overview/slide-1.png"/>
          <p:cNvPicPr>
            <a:picLocks noChangeAspect="1"/>
          </p:cNvPicPr>
          <p:nvPr/>
        </p:nvPicPr>
        <p:blipFill>
          <a:blip r:embed="rId3"/>
          <a:stretch>
            <a:fillRect/>
          </a:stretch>
        </p:blipFill>
        <p:spPr>
          <a:xfrm>
            <a:off x="0" y="0"/>
            <a:ext cx="12167088" cy="6839712"/>
          </a:xfrm>
          <a:prstGeom prst="rect">
            <a:avLst/>
          </a:prstGeom>
        </p:spPr>
      </p:pic>
      <p:sp>
        <p:nvSpPr>
          <p:cNvPr id="3" name="TextBox 2">
            <a:extLst>
              <a:ext uri="{FF2B5EF4-FFF2-40B4-BE49-F238E27FC236}">
                <a16:creationId xmlns:a16="http://schemas.microsoft.com/office/drawing/2014/main" id="{5C9E4348-613E-F2C0-B8F2-FDF436A08660}"/>
              </a:ext>
            </a:extLst>
          </p:cNvPr>
          <p:cNvSpPr txBox="1"/>
          <p:nvPr/>
        </p:nvSpPr>
        <p:spPr>
          <a:xfrm>
            <a:off x="1361211" y="5216235"/>
            <a:ext cx="3306483" cy="369332"/>
          </a:xfrm>
          <a:prstGeom prst="rect">
            <a:avLst/>
          </a:prstGeom>
          <a:noFill/>
        </p:spPr>
        <p:txBody>
          <a:bodyPr wrap="none" rtlCol="0">
            <a:spAutoFit/>
          </a:bodyPr>
          <a:lstStyle/>
          <a:p>
            <a:r>
              <a:rPr lang="en-US" dirty="0">
                <a:solidFill>
                  <a:schemeClr val="bg1">
                    <a:lumMod val="75000"/>
                  </a:schemeClr>
                </a:solidFill>
                <a:latin typeface="NotesEsa" panose="02000506030000020004" pitchFamily="2" charset="77"/>
                <a:cs typeface="Arial" panose="020B0604020202020204" pitchFamily="34" charset="0"/>
              </a:rPr>
              <a:t>- made with love by </a:t>
            </a:r>
            <a:r>
              <a:rPr lang="en-US" dirty="0" err="1">
                <a:solidFill>
                  <a:schemeClr val="bg1">
                    <a:lumMod val="75000"/>
                  </a:schemeClr>
                </a:solidFill>
                <a:latin typeface="NotesEsa" panose="02000506030000020004" pitchFamily="2" charset="77"/>
                <a:cs typeface="Arial" panose="020B0604020202020204" pitchFamily="34" charset="0"/>
              </a:rPr>
              <a:t>sirbastiano</a:t>
            </a:r>
            <a:r>
              <a:rPr lang="en-US" dirty="0">
                <a:solidFill>
                  <a:schemeClr val="bg1">
                    <a:lumMod val="75000"/>
                  </a:schemeClr>
                </a:solidFill>
                <a:latin typeface="NotesEsa" panose="02000506030000020004" pitchFamily="2" charset="77"/>
                <a:cs typeface="Arial" panose="020B0604020202020204" pitchFamily="34" charset="0"/>
              </a:rPr>
              <a:t> -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mnt/data/SARPyX_project_overview/slide-2.png"/>
          <p:cNvPicPr>
            <a:picLocks noChangeAspect="1"/>
          </p:cNvPicPr>
          <p:nvPr/>
        </p:nvPicPr>
        <p:blipFill>
          <a:blip r:embed="rId3"/>
          <a:stretch>
            <a:fillRect/>
          </a:stretch>
        </p:blipFill>
        <p:spPr>
          <a:xfrm>
            <a:off x="24912" y="18288"/>
            <a:ext cx="12167088" cy="683971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mnt/data/SARPyX_project_overview/slide-4.png"/>
          <p:cNvPicPr>
            <a:picLocks noChangeAspect="1"/>
          </p:cNvPicPr>
          <p:nvPr/>
        </p:nvPicPr>
        <p:blipFill>
          <a:blip r:embed="rId3"/>
          <a:stretch>
            <a:fillRect/>
          </a:stretch>
        </p:blipFill>
        <p:spPr>
          <a:xfrm>
            <a:off x="12304" y="9144"/>
            <a:ext cx="12167088" cy="683971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mnt/data/SARPyX_project_overview/slide-5.png"/>
          <p:cNvPicPr>
            <a:picLocks noChangeAspect="1"/>
          </p:cNvPicPr>
          <p:nvPr/>
        </p:nvPicPr>
        <p:blipFill>
          <a:blip r:embed="rId3"/>
          <a:stretch>
            <a:fillRect/>
          </a:stretch>
        </p:blipFill>
        <p:spPr>
          <a:xfrm>
            <a:off x="12304" y="9144"/>
            <a:ext cx="12167088" cy="683971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356616"/>
            <a:ext cx="11109960" cy="0"/>
          </a:xfrm>
          <a:prstGeom prst="line">
            <a:avLst/>
          </a:prstGeom>
          <a:noFill/>
          <a:ln w="19050">
            <a:solidFill>
              <a:srgbClr val="4A4A4A"/>
            </a:solidFill>
            <a:prstDash val="solid"/>
          </a:ln>
        </p:spPr>
        <p:txBody>
          <a:bodyPr/>
          <a:lstStyle/>
          <a:p>
            <a:endParaRPr lang="en-US"/>
          </a:p>
        </p:txBody>
      </p:sp>
      <p:sp>
        <p:nvSpPr>
          <p:cNvPr id="3" name="Text 1"/>
          <p:cNvSpPr/>
          <p:nvPr/>
        </p:nvSpPr>
        <p:spPr>
          <a:xfrm>
            <a:off x="694944" y="512064"/>
            <a:ext cx="7863840" cy="457200"/>
          </a:xfrm>
          <a:prstGeom prst="rect">
            <a:avLst/>
          </a:prstGeom>
          <a:noFill/>
          <a:ln/>
        </p:spPr>
        <p:txBody>
          <a:bodyPr wrap="square" lIns="0" tIns="0" rIns="0" bIns="0" rtlCol="0" anchor="ctr">
            <a:normAutofit/>
          </a:bodyPr>
          <a:lstStyle/>
          <a:p>
            <a:pPr marL="0" indent="0">
              <a:buNone/>
            </a:pPr>
            <a:r>
              <a:rPr lang="en-US" sz="2700" b="1" dirty="0">
                <a:solidFill>
                  <a:srgbClr val="222222"/>
                </a:solidFill>
                <a:latin typeface="Arial" pitchFamily="34" charset="0"/>
                <a:ea typeface="Arial" pitchFamily="34" charset="-122"/>
                <a:cs typeface="Arial" pitchFamily="34" charset="-120"/>
              </a:rPr>
              <a:t>How SARPyX and WORLDSAR fit together</a:t>
            </a:r>
            <a:endParaRPr lang="en-US" sz="2700" dirty="0"/>
          </a:p>
        </p:txBody>
      </p:sp>
      <p:sp>
        <p:nvSpPr>
          <p:cNvPr id="4" name="Text 2"/>
          <p:cNvSpPr/>
          <p:nvPr/>
        </p:nvSpPr>
        <p:spPr>
          <a:xfrm>
            <a:off x="694944" y="987552"/>
            <a:ext cx="10424160" cy="256032"/>
          </a:xfrm>
          <a:prstGeom prst="rect">
            <a:avLst/>
          </a:prstGeom>
          <a:noFill/>
          <a:ln/>
        </p:spPr>
        <p:txBody>
          <a:bodyPr wrap="square" lIns="0" tIns="0" rIns="0" bIns="0" rtlCol="0" anchor="ctr">
            <a:normAutofit/>
          </a:bodyPr>
          <a:lstStyle/>
          <a:p>
            <a:pPr marL="0" indent="0">
              <a:buNone/>
            </a:pPr>
            <a:r>
              <a:rPr lang="en-US" sz="1150" dirty="0">
                <a:solidFill>
                  <a:srgbClr val="6E6E6E"/>
                </a:solidFill>
                <a:latin typeface="Arial" pitchFamily="34" charset="0"/>
                <a:ea typeface="Arial" pitchFamily="34" charset="-122"/>
                <a:cs typeface="Arial" pitchFamily="34" charset="-120"/>
              </a:rPr>
              <a:t>Operational framing for direct CLI use, reproducible execution, and mission-aware preprocessing</a:t>
            </a:r>
            <a:endParaRPr lang="en-US" sz="1150" dirty="0"/>
          </a:p>
        </p:txBody>
      </p:sp>
      <p:sp>
        <p:nvSpPr>
          <p:cNvPr id="5" name="Text 3"/>
          <p:cNvSpPr/>
          <p:nvPr/>
        </p:nvSpPr>
        <p:spPr>
          <a:xfrm>
            <a:off x="749808" y="1426464"/>
            <a:ext cx="3108960" cy="219456"/>
          </a:xfrm>
          <a:prstGeom prst="rect">
            <a:avLst/>
          </a:prstGeom>
          <a:noFill/>
          <a:ln/>
        </p:spPr>
        <p:txBody>
          <a:bodyPr wrap="square" lIns="0" tIns="0" rIns="0" bIns="0" rtlCol="0" anchor="ctr">
            <a:normAutofit/>
          </a:bodyPr>
          <a:lstStyle/>
          <a:p>
            <a:pPr marL="0" indent="0">
              <a:buNone/>
            </a:pPr>
            <a:r>
              <a:rPr lang="en-US" sz="1080" b="1" dirty="0">
                <a:solidFill>
                  <a:srgbClr val="6E6E6E"/>
                </a:solidFill>
                <a:latin typeface="Arial" pitchFamily="34" charset="0"/>
                <a:ea typeface="Arial" pitchFamily="34" charset="-122"/>
                <a:cs typeface="Arial" pitchFamily="34" charset="-120"/>
              </a:rPr>
              <a:t>OPERATIONAL STACK</a:t>
            </a:r>
            <a:endParaRPr lang="en-US" sz="1080" dirty="0"/>
          </a:p>
        </p:txBody>
      </p:sp>
      <p:sp>
        <p:nvSpPr>
          <p:cNvPr id="6" name="Shape 4"/>
          <p:cNvSpPr/>
          <p:nvPr/>
        </p:nvSpPr>
        <p:spPr>
          <a:xfrm>
            <a:off x="2578608" y="2359152"/>
            <a:ext cx="301752" cy="0"/>
          </a:xfrm>
          <a:prstGeom prst="line">
            <a:avLst/>
          </a:prstGeom>
          <a:noFill/>
          <a:ln w="19050">
            <a:solidFill>
              <a:srgbClr val="C9C9C9"/>
            </a:solidFill>
            <a:prstDash val="solid"/>
            <a:tailEnd type="triangle"/>
          </a:ln>
        </p:spPr>
        <p:txBody>
          <a:bodyPr/>
          <a:lstStyle/>
          <a:p>
            <a:endParaRPr lang="en-US"/>
          </a:p>
        </p:txBody>
      </p:sp>
      <p:sp>
        <p:nvSpPr>
          <p:cNvPr id="7" name="Shape 5"/>
          <p:cNvSpPr/>
          <p:nvPr/>
        </p:nvSpPr>
        <p:spPr>
          <a:xfrm>
            <a:off x="5413248" y="2359152"/>
            <a:ext cx="301752" cy="0"/>
          </a:xfrm>
          <a:prstGeom prst="line">
            <a:avLst/>
          </a:prstGeom>
          <a:noFill/>
          <a:ln w="19050">
            <a:solidFill>
              <a:srgbClr val="C9C9C9"/>
            </a:solidFill>
            <a:prstDash val="solid"/>
            <a:tailEnd type="triangle"/>
          </a:ln>
        </p:spPr>
        <p:txBody>
          <a:bodyPr/>
          <a:lstStyle/>
          <a:p>
            <a:endParaRPr lang="en-US"/>
          </a:p>
        </p:txBody>
      </p:sp>
      <p:sp>
        <p:nvSpPr>
          <p:cNvPr id="8" name="Shape 6"/>
          <p:cNvSpPr/>
          <p:nvPr/>
        </p:nvSpPr>
        <p:spPr>
          <a:xfrm>
            <a:off x="8247888" y="2359152"/>
            <a:ext cx="301752" cy="0"/>
          </a:xfrm>
          <a:prstGeom prst="line">
            <a:avLst/>
          </a:prstGeom>
          <a:noFill/>
          <a:ln w="19050">
            <a:solidFill>
              <a:srgbClr val="C9C9C9"/>
            </a:solidFill>
            <a:prstDash val="solid"/>
            <a:tailEnd type="triangle"/>
          </a:ln>
        </p:spPr>
        <p:txBody>
          <a:bodyPr/>
          <a:lstStyle/>
          <a:p>
            <a:endParaRPr lang="en-US"/>
          </a:p>
        </p:txBody>
      </p:sp>
      <p:sp>
        <p:nvSpPr>
          <p:cNvPr id="9" name="Shape 7"/>
          <p:cNvSpPr/>
          <p:nvPr/>
        </p:nvSpPr>
        <p:spPr>
          <a:xfrm>
            <a:off x="749808" y="1874520"/>
            <a:ext cx="1828800" cy="969264"/>
          </a:xfrm>
          <a:prstGeom prst="roundRect">
            <a:avLst>
              <a:gd name="adj" fmla="val 7547"/>
            </a:avLst>
          </a:prstGeom>
          <a:solidFill>
            <a:srgbClr val="F6F6F6"/>
          </a:solidFill>
          <a:ln w="12700">
            <a:solidFill>
              <a:srgbClr val="C9C9C9"/>
            </a:solidFill>
            <a:prstDash val="solid"/>
          </a:ln>
        </p:spPr>
        <p:txBody>
          <a:bodyPr/>
          <a:lstStyle/>
          <a:p>
            <a:endParaRPr lang="en-US"/>
          </a:p>
        </p:txBody>
      </p:sp>
      <p:sp>
        <p:nvSpPr>
          <p:cNvPr id="10" name="Text 8"/>
          <p:cNvSpPr/>
          <p:nvPr/>
        </p:nvSpPr>
        <p:spPr>
          <a:xfrm>
            <a:off x="896112" y="2002536"/>
            <a:ext cx="1536192" cy="237744"/>
          </a:xfrm>
          <a:prstGeom prst="rect">
            <a:avLst/>
          </a:prstGeom>
          <a:noFill/>
          <a:ln/>
        </p:spPr>
        <p:txBody>
          <a:bodyPr wrap="square" lIns="0" tIns="0" rIns="0" bIns="0" rtlCol="0" anchor="t">
            <a:normAutofit/>
          </a:bodyPr>
          <a:lstStyle/>
          <a:p>
            <a:pPr marL="0" indent="0" algn="l">
              <a:buNone/>
            </a:pPr>
            <a:r>
              <a:rPr lang="en-US" sz="1300" b="1" dirty="0">
                <a:solidFill>
                  <a:srgbClr val="222222"/>
                </a:solidFill>
                <a:latin typeface="Arial" pitchFamily="34" charset="0"/>
                <a:ea typeface="Arial" pitchFamily="34" charset="-122"/>
                <a:cs typeface="Arial" pitchFamily="34" charset="-120"/>
              </a:rPr>
              <a:t>Input products</a:t>
            </a:r>
            <a:endParaRPr lang="en-US" sz="1300" dirty="0"/>
          </a:p>
        </p:txBody>
      </p:sp>
      <p:sp>
        <p:nvSpPr>
          <p:cNvPr id="11" name="Text 9"/>
          <p:cNvSpPr/>
          <p:nvPr/>
        </p:nvSpPr>
        <p:spPr>
          <a:xfrm>
            <a:off x="896112" y="2258568"/>
            <a:ext cx="1536192" cy="475488"/>
          </a:xfrm>
          <a:prstGeom prst="rect">
            <a:avLst/>
          </a:prstGeom>
          <a:noFill/>
          <a:ln/>
        </p:spPr>
        <p:txBody>
          <a:bodyPr wrap="square" lIns="0" tIns="0" rIns="0" bIns="0" rtlCol="0" anchor="t">
            <a:normAutofit/>
          </a:bodyPr>
          <a:lstStyle/>
          <a:p>
            <a:pPr marL="0" indent="0" algn="l">
              <a:buNone/>
            </a:pPr>
            <a:r>
              <a:rPr lang="en-US" sz="1040" dirty="0">
                <a:solidFill>
                  <a:srgbClr val="444444"/>
                </a:solidFill>
                <a:latin typeface="Arial" pitchFamily="34" charset="0"/>
                <a:ea typeface="Arial" pitchFamily="34" charset="-122"/>
                <a:cs typeface="Arial" pitchFamily="34" charset="-120"/>
              </a:rPr>
              <a:t>SAFE archives, ZIP bundles, vendor-native SAR products</a:t>
            </a:r>
            <a:endParaRPr lang="en-US" sz="1040" dirty="0"/>
          </a:p>
        </p:txBody>
      </p:sp>
      <p:sp>
        <p:nvSpPr>
          <p:cNvPr id="12" name="Shape 10"/>
          <p:cNvSpPr/>
          <p:nvPr/>
        </p:nvSpPr>
        <p:spPr>
          <a:xfrm>
            <a:off x="2880360" y="1874520"/>
            <a:ext cx="2532888" cy="969264"/>
          </a:xfrm>
          <a:prstGeom prst="roundRect">
            <a:avLst>
              <a:gd name="adj" fmla="val 7547"/>
            </a:avLst>
          </a:prstGeom>
          <a:solidFill>
            <a:srgbClr val="F6F6F6"/>
          </a:solidFill>
          <a:ln w="12700">
            <a:solidFill>
              <a:srgbClr val="C9C9C9"/>
            </a:solidFill>
            <a:prstDash val="solid"/>
          </a:ln>
        </p:spPr>
        <p:txBody>
          <a:bodyPr/>
          <a:lstStyle/>
          <a:p>
            <a:endParaRPr lang="en-US"/>
          </a:p>
        </p:txBody>
      </p:sp>
      <p:sp>
        <p:nvSpPr>
          <p:cNvPr id="13" name="Text 11"/>
          <p:cNvSpPr/>
          <p:nvPr/>
        </p:nvSpPr>
        <p:spPr>
          <a:xfrm>
            <a:off x="3026664" y="2002536"/>
            <a:ext cx="2240280" cy="237744"/>
          </a:xfrm>
          <a:prstGeom prst="rect">
            <a:avLst/>
          </a:prstGeom>
          <a:noFill/>
          <a:ln/>
        </p:spPr>
        <p:txBody>
          <a:bodyPr wrap="square" lIns="0" tIns="0" rIns="0" bIns="0" rtlCol="0" anchor="t">
            <a:normAutofit/>
          </a:bodyPr>
          <a:lstStyle/>
          <a:p>
            <a:pPr marL="0" indent="0" algn="l">
              <a:buNone/>
            </a:pPr>
            <a:r>
              <a:rPr lang="en-US" sz="1300" b="1" dirty="0">
                <a:solidFill>
                  <a:srgbClr val="222222"/>
                </a:solidFill>
                <a:latin typeface="Arial" pitchFamily="34" charset="0"/>
                <a:ea typeface="Arial" pitchFamily="34" charset="-122"/>
                <a:cs typeface="Arial" pitchFamily="34" charset="-120"/>
              </a:rPr>
              <a:t>SARPyX toolkit</a:t>
            </a:r>
            <a:endParaRPr lang="en-US" sz="1300" dirty="0"/>
          </a:p>
        </p:txBody>
      </p:sp>
      <p:sp>
        <p:nvSpPr>
          <p:cNvPr id="14" name="Text 12"/>
          <p:cNvSpPr/>
          <p:nvPr/>
        </p:nvSpPr>
        <p:spPr>
          <a:xfrm>
            <a:off x="3026664" y="2258568"/>
            <a:ext cx="2240280" cy="475488"/>
          </a:xfrm>
          <a:prstGeom prst="rect">
            <a:avLst/>
          </a:prstGeom>
          <a:noFill/>
          <a:ln/>
        </p:spPr>
        <p:txBody>
          <a:bodyPr wrap="square" lIns="0" tIns="0" rIns="0" bIns="0" rtlCol="0" anchor="t">
            <a:normAutofit/>
          </a:bodyPr>
          <a:lstStyle/>
          <a:p>
            <a:pPr marL="0" indent="0" algn="l">
              <a:buNone/>
            </a:pPr>
            <a:r>
              <a:rPr lang="en-US" sz="1030" dirty="0">
                <a:solidFill>
                  <a:srgbClr val="444444"/>
                </a:solidFill>
                <a:latin typeface="Arial" pitchFamily="34" charset="0"/>
                <a:ea typeface="Arial" pitchFamily="34" charset="-122"/>
                <a:cs typeface="Arial" pitchFamily="34" charset="-120"/>
              </a:rPr>
              <a:t>unzip · decode · focus · worldsar</a:t>
            </a:r>
            <a:endParaRPr lang="en-US" sz="1030" dirty="0"/>
          </a:p>
          <a:p>
            <a:pPr marL="0" indent="0" algn="l">
              <a:buNone/>
            </a:pPr>
            <a:r>
              <a:rPr lang="en-US" sz="1030" dirty="0">
                <a:solidFill>
                  <a:srgbClr val="444444"/>
                </a:solidFill>
                <a:latin typeface="Arial" pitchFamily="34" charset="0"/>
                <a:ea typeface="Arial" pitchFamily="34" charset="-122"/>
                <a:cs typeface="Arial" pitchFamily="34" charset="-120"/>
              </a:rPr>
              <a:t>CLI + Python API for processing primitives</a:t>
            </a:r>
            <a:endParaRPr lang="en-US" sz="1030" dirty="0"/>
          </a:p>
        </p:txBody>
      </p:sp>
      <p:sp>
        <p:nvSpPr>
          <p:cNvPr id="15" name="Shape 13"/>
          <p:cNvSpPr/>
          <p:nvPr/>
        </p:nvSpPr>
        <p:spPr>
          <a:xfrm>
            <a:off x="5715000" y="1874520"/>
            <a:ext cx="2532888" cy="969264"/>
          </a:xfrm>
          <a:prstGeom prst="roundRect">
            <a:avLst>
              <a:gd name="adj" fmla="val 7547"/>
            </a:avLst>
          </a:prstGeom>
          <a:solidFill>
            <a:srgbClr val="F6F6F6"/>
          </a:solidFill>
          <a:ln w="12700">
            <a:solidFill>
              <a:srgbClr val="C9C9C9"/>
            </a:solidFill>
            <a:prstDash val="solid"/>
          </a:ln>
        </p:spPr>
        <p:txBody>
          <a:bodyPr/>
          <a:lstStyle/>
          <a:p>
            <a:endParaRPr lang="en-US"/>
          </a:p>
        </p:txBody>
      </p:sp>
      <p:sp>
        <p:nvSpPr>
          <p:cNvPr id="16" name="Text 14"/>
          <p:cNvSpPr/>
          <p:nvPr/>
        </p:nvSpPr>
        <p:spPr>
          <a:xfrm>
            <a:off x="5861304" y="2002536"/>
            <a:ext cx="2240280" cy="237744"/>
          </a:xfrm>
          <a:prstGeom prst="rect">
            <a:avLst/>
          </a:prstGeom>
          <a:noFill/>
          <a:ln/>
        </p:spPr>
        <p:txBody>
          <a:bodyPr wrap="square" lIns="0" tIns="0" rIns="0" bIns="0" rtlCol="0" anchor="t">
            <a:normAutofit/>
          </a:bodyPr>
          <a:lstStyle/>
          <a:p>
            <a:pPr marL="0" indent="0" algn="l">
              <a:buNone/>
            </a:pPr>
            <a:r>
              <a:rPr lang="en-US" sz="1300" b="1" dirty="0">
                <a:solidFill>
                  <a:srgbClr val="222222"/>
                </a:solidFill>
                <a:latin typeface="Arial" pitchFamily="34" charset="0"/>
                <a:ea typeface="Arial" pitchFamily="34" charset="-122"/>
                <a:cs typeface="Arial" pitchFamily="34" charset="-120"/>
              </a:rPr>
              <a:t>WORLDSAR repo</a:t>
            </a:r>
            <a:endParaRPr lang="en-US" sz="1300" dirty="0"/>
          </a:p>
        </p:txBody>
      </p:sp>
      <p:sp>
        <p:nvSpPr>
          <p:cNvPr id="17" name="Text 15"/>
          <p:cNvSpPr/>
          <p:nvPr/>
        </p:nvSpPr>
        <p:spPr>
          <a:xfrm>
            <a:off x="5861304" y="2258568"/>
            <a:ext cx="2240280" cy="475488"/>
          </a:xfrm>
          <a:prstGeom prst="rect">
            <a:avLst/>
          </a:prstGeom>
          <a:noFill/>
          <a:ln/>
        </p:spPr>
        <p:txBody>
          <a:bodyPr wrap="square" lIns="0" tIns="0" rIns="0" bIns="0" rtlCol="0" anchor="t">
            <a:normAutofit/>
          </a:bodyPr>
          <a:lstStyle/>
          <a:p>
            <a:pPr marL="0" indent="0" algn="l">
              <a:buNone/>
            </a:pPr>
            <a:r>
              <a:rPr lang="en-US" sz="1020" dirty="0">
                <a:solidFill>
                  <a:srgbClr val="444444"/>
                </a:solidFill>
                <a:latin typeface="Arial" pitchFamily="34" charset="0"/>
                <a:ea typeface="Arial" pitchFamily="34" charset="-122"/>
                <a:cs typeface="Arial" pitchFamily="34" charset="-120"/>
              </a:rPr>
              <a:t>Makefile + main.sh + worldsar.py coordinate runtime, tiling, logs, and indexing</a:t>
            </a:r>
            <a:endParaRPr lang="en-US" sz="1020" dirty="0"/>
          </a:p>
        </p:txBody>
      </p:sp>
      <p:sp>
        <p:nvSpPr>
          <p:cNvPr id="18" name="Shape 16"/>
          <p:cNvSpPr/>
          <p:nvPr/>
        </p:nvSpPr>
        <p:spPr>
          <a:xfrm>
            <a:off x="8549640" y="1874520"/>
            <a:ext cx="2880360" cy="969264"/>
          </a:xfrm>
          <a:prstGeom prst="roundRect">
            <a:avLst>
              <a:gd name="adj" fmla="val 7547"/>
            </a:avLst>
          </a:prstGeom>
          <a:solidFill>
            <a:srgbClr val="F6F6F6"/>
          </a:solidFill>
          <a:ln w="12700">
            <a:solidFill>
              <a:srgbClr val="C9C9C9"/>
            </a:solidFill>
            <a:prstDash val="solid"/>
          </a:ln>
        </p:spPr>
        <p:txBody>
          <a:bodyPr/>
          <a:lstStyle/>
          <a:p>
            <a:endParaRPr lang="en-US"/>
          </a:p>
        </p:txBody>
      </p:sp>
      <p:sp>
        <p:nvSpPr>
          <p:cNvPr id="19" name="Text 17"/>
          <p:cNvSpPr/>
          <p:nvPr/>
        </p:nvSpPr>
        <p:spPr>
          <a:xfrm>
            <a:off x="8695944" y="2002536"/>
            <a:ext cx="2587752" cy="237744"/>
          </a:xfrm>
          <a:prstGeom prst="rect">
            <a:avLst/>
          </a:prstGeom>
          <a:noFill/>
          <a:ln/>
        </p:spPr>
        <p:txBody>
          <a:bodyPr wrap="square" lIns="0" tIns="0" rIns="0" bIns="0" rtlCol="0" anchor="t">
            <a:normAutofit/>
          </a:bodyPr>
          <a:lstStyle/>
          <a:p>
            <a:pPr marL="0" indent="0" algn="l">
              <a:buNone/>
            </a:pPr>
            <a:r>
              <a:rPr lang="en-US" sz="1300" b="1" dirty="0">
                <a:solidFill>
                  <a:srgbClr val="222222"/>
                </a:solidFill>
                <a:latin typeface="Arial" pitchFamily="34" charset="0"/>
                <a:ea typeface="Arial" pitchFamily="34" charset="-122"/>
                <a:cs typeface="Arial" pitchFamily="34" charset="-120"/>
              </a:rPr>
              <a:t>Execution outputs</a:t>
            </a:r>
            <a:endParaRPr lang="en-US" sz="1300" dirty="0"/>
          </a:p>
        </p:txBody>
      </p:sp>
      <p:sp>
        <p:nvSpPr>
          <p:cNvPr id="20" name="Text 18"/>
          <p:cNvSpPr/>
          <p:nvPr/>
        </p:nvSpPr>
        <p:spPr>
          <a:xfrm>
            <a:off x="8695944" y="2258568"/>
            <a:ext cx="2587752" cy="475488"/>
          </a:xfrm>
          <a:prstGeom prst="rect">
            <a:avLst/>
          </a:prstGeom>
          <a:noFill/>
          <a:ln/>
        </p:spPr>
        <p:txBody>
          <a:bodyPr wrap="square" lIns="0" tIns="0" rIns="0" bIns="0" rtlCol="0" anchor="t">
            <a:normAutofit/>
          </a:bodyPr>
          <a:lstStyle/>
          <a:p>
            <a:pPr marL="0" indent="0" algn="l">
              <a:buNone/>
            </a:pPr>
            <a:r>
              <a:rPr lang="en-US" sz="1010" dirty="0">
                <a:solidFill>
                  <a:srgbClr val="444444"/>
                </a:solidFill>
                <a:latin typeface="Arial" pitchFamily="34" charset="0"/>
                <a:ea typeface="Arial" pitchFamily="34" charset="-122"/>
                <a:cs typeface="Arial" pitchFamily="34" charset="-120"/>
              </a:rPr>
              <a:t>BEAM-DIMAP intermediates, HDF5 tiles, parquet metadata DB, logs</a:t>
            </a:r>
            <a:endParaRPr lang="en-US" sz="1010" dirty="0"/>
          </a:p>
        </p:txBody>
      </p:sp>
      <p:sp>
        <p:nvSpPr>
          <p:cNvPr id="21" name="Shape 19"/>
          <p:cNvSpPr/>
          <p:nvPr/>
        </p:nvSpPr>
        <p:spPr>
          <a:xfrm>
            <a:off x="749808" y="3154680"/>
            <a:ext cx="10680192" cy="0"/>
          </a:xfrm>
          <a:prstGeom prst="line">
            <a:avLst/>
          </a:prstGeom>
          <a:noFill/>
          <a:ln w="12700">
            <a:solidFill>
              <a:srgbClr val="D6D6D6"/>
            </a:solidFill>
            <a:prstDash val="solid"/>
          </a:ln>
        </p:spPr>
        <p:txBody>
          <a:bodyPr/>
          <a:lstStyle/>
          <a:p>
            <a:endParaRPr lang="en-US"/>
          </a:p>
        </p:txBody>
      </p:sp>
      <p:sp>
        <p:nvSpPr>
          <p:cNvPr id="22" name="Text 20"/>
          <p:cNvSpPr/>
          <p:nvPr/>
        </p:nvSpPr>
        <p:spPr>
          <a:xfrm>
            <a:off x="749808" y="3346704"/>
            <a:ext cx="2011680" cy="219456"/>
          </a:xfrm>
          <a:prstGeom prst="rect">
            <a:avLst/>
          </a:prstGeom>
          <a:noFill/>
          <a:ln/>
        </p:spPr>
        <p:txBody>
          <a:bodyPr wrap="square" lIns="0" tIns="0" rIns="0" bIns="0" rtlCol="0" anchor="ctr">
            <a:normAutofit/>
          </a:bodyPr>
          <a:lstStyle/>
          <a:p>
            <a:pPr marL="0" indent="0">
              <a:buNone/>
            </a:pPr>
            <a:r>
              <a:rPr lang="en-US" sz="1080" b="1" dirty="0">
                <a:solidFill>
                  <a:srgbClr val="6E6E6E"/>
                </a:solidFill>
                <a:latin typeface="Arial" pitchFamily="34" charset="0"/>
                <a:ea typeface="Arial" pitchFamily="34" charset="-122"/>
                <a:cs typeface="Arial" pitchFamily="34" charset="-120"/>
              </a:rPr>
              <a:t>USAGE SPLIT</a:t>
            </a:r>
            <a:endParaRPr lang="en-US" sz="1080" dirty="0"/>
          </a:p>
        </p:txBody>
      </p:sp>
      <p:sp>
        <p:nvSpPr>
          <p:cNvPr id="23" name="Shape 21"/>
          <p:cNvSpPr/>
          <p:nvPr/>
        </p:nvSpPr>
        <p:spPr>
          <a:xfrm>
            <a:off x="749808" y="3675888"/>
            <a:ext cx="5157216" cy="2176272"/>
          </a:xfrm>
          <a:prstGeom prst="roundRect">
            <a:avLst>
              <a:gd name="adj" fmla="val 3361"/>
            </a:avLst>
          </a:prstGeom>
          <a:solidFill>
            <a:srgbClr val="F6F6F6"/>
          </a:solidFill>
          <a:ln w="12700">
            <a:solidFill>
              <a:srgbClr val="C9C9C9"/>
            </a:solidFill>
            <a:prstDash val="solid"/>
          </a:ln>
        </p:spPr>
        <p:txBody>
          <a:bodyPr/>
          <a:lstStyle/>
          <a:p>
            <a:endParaRPr lang="en-US"/>
          </a:p>
        </p:txBody>
      </p:sp>
      <p:sp>
        <p:nvSpPr>
          <p:cNvPr id="24" name="Text 22"/>
          <p:cNvSpPr/>
          <p:nvPr/>
        </p:nvSpPr>
        <p:spPr>
          <a:xfrm>
            <a:off x="932688" y="3803904"/>
            <a:ext cx="4754880" cy="256032"/>
          </a:xfrm>
          <a:prstGeom prst="rect">
            <a:avLst/>
          </a:prstGeom>
          <a:noFill/>
          <a:ln/>
        </p:spPr>
        <p:txBody>
          <a:bodyPr wrap="square" lIns="0" tIns="0" rIns="0" bIns="0" rtlCol="0" anchor="ctr">
            <a:normAutofit/>
          </a:bodyPr>
          <a:lstStyle/>
          <a:p>
            <a:pPr marL="0" indent="0">
              <a:buNone/>
            </a:pPr>
            <a:r>
              <a:rPr lang="en-US" sz="1320" b="1" dirty="0">
                <a:solidFill>
                  <a:srgbClr val="222222"/>
                </a:solidFill>
                <a:latin typeface="Arial" pitchFamily="34" charset="0"/>
                <a:ea typeface="Arial" pitchFamily="34" charset="-122"/>
                <a:cs typeface="Arial" pitchFamily="34" charset="-120"/>
              </a:rPr>
              <a:t>Use SARPyX directly when the goal is algorithm work</a:t>
            </a:r>
            <a:endParaRPr lang="en-US" sz="1320" dirty="0"/>
          </a:p>
        </p:txBody>
      </p:sp>
      <p:sp>
        <p:nvSpPr>
          <p:cNvPr id="25" name="Shape 23"/>
          <p:cNvSpPr/>
          <p:nvPr/>
        </p:nvSpPr>
        <p:spPr>
          <a:xfrm>
            <a:off x="932688" y="4160520"/>
            <a:ext cx="310896" cy="310896"/>
          </a:xfrm>
          <a:prstGeom prst="ellipse">
            <a:avLst/>
          </a:prstGeom>
          <a:solidFill>
            <a:srgbClr val="474747"/>
          </a:solidFill>
          <a:ln w="6350">
            <a:solidFill>
              <a:srgbClr val="474747"/>
            </a:solidFill>
            <a:prstDash val="solid"/>
          </a:ln>
        </p:spPr>
        <p:txBody>
          <a:bodyPr/>
          <a:lstStyle/>
          <a:p>
            <a:endParaRPr lang="en-US"/>
          </a:p>
        </p:txBody>
      </p:sp>
      <p:sp>
        <p:nvSpPr>
          <p:cNvPr id="26" name="Text 24"/>
          <p:cNvSpPr/>
          <p:nvPr/>
        </p:nvSpPr>
        <p:spPr>
          <a:xfrm>
            <a:off x="932688" y="4178808"/>
            <a:ext cx="310896" cy="21945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27" name="Text 25"/>
          <p:cNvSpPr/>
          <p:nvPr/>
        </p:nvSpPr>
        <p:spPr>
          <a:xfrm>
            <a:off x="1298448" y="4142232"/>
            <a:ext cx="4315968" cy="438912"/>
          </a:xfrm>
          <a:prstGeom prst="rect">
            <a:avLst/>
          </a:prstGeom>
          <a:noFill/>
          <a:ln/>
        </p:spPr>
        <p:txBody>
          <a:bodyPr wrap="square" lIns="0" tIns="0" rIns="0" bIns="0" rtlCol="0" anchor="t">
            <a:normAutofit/>
          </a:bodyPr>
          <a:lstStyle/>
          <a:p>
            <a:pPr marL="0" indent="0" algn="l">
              <a:buNone/>
            </a:pPr>
            <a:r>
              <a:rPr lang="en-US" sz="1120" dirty="0">
                <a:solidFill>
                  <a:srgbClr val="444444"/>
                </a:solidFill>
                <a:latin typeface="Arial" pitchFamily="34" charset="0"/>
                <a:ea typeface="Arial" pitchFamily="34" charset="-122"/>
                <a:cs typeface="Arial" pitchFamily="34" charset="-120"/>
              </a:rPr>
              <a:t>You want single-product debugging, notebook-driven experiments, or a narrow CLI chain such as unzip → decode → focus.</a:t>
            </a:r>
            <a:endParaRPr lang="en-US" sz="1120" dirty="0"/>
          </a:p>
        </p:txBody>
      </p:sp>
      <p:sp>
        <p:nvSpPr>
          <p:cNvPr id="28" name="Shape 26"/>
          <p:cNvSpPr/>
          <p:nvPr/>
        </p:nvSpPr>
        <p:spPr>
          <a:xfrm>
            <a:off x="932688" y="4718304"/>
            <a:ext cx="310896" cy="310896"/>
          </a:xfrm>
          <a:prstGeom prst="ellipse">
            <a:avLst/>
          </a:prstGeom>
          <a:solidFill>
            <a:srgbClr val="474747"/>
          </a:solidFill>
          <a:ln w="6350">
            <a:solidFill>
              <a:srgbClr val="474747"/>
            </a:solidFill>
            <a:prstDash val="solid"/>
          </a:ln>
        </p:spPr>
        <p:txBody>
          <a:bodyPr/>
          <a:lstStyle/>
          <a:p>
            <a:endParaRPr lang="en-US"/>
          </a:p>
        </p:txBody>
      </p:sp>
      <p:sp>
        <p:nvSpPr>
          <p:cNvPr id="29" name="Text 27"/>
          <p:cNvSpPr/>
          <p:nvPr/>
        </p:nvSpPr>
        <p:spPr>
          <a:xfrm>
            <a:off x="932688" y="4736592"/>
            <a:ext cx="310896" cy="21945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30" name="Text 28"/>
          <p:cNvSpPr/>
          <p:nvPr/>
        </p:nvSpPr>
        <p:spPr>
          <a:xfrm>
            <a:off x="1298448" y="4700016"/>
            <a:ext cx="4315968" cy="438912"/>
          </a:xfrm>
          <a:prstGeom prst="rect">
            <a:avLst/>
          </a:prstGeom>
          <a:noFill/>
          <a:ln/>
        </p:spPr>
        <p:txBody>
          <a:bodyPr wrap="square" lIns="0" tIns="0" rIns="0" bIns="0" rtlCol="0" anchor="t">
            <a:normAutofit/>
          </a:bodyPr>
          <a:lstStyle/>
          <a:p>
            <a:pPr marL="0" indent="0" algn="l">
              <a:buNone/>
            </a:pPr>
            <a:r>
              <a:rPr lang="en-US" sz="1120" dirty="0">
                <a:solidFill>
                  <a:srgbClr val="444444"/>
                </a:solidFill>
                <a:latin typeface="Arial" pitchFamily="34" charset="0"/>
                <a:ea typeface="Arial" pitchFamily="34" charset="-122"/>
                <a:cs typeface="Arial" pitchFamily="34" charset="-120"/>
              </a:rPr>
              <a:t>You need direct control of GPT paths, grid files, Zarr outputs, or custom Python imports from sarpyx.* modules.</a:t>
            </a:r>
            <a:endParaRPr lang="en-US" sz="1120" dirty="0"/>
          </a:p>
        </p:txBody>
      </p:sp>
      <p:sp>
        <p:nvSpPr>
          <p:cNvPr id="31" name="Shape 29"/>
          <p:cNvSpPr/>
          <p:nvPr/>
        </p:nvSpPr>
        <p:spPr>
          <a:xfrm>
            <a:off x="932688" y="5276088"/>
            <a:ext cx="310896" cy="310896"/>
          </a:xfrm>
          <a:prstGeom prst="ellipse">
            <a:avLst/>
          </a:prstGeom>
          <a:solidFill>
            <a:srgbClr val="474747"/>
          </a:solidFill>
          <a:ln w="6350">
            <a:solidFill>
              <a:srgbClr val="474747"/>
            </a:solidFill>
            <a:prstDash val="solid"/>
          </a:ln>
        </p:spPr>
        <p:txBody>
          <a:bodyPr/>
          <a:lstStyle/>
          <a:p>
            <a:endParaRPr lang="en-US"/>
          </a:p>
        </p:txBody>
      </p:sp>
      <p:sp>
        <p:nvSpPr>
          <p:cNvPr id="32" name="Text 30"/>
          <p:cNvSpPr/>
          <p:nvPr/>
        </p:nvSpPr>
        <p:spPr>
          <a:xfrm>
            <a:off x="932688" y="5294376"/>
            <a:ext cx="310896" cy="21945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33" name="Text 31"/>
          <p:cNvSpPr/>
          <p:nvPr/>
        </p:nvSpPr>
        <p:spPr>
          <a:xfrm>
            <a:off x="1298448" y="5257800"/>
            <a:ext cx="4315968" cy="329184"/>
          </a:xfrm>
          <a:prstGeom prst="rect">
            <a:avLst/>
          </a:prstGeom>
          <a:noFill/>
          <a:ln/>
        </p:spPr>
        <p:txBody>
          <a:bodyPr wrap="square" lIns="0" tIns="0" rIns="0" bIns="0" rtlCol="0" anchor="t">
            <a:normAutofit lnSpcReduction="10000"/>
          </a:bodyPr>
          <a:lstStyle/>
          <a:p>
            <a:pPr marL="0" indent="0" algn="l">
              <a:buNone/>
            </a:pPr>
            <a:r>
              <a:rPr lang="en-US" sz="1120" dirty="0">
                <a:solidFill>
                  <a:srgbClr val="444444"/>
                </a:solidFill>
                <a:latin typeface="Arial" pitchFamily="34" charset="0"/>
                <a:ea typeface="Arial" pitchFamily="34" charset="-122"/>
                <a:cs typeface="Arial" pitchFamily="34" charset="-120"/>
              </a:rPr>
              <a:t>You are validating one processing stage at a time before freezing an operational recipe.</a:t>
            </a:r>
            <a:endParaRPr lang="en-US" sz="1120" dirty="0"/>
          </a:p>
        </p:txBody>
      </p:sp>
      <p:sp>
        <p:nvSpPr>
          <p:cNvPr id="34" name="Shape 32"/>
          <p:cNvSpPr/>
          <p:nvPr/>
        </p:nvSpPr>
        <p:spPr>
          <a:xfrm>
            <a:off x="6272784" y="3675888"/>
            <a:ext cx="5157216" cy="2176272"/>
          </a:xfrm>
          <a:prstGeom prst="roundRect">
            <a:avLst>
              <a:gd name="adj" fmla="val 3361"/>
            </a:avLst>
          </a:prstGeom>
          <a:solidFill>
            <a:srgbClr val="F6F6F6"/>
          </a:solidFill>
          <a:ln w="12700">
            <a:solidFill>
              <a:srgbClr val="C9C9C9"/>
            </a:solidFill>
            <a:prstDash val="solid"/>
          </a:ln>
        </p:spPr>
        <p:txBody>
          <a:bodyPr/>
          <a:lstStyle/>
          <a:p>
            <a:endParaRPr lang="en-US"/>
          </a:p>
        </p:txBody>
      </p:sp>
      <p:sp>
        <p:nvSpPr>
          <p:cNvPr id="35" name="Text 33"/>
          <p:cNvSpPr/>
          <p:nvPr/>
        </p:nvSpPr>
        <p:spPr>
          <a:xfrm>
            <a:off x="6455664" y="3803904"/>
            <a:ext cx="4736592" cy="256032"/>
          </a:xfrm>
          <a:prstGeom prst="rect">
            <a:avLst/>
          </a:prstGeom>
          <a:noFill/>
          <a:ln/>
        </p:spPr>
        <p:txBody>
          <a:bodyPr wrap="square" lIns="0" tIns="0" rIns="0" bIns="0" rtlCol="0" anchor="ctr">
            <a:normAutofit/>
          </a:bodyPr>
          <a:lstStyle/>
          <a:p>
            <a:pPr marL="0" indent="0">
              <a:buNone/>
            </a:pPr>
            <a:r>
              <a:rPr lang="en-US" sz="1320" b="1" dirty="0">
                <a:solidFill>
                  <a:srgbClr val="222222"/>
                </a:solidFill>
                <a:latin typeface="Arial" pitchFamily="34" charset="0"/>
                <a:ea typeface="Arial" pitchFamily="34" charset="-122"/>
                <a:cs typeface="Arial" pitchFamily="34" charset="-120"/>
              </a:rPr>
              <a:t>Use WORLDSAR when the goal is a production-like run</a:t>
            </a:r>
            <a:endParaRPr lang="en-US" sz="1320" dirty="0"/>
          </a:p>
        </p:txBody>
      </p:sp>
      <p:sp>
        <p:nvSpPr>
          <p:cNvPr id="36" name="Shape 34"/>
          <p:cNvSpPr/>
          <p:nvPr/>
        </p:nvSpPr>
        <p:spPr>
          <a:xfrm>
            <a:off x="6455664" y="4160520"/>
            <a:ext cx="310896" cy="310896"/>
          </a:xfrm>
          <a:prstGeom prst="ellipse">
            <a:avLst/>
          </a:prstGeom>
          <a:solidFill>
            <a:srgbClr val="474747"/>
          </a:solidFill>
          <a:ln w="6350">
            <a:solidFill>
              <a:srgbClr val="474747"/>
            </a:solidFill>
            <a:prstDash val="solid"/>
          </a:ln>
        </p:spPr>
        <p:txBody>
          <a:bodyPr/>
          <a:lstStyle/>
          <a:p>
            <a:endParaRPr lang="en-US"/>
          </a:p>
        </p:txBody>
      </p:sp>
      <p:sp>
        <p:nvSpPr>
          <p:cNvPr id="37" name="Text 35"/>
          <p:cNvSpPr/>
          <p:nvPr/>
        </p:nvSpPr>
        <p:spPr>
          <a:xfrm>
            <a:off x="6455664" y="4178808"/>
            <a:ext cx="310896" cy="21945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38" name="Text 36"/>
          <p:cNvSpPr/>
          <p:nvPr/>
        </p:nvSpPr>
        <p:spPr>
          <a:xfrm>
            <a:off x="6821424" y="4142232"/>
            <a:ext cx="4315968" cy="438912"/>
          </a:xfrm>
          <a:prstGeom prst="rect">
            <a:avLst/>
          </a:prstGeom>
          <a:noFill/>
          <a:ln/>
        </p:spPr>
        <p:txBody>
          <a:bodyPr wrap="square" lIns="0" tIns="0" rIns="0" bIns="0" rtlCol="0" anchor="t">
            <a:normAutofit/>
          </a:bodyPr>
          <a:lstStyle/>
          <a:p>
            <a:pPr marL="0" indent="0" algn="l">
              <a:buNone/>
            </a:pPr>
            <a:r>
              <a:rPr lang="en-US" sz="1120" dirty="0">
                <a:solidFill>
                  <a:srgbClr val="444444"/>
                </a:solidFill>
                <a:latin typeface="Arial" pitchFamily="34" charset="0"/>
                <a:ea typeface="Arial" pitchFamily="34" charset="-122"/>
                <a:cs typeface="Arial" pitchFamily="34" charset="-120"/>
              </a:rPr>
              <a:t>You need a stable entry point for local VM and PBS/HPC execution, with explicit mode switching and asset management.</a:t>
            </a:r>
            <a:endParaRPr lang="en-US" sz="1120" dirty="0"/>
          </a:p>
        </p:txBody>
      </p:sp>
      <p:sp>
        <p:nvSpPr>
          <p:cNvPr id="39" name="Shape 37"/>
          <p:cNvSpPr/>
          <p:nvPr/>
        </p:nvSpPr>
        <p:spPr>
          <a:xfrm>
            <a:off x="6455664" y="4718304"/>
            <a:ext cx="310896" cy="310896"/>
          </a:xfrm>
          <a:prstGeom prst="ellipse">
            <a:avLst/>
          </a:prstGeom>
          <a:solidFill>
            <a:srgbClr val="474747"/>
          </a:solidFill>
          <a:ln w="6350">
            <a:solidFill>
              <a:srgbClr val="474747"/>
            </a:solidFill>
            <a:prstDash val="solid"/>
          </a:ln>
        </p:spPr>
        <p:txBody>
          <a:bodyPr/>
          <a:lstStyle/>
          <a:p>
            <a:endParaRPr lang="en-US"/>
          </a:p>
        </p:txBody>
      </p:sp>
      <p:sp>
        <p:nvSpPr>
          <p:cNvPr id="40" name="Text 38"/>
          <p:cNvSpPr/>
          <p:nvPr/>
        </p:nvSpPr>
        <p:spPr>
          <a:xfrm>
            <a:off x="6455664" y="4736592"/>
            <a:ext cx="310896" cy="21945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41" name="Text 39"/>
          <p:cNvSpPr/>
          <p:nvPr/>
        </p:nvSpPr>
        <p:spPr>
          <a:xfrm>
            <a:off x="6821424" y="4700016"/>
            <a:ext cx="4315968" cy="438912"/>
          </a:xfrm>
          <a:prstGeom prst="rect">
            <a:avLst/>
          </a:prstGeom>
          <a:noFill/>
          <a:ln/>
        </p:spPr>
        <p:txBody>
          <a:bodyPr wrap="square" lIns="0" tIns="0" rIns="0" bIns="0" rtlCol="0" anchor="t">
            <a:normAutofit/>
          </a:bodyPr>
          <a:lstStyle/>
          <a:p>
            <a:pPr marL="0" indent="0" algn="l">
              <a:buNone/>
            </a:pPr>
            <a:r>
              <a:rPr lang="en-US" sz="1120" dirty="0">
                <a:solidFill>
                  <a:srgbClr val="444444"/>
                </a:solidFill>
                <a:latin typeface="Arial" pitchFamily="34" charset="0"/>
                <a:ea typeface="Arial" pitchFamily="34" charset="-122"/>
                <a:cs typeface="Arial" pitchFamily="34" charset="-120"/>
              </a:rPr>
              <a:t>You need mission routing, per-swath tiling, cut reports, parquet indexing, and path binding inside the Apptainer runtime.</a:t>
            </a:r>
            <a:endParaRPr lang="en-US" sz="1120" dirty="0"/>
          </a:p>
        </p:txBody>
      </p:sp>
      <p:sp>
        <p:nvSpPr>
          <p:cNvPr id="42" name="Shape 40"/>
          <p:cNvSpPr/>
          <p:nvPr/>
        </p:nvSpPr>
        <p:spPr>
          <a:xfrm>
            <a:off x="6455664" y="5276088"/>
            <a:ext cx="310896" cy="310896"/>
          </a:xfrm>
          <a:prstGeom prst="ellipse">
            <a:avLst/>
          </a:prstGeom>
          <a:solidFill>
            <a:srgbClr val="474747"/>
          </a:solidFill>
          <a:ln w="6350">
            <a:solidFill>
              <a:srgbClr val="474747"/>
            </a:solidFill>
            <a:prstDash val="solid"/>
          </a:ln>
        </p:spPr>
        <p:txBody>
          <a:bodyPr/>
          <a:lstStyle/>
          <a:p>
            <a:endParaRPr lang="en-US"/>
          </a:p>
        </p:txBody>
      </p:sp>
      <p:sp>
        <p:nvSpPr>
          <p:cNvPr id="43" name="Text 41"/>
          <p:cNvSpPr/>
          <p:nvPr/>
        </p:nvSpPr>
        <p:spPr>
          <a:xfrm>
            <a:off x="6455664" y="5294376"/>
            <a:ext cx="310896" cy="21945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44" name="Text 42"/>
          <p:cNvSpPr/>
          <p:nvPr/>
        </p:nvSpPr>
        <p:spPr>
          <a:xfrm>
            <a:off x="6821424" y="5257800"/>
            <a:ext cx="4315968" cy="329184"/>
          </a:xfrm>
          <a:prstGeom prst="rect">
            <a:avLst/>
          </a:prstGeom>
          <a:noFill/>
          <a:ln/>
        </p:spPr>
        <p:txBody>
          <a:bodyPr wrap="square" lIns="0" tIns="0" rIns="0" bIns="0" rtlCol="0" anchor="t">
            <a:normAutofit lnSpcReduction="10000"/>
          </a:bodyPr>
          <a:lstStyle/>
          <a:p>
            <a:pPr marL="0" indent="0" algn="l">
              <a:buNone/>
            </a:pPr>
            <a:r>
              <a:rPr lang="en-US" sz="1120" dirty="0">
                <a:solidFill>
                  <a:srgbClr val="444444"/>
                </a:solidFill>
                <a:latin typeface="Arial" pitchFamily="34" charset="0"/>
                <a:ea typeface="Arial" pitchFamily="34" charset="-122"/>
                <a:cs typeface="Arial" pitchFamily="34" charset="-120"/>
              </a:rPr>
              <a:t>You want the repo to operationalize SARPyX rather than re-implement it. The processing engine stays in SARPyX.</a:t>
            </a:r>
            <a:endParaRPr lang="en-US" sz="1120" dirty="0"/>
          </a:p>
        </p:txBody>
      </p:sp>
      <p:sp>
        <p:nvSpPr>
          <p:cNvPr id="45" name="Text 43"/>
          <p:cNvSpPr/>
          <p:nvPr/>
        </p:nvSpPr>
        <p:spPr>
          <a:xfrm>
            <a:off x="749808" y="6144768"/>
            <a:ext cx="10698480" cy="320040"/>
          </a:xfrm>
          <a:prstGeom prst="rect">
            <a:avLst/>
          </a:prstGeom>
          <a:noFill/>
          <a:ln/>
        </p:spPr>
        <p:txBody>
          <a:bodyPr wrap="square" lIns="0" tIns="0" rIns="0" bIns="0" rtlCol="0" anchor="t">
            <a:normAutofit lnSpcReduction="10000"/>
          </a:bodyPr>
          <a:lstStyle/>
          <a:p>
            <a:pPr marL="0" indent="0" algn="l">
              <a:buNone/>
            </a:pPr>
            <a:r>
              <a:rPr lang="en-US" sz="1130" dirty="0">
                <a:solidFill>
                  <a:srgbClr val="444444"/>
                </a:solidFill>
                <a:latin typeface="Arial" pitchFamily="34" charset="0"/>
                <a:ea typeface="Arial" pitchFamily="34" charset="-122"/>
                <a:cs typeface="Arial" pitchFamily="34" charset="-120"/>
              </a:rPr>
              <a:t>Operationally, the clean mental model is: SARPyX provides the processing primitives; WORLDSAR packages those primitives into a reproducible mission-level execution shell.</a:t>
            </a:r>
            <a:endParaRPr lang="en-US" sz="113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356616"/>
            <a:ext cx="11109960" cy="0"/>
          </a:xfrm>
          <a:prstGeom prst="line">
            <a:avLst/>
          </a:prstGeom>
          <a:noFill/>
          <a:ln w="19050">
            <a:solidFill>
              <a:srgbClr val="4A4A4A"/>
            </a:solidFill>
            <a:prstDash val="solid"/>
          </a:ln>
        </p:spPr>
        <p:txBody>
          <a:bodyPr/>
          <a:lstStyle/>
          <a:p>
            <a:endParaRPr lang="en-US"/>
          </a:p>
        </p:txBody>
      </p:sp>
      <p:sp>
        <p:nvSpPr>
          <p:cNvPr id="3" name="Text 1"/>
          <p:cNvSpPr/>
          <p:nvPr/>
        </p:nvSpPr>
        <p:spPr>
          <a:xfrm>
            <a:off x="694944" y="512064"/>
            <a:ext cx="7863840" cy="457200"/>
          </a:xfrm>
          <a:prstGeom prst="rect">
            <a:avLst/>
          </a:prstGeom>
          <a:noFill/>
          <a:ln/>
        </p:spPr>
        <p:txBody>
          <a:bodyPr wrap="square" lIns="0" tIns="0" rIns="0" bIns="0" rtlCol="0" anchor="ctr">
            <a:normAutofit fontScale="77500" lnSpcReduction="20000"/>
          </a:bodyPr>
          <a:lstStyle/>
          <a:p>
            <a:pPr marL="0" indent="0">
              <a:buNone/>
            </a:pPr>
            <a:r>
              <a:rPr lang="en-US" sz="2700" b="1" dirty="0">
                <a:solidFill>
                  <a:srgbClr val="222222"/>
                </a:solidFill>
                <a:latin typeface="Arial" pitchFamily="34" charset="0"/>
                <a:ea typeface="Arial" pitchFamily="34" charset="-122"/>
                <a:cs typeface="Arial" pitchFamily="34" charset="-120"/>
              </a:rPr>
              <a:t>WORLDSAR apptainer branch: bootstrap and first local run</a:t>
            </a:r>
            <a:endParaRPr lang="en-US" sz="2700" dirty="0"/>
          </a:p>
        </p:txBody>
      </p:sp>
      <p:sp>
        <p:nvSpPr>
          <p:cNvPr id="4" name="Text 2"/>
          <p:cNvSpPr/>
          <p:nvPr/>
        </p:nvSpPr>
        <p:spPr>
          <a:xfrm>
            <a:off x="694944" y="1143417"/>
            <a:ext cx="10424160" cy="256032"/>
          </a:xfrm>
          <a:prstGeom prst="rect">
            <a:avLst/>
          </a:prstGeom>
          <a:noFill/>
          <a:ln/>
        </p:spPr>
        <p:txBody>
          <a:bodyPr wrap="square" lIns="0" tIns="0" rIns="0" bIns="0" rtlCol="0" anchor="ctr">
            <a:normAutofit/>
          </a:bodyPr>
          <a:lstStyle/>
          <a:p>
            <a:pPr marL="0" indent="0">
              <a:buNone/>
            </a:pPr>
            <a:r>
              <a:rPr lang="en-US" sz="1150" dirty="0">
                <a:solidFill>
                  <a:srgbClr val="6E6E6E"/>
                </a:solidFill>
                <a:latin typeface="Arial" pitchFamily="34" charset="0"/>
                <a:ea typeface="Arial" pitchFamily="34" charset="-122"/>
                <a:cs typeface="Arial" pitchFamily="34" charset="-120"/>
              </a:rPr>
              <a:t>Minimal sequence for staging dependencies, runtime assets, and a local VM execution</a:t>
            </a:r>
            <a:endParaRPr lang="en-US" sz="1150" dirty="0"/>
          </a:p>
        </p:txBody>
      </p:sp>
      <p:sp>
        <p:nvSpPr>
          <p:cNvPr id="5" name="Text 3"/>
          <p:cNvSpPr/>
          <p:nvPr/>
        </p:nvSpPr>
        <p:spPr>
          <a:xfrm>
            <a:off x="749808" y="1426464"/>
            <a:ext cx="3291840" cy="219456"/>
          </a:xfrm>
          <a:prstGeom prst="rect">
            <a:avLst/>
          </a:prstGeom>
          <a:noFill/>
          <a:ln/>
        </p:spPr>
        <p:txBody>
          <a:bodyPr wrap="square" lIns="0" tIns="0" rIns="0" bIns="0" rtlCol="0" anchor="ctr">
            <a:normAutofit/>
          </a:bodyPr>
          <a:lstStyle/>
          <a:p>
            <a:pPr marL="0" indent="0">
              <a:buNone/>
            </a:pPr>
            <a:r>
              <a:rPr lang="en-US" sz="1080" b="1" dirty="0">
                <a:solidFill>
                  <a:srgbClr val="6E6E6E"/>
                </a:solidFill>
                <a:latin typeface="Arial" pitchFamily="34" charset="0"/>
                <a:ea typeface="Arial" pitchFamily="34" charset="-122"/>
                <a:cs typeface="Arial" pitchFamily="34" charset="-120"/>
              </a:rPr>
              <a:t>FIRST LOCAL EXECUTION</a:t>
            </a:r>
            <a:endParaRPr lang="en-US" sz="1080" dirty="0"/>
          </a:p>
        </p:txBody>
      </p:sp>
      <p:sp>
        <p:nvSpPr>
          <p:cNvPr id="6" name="Shape 4"/>
          <p:cNvSpPr/>
          <p:nvPr/>
        </p:nvSpPr>
        <p:spPr>
          <a:xfrm>
            <a:off x="749808" y="1792224"/>
            <a:ext cx="5943600" cy="4023360"/>
          </a:xfrm>
          <a:prstGeom prst="roundRect">
            <a:avLst>
              <a:gd name="adj" fmla="val 1818"/>
            </a:avLst>
          </a:prstGeom>
          <a:solidFill>
            <a:srgbClr val="2F2F2F"/>
          </a:solidFill>
          <a:ln w="12700">
            <a:solidFill>
              <a:srgbClr val="2F2F2F"/>
            </a:solidFill>
            <a:prstDash val="solid"/>
          </a:ln>
        </p:spPr>
        <p:txBody>
          <a:bodyPr/>
          <a:lstStyle/>
          <a:p>
            <a:endParaRPr lang="en-US"/>
          </a:p>
        </p:txBody>
      </p:sp>
      <p:sp>
        <p:nvSpPr>
          <p:cNvPr id="7" name="Text 5"/>
          <p:cNvSpPr/>
          <p:nvPr/>
        </p:nvSpPr>
        <p:spPr>
          <a:xfrm>
            <a:off x="914400" y="1901952"/>
            <a:ext cx="5614416" cy="256032"/>
          </a:xfrm>
          <a:prstGeom prst="rect">
            <a:avLst/>
          </a:prstGeom>
          <a:noFill/>
          <a:ln/>
        </p:spPr>
        <p:txBody>
          <a:bodyPr wrap="square" lIns="0" tIns="0" rIns="0" bIns="0" rtlCol="0" anchor="ctr">
            <a:normAutofit/>
          </a:bodyPr>
          <a:lstStyle/>
          <a:p>
            <a:pPr marL="0" indent="0">
              <a:buNone/>
            </a:pPr>
            <a:r>
              <a:rPr lang="en-US" sz="1150" b="1" dirty="0">
                <a:solidFill>
                  <a:srgbClr val="00B050"/>
                </a:solidFill>
                <a:latin typeface="Arial" pitchFamily="34" charset="0"/>
                <a:ea typeface="Arial" pitchFamily="34" charset="-122"/>
                <a:cs typeface="Arial" pitchFamily="34" charset="-120"/>
              </a:rPr>
              <a:t>Repository bootstrap and local run command</a:t>
            </a:r>
            <a:endParaRPr lang="en-US" sz="1150" dirty="0">
              <a:solidFill>
                <a:srgbClr val="00B050"/>
              </a:solidFill>
            </a:endParaRPr>
          </a:p>
        </p:txBody>
      </p:sp>
      <p:sp>
        <p:nvSpPr>
          <p:cNvPr id="8" name="Text 6"/>
          <p:cNvSpPr/>
          <p:nvPr/>
        </p:nvSpPr>
        <p:spPr>
          <a:xfrm>
            <a:off x="914400" y="2176272"/>
            <a:ext cx="5614416" cy="3511296"/>
          </a:xfrm>
          <a:prstGeom prst="rect">
            <a:avLst/>
          </a:prstGeom>
          <a:noFill/>
          <a:ln/>
        </p:spPr>
        <p:txBody>
          <a:bodyPr wrap="square" lIns="0" tIns="0" rIns="0" bIns="0" rtlCol="0" anchor="t">
            <a:normAutofit/>
          </a:bodyPr>
          <a:lstStyle/>
          <a:p>
            <a:pPr marL="0" indent="0" algn="l">
              <a:lnSpc>
                <a:spcPct val="100000"/>
              </a:lnSpc>
              <a:spcBef>
                <a:spcPts val="0"/>
              </a:spcBef>
              <a:spcAft>
                <a:spcPts val="0"/>
              </a:spcAft>
              <a:buNone/>
            </a:pPr>
            <a:r>
              <a:rPr sz="919">
                <a:solidFill>
                  <a:srgbClr val="F6F6F6"/>
                </a:solidFill>
                <a:latin typeface="Courier New"/>
              </a:rPr>
              <a:t>git clone https://github.com/sirbastiano/WORLDSAR</a:t>
            </a:r>
            <a:endParaRPr lang="en-US" sz="1040" dirty="0"/>
          </a:p>
          <a:p>
            <a:pPr algn="l">
              <a:lnSpc>
                <a:spcPct val="100000"/>
              </a:lnSpc>
              <a:spcBef>
                <a:spcPts val="0"/>
              </a:spcBef>
              <a:spcAft>
                <a:spcPts val="0"/>
              </a:spcAft>
            </a:pPr>
            <a:r>
              <a:rPr sz="919">
                <a:solidFill>
                  <a:srgbClr val="F6F6F6"/>
                </a:solidFill>
                <a:latin typeface="Courier New"/>
              </a:rPr>
              <a:t>cd WORLDSAR</a:t>
            </a:r>
          </a:p>
          <a:p>
            <a:pPr algn="l">
              <a:lnSpc>
                <a:spcPct val="100000"/>
              </a:lnSpc>
              <a:spcBef>
                <a:spcPts val="0"/>
              </a:spcBef>
              <a:spcAft>
                <a:spcPts val="0"/>
              </a:spcAft>
            </a:pPr>
            <a:r>
              <a:rPr sz="919">
                <a:solidFill>
                  <a:srgbClr val="F6F6F6"/>
                </a:solidFill>
                <a:latin typeface="Courier New"/>
              </a:rPr>
              <a:t>git checkout apptainer</a:t>
            </a:r>
          </a:p>
          <a:p>
            <a:pPr algn="l">
              <a:lnSpc>
                <a:spcPct val="100000"/>
              </a:lnSpc>
              <a:spcBef>
                <a:spcPts val="0"/>
              </a:spcBef>
              <a:spcAft>
                <a:spcPts val="0"/>
              </a:spcAft>
            </a:pPr>
            <a:endParaRPr sz="919">
              <a:solidFill>
                <a:srgbClr val="F6F6F6"/>
              </a:solidFill>
              <a:latin typeface="Courier New"/>
            </a:endParaRPr>
          </a:p>
          <a:p>
            <a:pPr algn="l">
              <a:lnSpc>
                <a:spcPct val="100000"/>
              </a:lnSpc>
              <a:spcBef>
                <a:spcPts val="0"/>
              </a:spcBef>
              <a:spcAft>
                <a:spcPts val="0"/>
              </a:spcAft>
            </a:pPr>
            <a:r>
              <a:rPr sz="919">
                <a:solidFill>
                  <a:srgbClr val="F6F6F6"/>
                </a:solidFill>
                <a:latin typeface="Courier New"/>
              </a:rPr>
              <a:t>uv sync</a:t>
            </a:r>
          </a:p>
          <a:p>
            <a:pPr algn="l">
              <a:lnSpc>
                <a:spcPct val="100000"/>
              </a:lnSpc>
              <a:spcBef>
                <a:spcPts val="0"/>
              </a:spcBef>
              <a:spcAft>
                <a:spcPts val="0"/>
              </a:spcAft>
            </a:pPr>
            <a:r>
              <a:rPr sz="919">
                <a:solidFill>
                  <a:srgbClr val="F6F6F6"/>
                </a:solidFill>
                <a:latin typeface="Courier New"/>
              </a:rPr>
              <a:t>make pull-sif</a:t>
            </a:r>
          </a:p>
          <a:p>
            <a:pPr algn="l">
              <a:lnSpc>
                <a:spcPct val="100000"/>
              </a:lnSpc>
              <a:spcBef>
                <a:spcPts val="0"/>
              </a:spcBef>
              <a:spcAft>
                <a:spcPts val="0"/>
              </a:spcAft>
            </a:pPr>
            <a:r>
              <a:rPr sz="919">
                <a:solidFill>
                  <a:srgbClr val="F6F6F6"/>
                </a:solidFill>
                <a:latin typeface="Courier New"/>
              </a:rPr>
              <a:t>make pull-snap</a:t>
            </a:r>
          </a:p>
          <a:p>
            <a:pPr algn="l">
              <a:lnSpc>
                <a:spcPct val="100000"/>
              </a:lnSpc>
              <a:spcBef>
                <a:spcPts val="0"/>
              </a:spcBef>
              <a:spcAft>
                <a:spcPts val="0"/>
              </a:spcAft>
            </a:pPr>
            <a:r>
              <a:rPr sz="919">
                <a:solidFill>
                  <a:srgbClr val="F6F6F6"/>
                </a:solidFill>
                <a:latin typeface="Courier New"/>
              </a:rPr>
              <a:t># optional when product is not already local</a:t>
            </a:r>
          </a:p>
          <a:p>
            <a:pPr algn="l">
              <a:lnSpc>
                <a:spcPct val="100000"/>
              </a:lnSpc>
              <a:spcBef>
                <a:spcPts val="0"/>
              </a:spcBef>
              <a:spcAft>
                <a:spcPts val="0"/>
              </a:spcAft>
            </a:pPr>
            <a:r>
              <a:rPr sz="919">
                <a:solidFill>
                  <a:srgbClr val="F6F6F6"/>
                </a:solidFill>
                <a:latin typeface="Courier New"/>
              </a:rPr>
              <a:t>make down PRODUCT=&lt;product_name&gt;.SAFE</a:t>
            </a:r>
          </a:p>
          <a:p>
            <a:pPr algn="l">
              <a:lnSpc>
                <a:spcPct val="100000"/>
              </a:lnSpc>
              <a:spcBef>
                <a:spcPts val="0"/>
              </a:spcBef>
              <a:spcAft>
                <a:spcPts val="0"/>
              </a:spcAft>
            </a:pPr>
            <a:endParaRPr sz="919">
              <a:solidFill>
                <a:srgbClr val="F6F6F6"/>
              </a:solidFill>
              <a:latin typeface="Courier New"/>
            </a:endParaRPr>
          </a:p>
          <a:p>
            <a:pPr algn="l">
              <a:lnSpc>
                <a:spcPct val="100000"/>
              </a:lnSpc>
              <a:spcBef>
                <a:spcPts val="0"/>
              </a:spcBef>
              <a:spcAft>
                <a:spcPts val="0"/>
              </a:spcAft>
            </a:pPr>
            <a:r>
              <a:rPr sz="919">
                <a:solidFill>
                  <a:srgbClr val="F6F6F6"/>
                </a:solidFill>
                <a:latin typeface="Courier New"/>
              </a:rPr>
              <a:t>WORLDSAR_MODE=vm make run \</a:t>
            </a:r>
          </a:p>
          <a:p>
            <a:pPr algn="l">
              <a:lnSpc>
                <a:spcPct val="100000"/>
              </a:lnSpc>
              <a:spcBef>
                <a:spcPts val="0"/>
              </a:spcBef>
              <a:spcAft>
                <a:spcPts val="0"/>
              </a:spcAft>
            </a:pPr>
            <a:r>
              <a:rPr sz="919">
                <a:solidFill>
                  <a:srgbClr val="F6F6F6"/>
                </a:solidFill>
                <a:latin typeface="Courier New"/>
              </a:rPr>
              <a:t>  PRODUCT=&lt;product_name_or_full_path&gt;.SAFE</a:t>
            </a:r>
          </a:p>
          <a:p>
            <a:pPr algn="l">
              <a:lnSpc>
                <a:spcPct val="100000"/>
              </a:lnSpc>
              <a:spcBef>
                <a:spcPts val="0"/>
              </a:spcBef>
              <a:spcAft>
                <a:spcPts val="0"/>
              </a:spcAft>
            </a:pPr>
            <a:r>
              <a:rPr sz="919">
                <a:solidFill>
                  <a:srgbClr val="F6F6F6"/>
                </a:solidFill>
                <a:latin typeface="Courier New"/>
              </a:rPr>
              <a:t># equivalent explicit target</a:t>
            </a:r>
          </a:p>
          <a:p>
            <a:pPr algn="l">
              <a:lnSpc>
                <a:spcPct val="100000"/>
              </a:lnSpc>
              <a:spcBef>
                <a:spcPts val="0"/>
              </a:spcBef>
              <a:spcAft>
                <a:spcPts val="0"/>
              </a:spcAft>
            </a:pPr>
            <a:r>
              <a:rPr sz="919">
                <a:solidFill>
                  <a:srgbClr val="F6F6F6"/>
                </a:solidFill>
                <a:latin typeface="Courier New"/>
              </a:rPr>
              <a:t>WORLDSAR_MODE=vm make run-vm \</a:t>
            </a:r>
          </a:p>
          <a:p>
            <a:pPr algn="l">
              <a:lnSpc>
                <a:spcPct val="100000"/>
              </a:lnSpc>
              <a:spcBef>
                <a:spcPts val="0"/>
              </a:spcBef>
              <a:spcAft>
                <a:spcPts val="0"/>
              </a:spcAft>
            </a:pPr>
            <a:r>
              <a:rPr sz="919">
                <a:solidFill>
                  <a:srgbClr val="F6F6F6"/>
                </a:solidFill>
                <a:latin typeface="Courier New"/>
              </a:rPr>
              <a:t>  PRODUCT=&lt;product_name_or_full_path&gt;.SAFE</a:t>
            </a:r>
          </a:p>
        </p:txBody>
      </p:sp>
      <p:sp>
        <p:nvSpPr>
          <p:cNvPr id="9" name="Shape 7"/>
          <p:cNvSpPr/>
          <p:nvPr/>
        </p:nvSpPr>
        <p:spPr>
          <a:xfrm>
            <a:off x="6931152" y="1792224"/>
            <a:ext cx="4498848" cy="859536"/>
          </a:xfrm>
          <a:prstGeom prst="roundRect">
            <a:avLst>
              <a:gd name="adj" fmla="val 8511"/>
            </a:avLst>
          </a:prstGeom>
          <a:solidFill>
            <a:srgbClr val="F6F6F6"/>
          </a:solidFill>
          <a:ln w="12700">
            <a:solidFill>
              <a:srgbClr val="C9C9C9"/>
            </a:solidFill>
            <a:prstDash val="solid"/>
          </a:ln>
        </p:spPr>
        <p:txBody>
          <a:bodyPr/>
          <a:lstStyle/>
          <a:p>
            <a:endParaRPr lang="en-US"/>
          </a:p>
        </p:txBody>
      </p:sp>
      <p:sp>
        <p:nvSpPr>
          <p:cNvPr id="10" name="Shape 8"/>
          <p:cNvSpPr/>
          <p:nvPr/>
        </p:nvSpPr>
        <p:spPr>
          <a:xfrm>
            <a:off x="7114032" y="2029968"/>
            <a:ext cx="310896" cy="310896"/>
          </a:xfrm>
          <a:prstGeom prst="ellipse">
            <a:avLst/>
          </a:prstGeom>
          <a:solidFill>
            <a:srgbClr val="474747"/>
          </a:solidFill>
          <a:ln w="6350">
            <a:solidFill>
              <a:srgbClr val="474747"/>
            </a:solidFill>
            <a:prstDash val="solid"/>
          </a:ln>
        </p:spPr>
        <p:txBody>
          <a:bodyPr/>
          <a:lstStyle/>
          <a:p>
            <a:endParaRPr lang="en-US"/>
          </a:p>
        </p:txBody>
      </p:sp>
      <p:sp>
        <p:nvSpPr>
          <p:cNvPr id="11" name="Text 9"/>
          <p:cNvSpPr/>
          <p:nvPr/>
        </p:nvSpPr>
        <p:spPr>
          <a:xfrm>
            <a:off x="7114032" y="2048256"/>
            <a:ext cx="310896" cy="21945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2" name="Text 10"/>
          <p:cNvSpPr/>
          <p:nvPr/>
        </p:nvSpPr>
        <p:spPr>
          <a:xfrm>
            <a:off x="7479792" y="1993392"/>
            <a:ext cx="3657600" cy="402336"/>
          </a:xfrm>
          <a:prstGeom prst="rect">
            <a:avLst/>
          </a:prstGeom>
          <a:noFill/>
          <a:ln/>
        </p:spPr>
        <p:txBody>
          <a:bodyPr wrap="square" lIns="0" tIns="0" rIns="0" bIns="0" rtlCol="0" anchor="t">
            <a:normAutofit/>
          </a:bodyPr>
          <a:lstStyle/>
          <a:p>
            <a:pPr marL="0" indent="0" algn="l">
              <a:buNone/>
            </a:pPr>
            <a:r>
              <a:rPr lang="en-US" sz="1110" dirty="0">
                <a:solidFill>
                  <a:srgbClr val="444444"/>
                </a:solidFill>
                <a:latin typeface="Arial" pitchFamily="34" charset="0"/>
                <a:ea typeface="Arial" pitchFamily="34" charset="-122"/>
                <a:cs typeface="Arial" pitchFamily="34" charset="-120"/>
              </a:rPr>
              <a:t>uv sync installs the Python environment used for helper scripts and support-material download tooling.</a:t>
            </a:r>
            <a:endParaRPr lang="en-US" sz="1110" dirty="0"/>
          </a:p>
        </p:txBody>
      </p:sp>
      <p:sp>
        <p:nvSpPr>
          <p:cNvPr id="13" name="Shape 11"/>
          <p:cNvSpPr/>
          <p:nvPr/>
        </p:nvSpPr>
        <p:spPr>
          <a:xfrm>
            <a:off x="6931152" y="2770632"/>
            <a:ext cx="4498848" cy="859536"/>
          </a:xfrm>
          <a:prstGeom prst="roundRect">
            <a:avLst>
              <a:gd name="adj" fmla="val 8511"/>
            </a:avLst>
          </a:prstGeom>
          <a:solidFill>
            <a:srgbClr val="F6F6F6"/>
          </a:solidFill>
          <a:ln w="12700">
            <a:solidFill>
              <a:srgbClr val="C9C9C9"/>
            </a:solidFill>
            <a:prstDash val="solid"/>
          </a:ln>
        </p:spPr>
        <p:txBody>
          <a:bodyPr/>
          <a:lstStyle/>
          <a:p>
            <a:endParaRPr lang="en-US"/>
          </a:p>
        </p:txBody>
      </p:sp>
      <p:sp>
        <p:nvSpPr>
          <p:cNvPr id="14" name="Shape 12"/>
          <p:cNvSpPr/>
          <p:nvPr/>
        </p:nvSpPr>
        <p:spPr>
          <a:xfrm>
            <a:off x="7114032" y="3008376"/>
            <a:ext cx="310896" cy="310896"/>
          </a:xfrm>
          <a:prstGeom prst="ellipse">
            <a:avLst/>
          </a:prstGeom>
          <a:solidFill>
            <a:srgbClr val="474747"/>
          </a:solidFill>
          <a:ln w="6350">
            <a:solidFill>
              <a:srgbClr val="474747"/>
            </a:solidFill>
            <a:prstDash val="solid"/>
          </a:ln>
        </p:spPr>
        <p:txBody>
          <a:bodyPr/>
          <a:lstStyle/>
          <a:p>
            <a:endParaRPr lang="en-US"/>
          </a:p>
        </p:txBody>
      </p:sp>
      <p:sp>
        <p:nvSpPr>
          <p:cNvPr id="15" name="Text 13"/>
          <p:cNvSpPr/>
          <p:nvPr/>
        </p:nvSpPr>
        <p:spPr>
          <a:xfrm>
            <a:off x="7114032" y="3026664"/>
            <a:ext cx="310896" cy="21945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6" name="Text 14"/>
          <p:cNvSpPr/>
          <p:nvPr/>
        </p:nvSpPr>
        <p:spPr>
          <a:xfrm>
            <a:off x="7479792" y="2971800"/>
            <a:ext cx="3657600" cy="402336"/>
          </a:xfrm>
          <a:prstGeom prst="rect">
            <a:avLst/>
          </a:prstGeom>
          <a:noFill/>
          <a:ln/>
        </p:spPr>
        <p:txBody>
          <a:bodyPr wrap="square" lIns="0" tIns="0" rIns="0" bIns="0" rtlCol="0" anchor="t">
            <a:normAutofit/>
          </a:bodyPr>
          <a:lstStyle/>
          <a:p>
            <a:pPr marL="0" indent="0" algn="l">
              <a:buNone/>
            </a:pPr>
            <a:r>
              <a:rPr lang="en-US" sz="1110" dirty="0">
                <a:solidFill>
                  <a:srgbClr val="444444"/>
                </a:solidFill>
                <a:latin typeface="Arial" pitchFamily="34" charset="0"/>
                <a:ea typeface="Arial" pitchFamily="34" charset="-122"/>
                <a:cs typeface="Arial" pitchFamily="34" charset="-120"/>
              </a:rPr>
              <a:t>make pull-sif and make pull-snap stage the SIF container and the .snap userdir expected by the runtime.</a:t>
            </a:r>
            <a:endParaRPr lang="en-US" sz="1110" dirty="0"/>
          </a:p>
        </p:txBody>
      </p:sp>
      <p:sp>
        <p:nvSpPr>
          <p:cNvPr id="17" name="Shape 15"/>
          <p:cNvSpPr/>
          <p:nvPr/>
        </p:nvSpPr>
        <p:spPr>
          <a:xfrm>
            <a:off x="6931152" y="3749040"/>
            <a:ext cx="4498848" cy="859536"/>
          </a:xfrm>
          <a:prstGeom prst="roundRect">
            <a:avLst>
              <a:gd name="adj" fmla="val 8511"/>
            </a:avLst>
          </a:prstGeom>
          <a:solidFill>
            <a:srgbClr val="F6F6F6"/>
          </a:solidFill>
          <a:ln w="12700">
            <a:solidFill>
              <a:srgbClr val="C9C9C9"/>
            </a:solidFill>
            <a:prstDash val="solid"/>
          </a:ln>
        </p:spPr>
        <p:txBody>
          <a:bodyPr/>
          <a:lstStyle/>
          <a:p>
            <a:endParaRPr lang="en-US"/>
          </a:p>
        </p:txBody>
      </p:sp>
      <p:sp>
        <p:nvSpPr>
          <p:cNvPr id="18" name="Shape 16"/>
          <p:cNvSpPr/>
          <p:nvPr/>
        </p:nvSpPr>
        <p:spPr>
          <a:xfrm>
            <a:off x="7114032" y="3986784"/>
            <a:ext cx="310896" cy="310896"/>
          </a:xfrm>
          <a:prstGeom prst="ellipse">
            <a:avLst/>
          </a:prstGeom>
          <a:solidFill>
            <a:srgbClr val="474747"/>
          </a:solidFill>
          <a:ln w="6350">
            <a:solidFill>
              <a:srgbClr val="474747"/>
            </a:solidFill>
            <a:prstDash val="solid"/>
          </a:ln>
        </p:spPr>
        <p:txBody>
          <a:bodyPr/>
          <a:lstStyle/>
          <a:p>
            <a:endParaRPr lang="en-US"/>
          </a:p>
        </p:txBody>
      </p:sp>
      <p:sp>
        <p:nvSpPr>
          <p:cNvPr id="19" name="Text 17"/>
          <p:cNvSpPr/>
          <p:nvPr/>
        </p:nvSpPr>
        <p:spPr>
          <a:xfrm>
            <a:off x="7114032" y="4005072"/>
            <a:ext cx="310896" cy="21945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20" name="Text 18"/>
          <p:cNvSpPr/>
          <p:nvPr/>
        </p:nvSpPr>
        <p:spPr>
          <a:xfrm>
            <a:off x="7479792" y="3950208"/>
            <a:ext cx="3657600" cy="402336"/>
          </a:xfrm>
          <a:prstGeom prst="rect">
            <a:avLst/>
          </a:prstGeom>
          <a:noFill/>
          <a:ln/>
        </p:spPr>
        <p:txBody>
          <a:bodyPr wrap="square" lIns="0" tIns="0" rIns="0" bIns="0" rtlCol="0" anchor="t">
            <a:normAutofit fontScale="92500" lnSpcReduction="20000"/>
          </a:bodyPr>
          <a:lstStyle/>
          <a:p>
            <a:pPr marL="0" indent="0" algn="l">
              <a:lnSpc>
                <a:spcPct val="100000"/>
              </a:lnSpc>
              <a:spcBef>
                <a:spcPts val="0"/>
              </a:spcBef>
              <a:spcAft>
                <a:spcPts val="0"/>
              </a:spcAft>
              <a:buNone/>
            </a:pPr>
            <a:r>
              <a:rPr sz="1080">
                <a:solidFill>
                  <a:srgbClr val="444444"/>
                </a:solidFill>
                <a:latin typeface="Arial"/>
              </a:rPr>
              <a:t>For local validation, set WORLDSAR_MODE=vm explicitly. The documentation repeatedly recommends choosing the mode on purpose instead of relying on environment defaults.</a:t>
            </a:r>
            <a:endParaRPr lang="en-US" sz="1110" dirty="0"/>
          </a:p>
        </p:txBody>
      </p:sp>
      <p:sp>
        <p:nvSpPr>
          <p:cNvPr id="21" name="Shape 19"/>
          <p:cNvSpPr/>
          <p:nvPr/>
        </p:nvSpPr>
        <p:spPr>
          <a:xfrm>
            <a:off x="6931152" y="4727448"/>
            <a:ext cx="4498848" cy="859536"/>
          </a:xfrm>
          <a:prstGeom prst="roundRect">
            <a:avLst>
              <a:gd name="adj" fmla="val 8511"/>
            </a:avLst>
          </a:prstGeom>
          <a:solidFill>
            <a:srgbClr val="F6F6F6"/>
          </a:solidFill>
          <a:ln w="12700">
            <a:solidFill>
              <a:srgbClr val="C9C9C9"/>
            </a:solidFill>
            <a:prstDash val="solid"/>
          </a:ln>
        </p:spPr>
        <p:txBody>
          <a:bodyPr/>
          <a:lstStyle/>
          <a:p>
            <a:endParaRPr lang="en-US"/>
          </a:p>
        </p:txBody>
      </p:sp>
      <p:sp>
        <p:nvSpPr>
          <p:cNvPr id="22" name="Shape 20"/>
          <p:cNvSpPr/>
          <p:nvPr/>
        </p:nvSpPr>
        <p:spPr>
          <a:xfrm>
            <a:off x="7114032" y="4965192"/>
            <a:ext cx="310896" cy="310896"/>
          </a:xfrm>
          <a:prstGeom prst="ellipse">
            <a:avLst/>
          </a:prstGeom>
          <a:solidFill>
            <a:srgbClr val="474747"/>
          </a:solidFill>
          <a:ln w="6350">
            <a:solidFill>
              <a:srgbClr val="474747"/>
            </a:solidFill>
            <a:prstDash val="solid"/>
          </a:ln>
        </p:spPr>
        <p:txBody>
          <a:bodyPr/>
          <a:lstStyle/>
          <a:p>
            <a:endParaRPr lang="en-US"/>
          </a:p>
        </p:txBody>
      </p:sp>
      <p:sp>
        <p:nvSpPr>
          <p:cNvPr id="23" name="Text 21"/>
          <p:cNvSpPr/>
          <p:nvPr/>
        </p:nvSpPr>
        <p:spPr>
          <a:xfrm>
            <a:off x="7114032" y="4983480"/>
            <a:ext cx="310896" cy="21945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24" name="Text 22"/>
          <p:cNvSpPr/>
          <p:nvPr/>
        </p:nvSpPr>
        <p:spPr>
          <a:xfrm>
            <a:off x="7479792" y="4928616"/>
            <a:ext cx="3657600" cy="402336"/>
          </a:xfrm>
          <a:prstGeom prst="rect">
            <a:avLst/>
          </a:prstGeom>
          <a:noFill/>
          <a:ln/>
        </p:spPr>
        <p:txBody>
          <a:bodyPr wrap="square" lIns="0" tIns="0" rIns="0" bIns="0" rtlCol="0" anchor="t">
            <a:normAutofit fontScale="92500"/>
          </a:bodyPr>
          <a:lstStyle/>
          <a:p>
            <a:pPr marL="0" indent="0" algn="l">
              <a:buNone/>
            </a:pPr>
            <a:r>
              <a:rPr lang="en-US" sz="1110" dirty="0">
                <a:solidFill>
                  <a:srgbClr val="444444"/>
                </a:solidFill>
                <a:latin typeface="Arial" pitchFamily="34" charset="0"/>
                <a:ea typeface="Arial" pitchFamily="34" charset="-122"/>
                <a:cs typeface="Arial" pitchFamily="34" charset="-120"/>
              </a:rPr>
              <a:t>PRODUCT can be a SAFE name under phidown_data or a full path containing a slash. main.sh resolves both cases.</a:t>
            </a:r>
            <a:endParaRPr lang="en-US" sz="1110" dirty="0"/>
          </a:p>
        </p:txBody>
      </p:sp>
      <p:sp>
        <p:nvSpPr>
          <p:cNvPr id="25" name="Shape 23"/>
          <p:cNvSpPr/>
          <p:nvPr/>
        </p:nvSpPr>
        <p:spPr>
          <a:xfrm>
            <a:off x="749808" y="5797296"/>
            <a:ext cx="10680192" cy="0"/>
          </a:xfrm>
          <a:prstGeom prst="line">
            <a:avLst/>
          </a:prstGeom>
          <a:noFill/>
          <a:ln w="12700">
            <a:solidFill>
              <a:srgbClr val="D6D6D6"/>
            </a:solidFill>
            <a:prstDash val="solid"/>
          </a:ln>
        </p:spPr>
        <p:txBody>
          <a:bodyPr/>
          <a:lstStyle/>
          <a:p>
            <a:endParaRPr lang="en-US"/>
          </a:p>
        </p:txBody>
      </p:sp>
      <p:sp>
        <p:nvSpPr>
          <p:cNvPr id="26" name="Text 24"/>
          <p:cNvSpPr/>
          <p:nvPr/>
        </p:nvSpPr>
        <p:spPr>
          <a:xfrm>
            <a:off x="749808" y="5943600"/>
            <a:ext cx="10698480" cy="274320"/>
          </a:xfrm>
          <a:prstGeom prst="rect">
            <a:avLst/>
          </a:prstGeom>
          <a:noFill/>
          <a:ln/>
        </p:spPr>
        <p:txBody>
          <a:bodyPr wrap="square" lIns="0" tIns="0" rIns="0" bIns="0" rtlCol="0" anchor="t">
            <a:normAutofit/>
          </a:bodyPr>
          <a:lstStyle/>
          <a:p>
            <a:pPr marL="0" indent="0" algn="l">
              <a:lnSpc>
                <a:spcPct val="100000"/>
              </a:lnSpc>
              <a:spcBef>
                <a:spcPts val="0"/>
              </a:spcBef>
              <a:spcAft>
                <a:spcPts val="0"/>
              </a:spcAft>
              <a:buNone/>
            </a:pPr>
            <a:r>
              <a:rPr sz="1060">
                <a:solidFill>
                  <a:srgbClr val="444444"/>
                </a:solidFill>
                <a:latin typeface="Arial"/>
              </a:rPr>
              <a:t>For demos, prefer WORLDSAR_MODE=vm make run-vm first; keep make run for the same recipe once PBS/HPC execution is actually intended.</a:t>
            </a:r>
            <a:endParaRPr lang="en-US" sz="109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45" name="Rounded Rectangle 44">
            <a:extLst>
              <a:ext uri="{FF2B5EF4-FFF2-40B4-BE49-F238E27FC236}">
                <a16:creationId xmlns:a16="http://schemas.microsoft.com/office/drawing/2014/main" id="{F23CB7D6-C76D-7775-5B96-F50F2697CCEE}"/>
              </a:ext>
            </a:extLst>
          </p:cNvPr>
          <p:cNvSpPr/>
          <p:nvPr/>
        </p:nvSpPr>
        <p:spPr>
          <a:xfrm>
            <a:off x="3882325" y="1580827"/>
            <a:ext cx="4324028" cy="3704405"/>
          </a:xfrm>
          <a:prstGeom prst="roundRect">
            <a:avLst>
              <a:gd name="adj" fmla="val 4534"/>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hape 0"/>
          <p:cNvSpPr/>
          <p:nvPr/>
        </p:nvSpPr>
        <p:spPr>
          <a:xfrm>
            <a:off x="640080" y="356616"/>
            <a:ext cx="11109960" cy="0"/>
          </a:xfrm>
          <a:prstGeom prst="line">
            <a:avLst/>
          </a:prstGeom>
          <a:noFill/>
          <a:ln w="19050">
            <a:solidFill>
              <a:srgbClr val="4A4A4A"/>
            </a:solidFill>
            <a:prstDash val="solid"/>
          </a:ln>
        </p:spPr>
        <p:txBody>
          <a:bodyPr/>
          <a:lstStyle/>
          <a:p>
            <a:endParaRPr lang="en-US"/>
          </a:p>
        </p:txBody>
      </p:sp>
      <p:sp>
        <p:nvSpPr>
          <p:cNvPr id="3" name="Text 1"/>
          <p:cNvSpPr/>
          <p:nvPr/>
        </p:nvSpPr>
        <p:spPr>
          <a:xfrm>
            <a:off x="694944" y="512064"/>
            <a:ext cx="7863840" cy="457200"/>
          </a:xfrm>
          <a:prstGeom prst="rect">
            <a:avLst/>
          </a:prstGeom>
          <a:noFill/>
          <a:ln/>
        </p:spPr>
        <p:txBody>
          <a:bodyPr wrap="square" lIns="0" tIns="0" rIns="0" bIns="0" rtlCol="0" anchor="ctr">
            <a:normAutofit/>
          </a:bodyPr>
          <a:lstStyle/>
          <a:p>
            <a:pPr marL="0" indent="0">
              <a:buNone/>
            </a:pPr>
            <a:r>
              <a:rPr lang="en-US" sz="2700" b="1" dirty="0">
                <a:solidFill>
                  <a:srgbClr val="222222"/>
                </a:solidFill>
                <a:latin typeface="Arial" pitchFamily="34" charset="0"/>
                <a:ea typeface="Arial" pitchFamily="34" charset="-122"/>
                <a:cs typeface="Arial" pitchFamily="34" charset="-120"/>
              </a:rPr>
              <a:t>RUNTIME ENVIRONMENT</a:t>
            </a:r>
            <a:endParaRPr lang="en-US" sz="2700" dirty="0"/>
          </a:p>
        </p:txBody>
      </p:sp>
      <p:sp>
        <p:nvSpPr>
          <p:cNvPr id="4" name="Text 2"/>
          <p:cNvSpPr/>
          <p:nvPr/>
        </p:nvSpPr>
        <p:spPr>
          <a:xfrm>
            <a:off x="694944" y="987552"/>
            <a:ext cx="10424160" cy="256032"/>
          </a:xfrm>
          <a:prstGeom prst="rect">
            <a:avLst/>
          </a:prstGeom>
          <a:noFill/>
          <a:ln/>
        </p:spPr>
        <p:txBody>
          <a:bodyPr wrap="square" lIns="0" tIns="0" rIns="0" bIns="0" rtlCol="0" anchor="ctr">
            <a:normAutofit/>
          </a:bodyPr>
          <a:lstStyle/>
          <a:p>
            <a:pPr marL="0" indent="0">
              <a:buNone/>
            </a:pPr>
            <a:r>
              <a:rPr lang="en-US" sz="1150" dirty="0">
                <a:solidFill>
                  <a:srgbClr val="6E6E6E"/>
                </a:solidFill>
                <a:latin typeface="Arial" pitchFamily="34" charset="0"/>
                <a:ea typeface="Arial" pitchFamily="34" charset="-122"/>
                <a:cs typeface="Arial" pitchFamily="34" charset="-120"/>
              </a:rPr>
              <a:t>How the apptainer branch turns a PRODUCT argument into tiled, indexed, and logged outputs</a:t>
            </a:r>
            <a:endParaRPr lang="en-US" sz="1150" dirty="0"/>
          </a:p>
        </p:txBody>
      </p:sp>
      <p:sp>
        <p:nvSpPr>
          <p:cNvPr id="5" name="Text 3"/>
          <p:cNvSpPr/>
          <p:nvPr/>
        </p:nvSpPr>
        <p:spPr>
          <a:xfrm>
            <a:off x="749808" y="1426464"/>
            <a:ext cx="1737360" cy="219456"/>
          </a:xfrm>
          <a:prstGeom prst="rect">
            <a:avLst/>
          </a:prstGeom>
          <a:noFill/>
          <a:ln/>
        </p:spPr>
        <p:txBody>
          <a:bodyPr wrap="square" lIns="0" tIns="0" rIns="0" bIns="0" rtlCol="0" anchor="ctr">
            <a:normAutofit/>
          </a:bodyPr>
          <a:lstStyle/>
          <a:p>
            <a:pPr marL="0" indent="0">
              <a:buNone/>
            </a:pPr>
            <a:r>
              <a:rPr lang="en-US" sz="1080" b="1" dirty="0">
                <a:solidFill>
                  <a:srgbClr val="6E6E6E"/>
                </a:solidFill>
                <a:latin typeface="Arial" pitchFamily="34" charset="0"/>
                <a:ea typeface="Arial" pitchFamily="34" charset="-122"/>
                <a:cs typeface="Arial" pitchFamily="34" charset="-120"/>
              </a:rPr>
              <a:t>ENTRY POINTS</a:t>
            </a:r>
            <a:endParaRPr lang="en-US" sz="1080" dirty="0"/>
          </a:p>
        </p:txBody>
      </p:sp>
      <p:sp>
        <p:nvSpPr>
          <p:cNvPr id="6" name="Shape 4"/>
          <p:cNvSpPr/>
          <p:nvPr/>
        </p:nvSpPr>
        <p:spPr>
          <a:xfrm>
            <a:off x="6081225" y="3260962"/>
            <a:ext cx="0" cy="179971"/>
          </a:xfrm>
          <a:prstGeom prst="line">
            <a:avLst/>
          </a:prstGeom>
          <a:noFill/>
          <a:ln w="19050">
            <a:solidFill>
              <a:srgbClr val="C9C9C9"/>
            </a:solidFill>
            <a:prstDash val="solid"/>
            <a:tailEnd type="triangle"/>
          </a:ln>
        </p:spPr>
        <p:txBody>
          <a:bodyPr/>
          <a:lstStyle/>
          <a:p>
            <a:endParaRPr lang="en-US"/>
          </a:p>
        </p:txBody>
      </p:sp>
      <p:sp>
        <p:nvSpPr>
          <p:cNvPr id="7" name="Shape 5"/>
          <p:cNvSpPr/>
          <p:nvPr/>
        </p:nvSpPr>
        <p:spPr>
          <a:xfrm>
            <a:off x="6089904" y="2798064"/>
            <a:ext cx="0" cy="457200"/>
          </a:xfrm>
          <a:prstGeom prst="line">
            <a:avLst/>
          </a:prstGeom>
          <a:noFill/>
          <a:ln w="19050">
            <a:solidFill>
              <a:srgbClr val="C9C9C9"/>
            </a:solidFill>
            <a:prstDash val="solid"/>
            <a:tailEnd type="triangle"/>
          </a:ln>
        </p:spPr>
        <p:txBody>
          <a:bodyPr/>
          <a:lstStyle/>
          <a:p>
            <a:endParaRPr lang="en-US"/>
          </a:p>
        </p:txBody>
      </p:sp>
      <p:sp>
        <p:nvSpPr>
          <p:cNvPr id="8" name="Shape 6"/>
          <p:cNvSpPr/>
          <p:nvPr/>
        </p:nvSpPr>
        <p:spPr>
          <a:xfrm>
            <a:off x="6089904" y="3657600"/>
            <a:ext cx="0" cy="457200"/>
          </a:xfrm>
          <a:prstGeom prst="line">
            <a:avLst/>
          </a:prstGeom>
          <a:noFill/>
          <a:ln w="19050">
            <a:solidFill>
              <a:srgbClr val="C9C9C9"/>
            </a:solidFill>
            <a:prstDash val="solid"/>
            <a:tailEnd type="triangle"/>
          </a:ln>
        </p:spPr>
        <p:txBody>
          <a:bodyPr/>
          <a:lstStyle/>
          <a:p>
            <a:endParaRPr lang="en-US"/>
          </a:p>
        </p:txBody>
      </p:sp>
      <p:sp>
        <p:nvSpPr>
          <p:cNvPr id="9" name="Shape 7"/>
          <p:cNvSpPr/>
          <p:nvPr/>
        </p:nvSpPr>
        <p:spPr>
          <a:xfrm>
            <a:off x="1783080" y="2304288"/>
            <a:ext cx="2377440" cy="0"/>
          </a:xfrm>
          <a:prstGeom prst="line">
            <a:avLst/>
          </a:prstGeom>
          <a:noFill/>
          <a:ln w="19050">
            <a:solidFill>
              <a:srgbClr val="D3D3D3"/>
            </a:solidFill>
            <a:prstDash val="solid"/>
            <a:tailEnd type="triangle"/>
          </a:ln>
        </p:spPr>
        <p:txBody>
          <a:bodyPr/>
          <a:lstStyle/>
          <a:p>
            <a:endParaRPr lang="en-US"/>
          </a:p>
        </p:txBody>
      </p:sp>
      <p:sp>
        <p:nvSpPr>
          <p:cNvPr id="10" name="Shape 8"/>
          <p:cNvSpPr/>
          <p:nvPr/>
        </p:nvSpPr>
        <p:spPr>
          <a:xfrm>
            <a:off x="8206352" y="2304288"/>
            <a:ext cx="2089791" cy="0"/>
          </a:xfrm>
          <a:prstGeom prst="line">
            <a:avLst/>
          </a:prstGeom>
          <a:noFill/>
          <a:ln w="19050">
            <a:solidFill>
              <a:srgbClr val="D3D3D3"/>
            </a:solidFill>
            <a:prstDash val="solid"/>
            <a:tailEnd type="triangle"/>
          </a:ln>
        </p:spPr>
        <p:txBody>
          <a:bodyPr/>
          <a:lstStyle/>
          <a:p>
            <a:endParaRPr lang="en-US"/>
          </a:p>
        </p:txBody>
      </p:sp>
      <p:sp>
        <p:nvSpPr>
          <p:cNvPr id="11" name="Shape 9"/>
          <p:cNvSpPr/>
          <p:nvPr/>
        </p:nvSpPr>
        <p:spPr>
          <a:xfrm>
            <a:off x="8206352" y="3145536"/>
            <a:ext cx="2089792" cy="0"/>
          </a:xfrm>
          <a:prstGeom prst="line">
            <a:avLst/>
          </a:prstGeom>
          <a:noFill/>
          <a:ln w="19050">
            <a:solidFill>
              <a:srgbClr val="D3D3D3"/>
            </a:solidFill>
            <a:prstDash val="solid"/>
            <a:tailEnd type="triangle"/>
          </a:ln>
        </p:spPr>
        <p:txBody>
          <a:bodyPr/>
          <a:lstStyle/>
          <a:p>
            <a:endParaRPr lang="en-US"/>
          </a:p>
        </p:txBody>
      </p:sp>
      <p:sp>
        <p:nvSpPr>
          <p:cNvPr id="12" name="Shape 10"/>
          <p:cNvSpPr/>
          <p:nvPr/>
        </p:nvSpPr>
        <p:spPr>
          <a:xfrm>
            <a:off x="8206352" y="4005072"/>
            <a:ext cx="2089792" cy="0"/>
          </a:xfrm>
          <a:prstGeom prst="line">
            <a:avLst/>
          </a:prstGeom>
          <a:noFill/>
          <a:ln w="19050">
            <a:solidFill>
              <a:srgbClr val="D3D3D3"/>
            </a:solidFill>
            <a:prstDash val="solid"/>
            <a:tailEnd type="triangle"/>
          </a:ln>
        </p:spPr>
        <p:txBody>
          <a:bodyPr/>
          <a:lstStyle/>
          <a:p>
            <a:endParaRPr lang="en-US"/>
          </a:p>
        </p:txBody>
      </p:sp>
      <p:sp>
        <p:nvSpPr>
          <p:cNvPr id="13" name="Shape 11"/>
          <p:cNvSpPr/>
          <p:nvPr/>
        </p:nvSpPr>
        <p:spPr>
          <a:xfrm>
            <a:off x="8206352" y="4846320"/>
            <a:ext cx="2089792" cy="0"/>
          </a:xfrm>
          <a:prstGeom prst="line">
            <a:avLst/>
          </a:prstGeom>
          <a:noFill/>
          <a:ln w="19050">
            <a:solidFill>
              <a:srgbClr val="D3D3D3"/>
            </a:solidFill>
            <a:prstDash val="solid"/>
            <a:tailEnd type="triangle"/>
          </a:ln>
        </p:spPr>
        <p:txBody>
          <a:bodyPr/>
          <a:lstStyle/>
          <a:p>
            <a:endParaRPr lang="en-US"/>
          </a:p>
        </p:txBody>
      </p:sp>
      <p:sp>
        <p:nvSpPr>
          <p:cNvPr id="15" name="Text 13"/>
          <p:cNvSpPr/>
          <p:nvPr/>
        </p:nvSpPr>
        <p:spPr>
          <a:xfrm>
            <a:off x="4306824" y="1728216"/>
            <a:ext cx="3566160" cy="237744"/>
          </a:xfrm>
          <a:prstGeom prst="rect">
            <a:avLst/>
          </a:prstGeom>
          <a:noFill/>
          <a:ln/>
        </p:spPr>
        <p:txBody>
          <a:bodyPr wrap="square" lIns="0" tIns="0" rIns="0" bIns="0" rtlCol="0" anchor="t">
            <a:normAutofit/>
          </a:bodyPr>
          <a:lstStyle/>
          <a:p>
            <a:pPr marL="0" indent="0" algn="l">
              <a:buNone/>
            </a:pPr>
            <a:r>
              <a:rPr lang="en-US" sz="1400" b="1" dirty="0">
                <a:solidFill>
                  <a:schemeClr val="bg1"/>
                </a:solidFill>
                <a:latin typeface="Arial" pitchFamily="34" charset="0"/>
                <a:ea typeface="Arial" pitchFamily="34" charset="-122"/>
                <a:cs typeface="Arial" pitchFamily="34" charset="-120"/>
              </a:rPr>
              <a:t>Makefile</a:t>
            </a:r>
            <a:endParaRPr lang="en-US" sz="1400" dirty="0">
              <a:solidFill>
                <a:schemeClr val="bg1"/>
              </a:solidFill>
            </a:endParaRPr>
          </a:p>
        </p:txBody>
      </p:sp>
      <p:sp>
        <p:nvSpPr>
          <p:cNvPr id="16" name="Text 14"/>
          <p:cNvSpPr/>
          <p:nvPr/>
        </p:nvSpPr>
        <p:spPr>
          <a:xfrm>
            <a:off x="4306824" y="2039076"/>
            <a:ext cx="3566160" cy="411516"/>
          </a:xfrm>
          <a:prstGeom prst="rect">
            <a:avLst/>
          </a:prstGeom>
          <a:noFill/>
          <a:ln/>
        </p:spPr>
        <p:txBody>
          <a:bodyPr wrap="square" lIns="0" tIns="0" rIns="0" bIns="0" rtlCol="0" anchor="t">
            <a:normAutofit/>
          </a:bodyPr>
          <a:lstStyle/>
          <a:p>
            <a:pPr marL="0" indent="0" algn="l">
              <a:spcBef>
                <a:spcPts val="0"/>
              </a:spcBef>
              <a:spcAft>
                <a:spcPts val="0"/>
              </a:spcAft>
              <a:buNone/>
            </a:pPr>
            <a:r>
              <a:rPr sz="1050" dirty="0">
                <a:solidFill>
                  <a:schemeClr val="bg1"/>
                </a:solidFill>
                <a:latin typeface="Arial"/>
              </a:rPr>
              <a:t>Selects </a:t>
            </a:r>
            <a:r>
              <a:rPr sz="1050" dirty="0" err="1">
                <a:solidFill>
                  <a:schemeClr val="bg1"/>
                </a:solidFill>
                <a:latin typeface="Arial"/>
              </a:rPr>
              <a:t>vm</a:t>
            </a:r>
            <a:r>
              <a:rPr sz="1050" dirty="0">
                <a:solidFill>
                  <a:schemeClr val="bg1"/>
                </a:solidFill>
                <a:latin typeface="Arial"/>
              </a:rPr>
              <a:t>/</a:t>
            </a:r>
            <a:r>
              <a:rPr sz="1050" dirty="0" err="1">
                <a:solidFill>
                  <a:schemeClr val="bg1"/>
                </a:solidFill>
                <a:latin typeface="Arial"/>
              </a:rPr>
              <a:t>hpc</a:t>
            </a:r>
            <a:r>
              <a:rPr sz="1050" dirty="0">
                <a:solidFill>
                  <a:schemeClr val="bg1"/>
                </a:solidFill>
                <a:latin typeface="Arial"/>
              </a:rPr>
              <a:t> mode, stages SIF and .snap, injects runtime env, and dispatches run-</a:t>
            </a:r>
            <a:r>
              <a:rPr sz="1050" dirty="0" err="1">
                <a:solidFill>
                  <a:schemeClr val="bg1"/>
                </a:solidFill>
                <a:latin typeface="Arial"/>
              </a:rPr>
              <a:t>vm</a:t>
            </a:r>
            <a:r>
              <a:rPr sz="1050" dirty="0">
                <a:solidFill>
                  <a:schemeClr val="bg1"/>
                </a:solidFill>
                <a:latin typeface="Arial"/>
              </a:rPr>
              <a:t> or </a:t>
            </a:r>
            <a:r>
              <a:rPr sz="1050" dirty="0" err="1">
                <a:solidFill>
                  <a:schemeClr val="bg1"/>
                </a:solidFill>
                <a:latin typeface="Arial"/>
              </a:rPr>
              <a:t>qsub</a:t>
            </a:r>
            <a:r>
              <a:rPr sz="1050" dirty="0">
                <a:solidFill>
                  <a:schemeClr val="bg1"/>
                </a:solidFill>
                <a:latin typeface="Arial"/>
              </a:rPr>
              <a:t>.</a:t>
            </a:r>
            <a:endParaRPr lang="en-US" sz="1100" dirty="0">
              <a:solidFill>
                <a:schemeClr val="bg1"/>
              </a:solidFill>
            </a:endParaRPr>
          </a:p>
        </p:txBody>
      </p:sp>
      <p:sp>
        <p:nvSpPr>
          <p:cNvPr id="17" name="Shape 15"/>
          <p:cNvSpPr/>
          <p:nvPr/>
        </p:nvSpPr>
        <p:spPr>
          <a:xfrm>
            <a:off x="4160520" y="2596896"/>
            <a:ext cx="3858768" cy="658368"/>
          </a:xfrm>
          <a:prstGeom prst="roundRect">
            <a:avLst>
              <a:gd name="adj" fmla="val 11111"/>
            </a:avLst>
          </a:prstGeom>
          <a:solidFill>
            <a:srgbClr val="F6F6F6"/>
          </a:solidFill>
          <a:ln w="12700">
            <a:solidFill>
              <a:srgbClr val="C9C9C9"/>
            </a:solidFill>
            <a:prstDash val="solid"/>
          </a:ln>
        </p:spPr>
        <p:txBody>
          <a:bodyPr/>
          <a:lstStyle/>
          <a:p>
            <a:endParaRPr lang="en-US"/>
          </a:p>
        </p:txBody>
      </p:sp>
      <p:sp>
        <p:nvSpPr>
          <p:cNvPr id="18" name="Text 16"/>
          <p:cNvSpPr/>
          <p:nvPr/>
        </p:nvSpPr>
        <p:spPr>
          <a:xfrm>
            <a:off x="4306824" y="2724912"/>
            <a:ext cx="3566160" cy="237744"/>
          </a:xfrm>
          <a:prstGeom prst="rect">
            <a:avLst/>
          </a:prstGeom>
          <a:noFill/>
          <a:ln/>
        </p:spPr>
        <p:txBody>
          <a:bodyPr wrap="square" lIns="0" tIns="0" rIns="0" bIns="0" rtlCol="0" anchor="t">
            <a:normAutofit/>
          </a:bodyPr>
          <a:lstStyle/>
          <a:p>
            <a:pPr marL="0" indent="0" algn="l">
              <a:buNone/>
            </a:pPr>
            <a:r>
              <a:rPr lang="en-US" sz="1400" b="1" dirty="0">
                <a:solidFill>
                  <a:srgbClr val="222222"/>
                </a:solidFill>
                <a:latin typeface="Arial" pitchFamily="34" charset="0"/>
                <a:ea typeface="Arial" pitchFamily="34" charset="-122"/>
                <a:cs typeface="Arial" pitchFamily="34" charset="-120"/>
              </a:rPr>
              <a:t>main.sh</a:t>
            </a:r>
            <a:endParaRPr lang="en-US" sz="1400" dirty="0"/>
          </a:p>
        </p:txBody>
      </p:sp>
      <p:sp>
        <p:nvSpPr>
          <p:cNvPr id="19" name="Text 17"/>
          <p:cNvSpPr/>
          <p:nvPr/>
        </p:nvSpPr>
        <p:spPr>
          <a:xfrm>
            <a:off x="4306824" y="2980944"/>
            <a:ext cx="3566160" cy="164592"/>
          </a:xfrm>
          <a:prstGeom prst="rect">
            <a:avLst/>
          </a:prstGeom>
          <a:noFill/>
          <a:ln/>
        </p:spPr>
        <p:txBody>
          <a:bodyPr wrap="square" lIns="0" tIns="0" rIns="0" bIns="0" rtlCol="0" anchor="t">
            <a:normAutofit fontScale="62500" lnSpcReduction="20000"/>
          </a:bodyPr>
          <a:lstStyle/>
          <a:p>
            <a:pPr marL="0" indent="0" algn="l">
              <a:spcBef>
                <a:spcPts val="0"/>
              </a:spcBef>
              <a:spcAft>
                <a:spcPts val="0"/>
              </a:spcAft>
              <a:buNone/>
            </a:pPr>
            <a:r>
              <a:rPr sz="980">
                <a:solidFill>
                  <a:srgbClr val="444444"/>
                </a:solidFill>
                <a:latin typeface="Arial"/>
              </a:rPr>
              <a:t>Resolves PRODUCT, validates paths, binds host directories to /work, and forwards GPT and grid settings.</a:t>
            </a:r>
            <a:endParaRPr lang="en-US" sz="1040" dirty="0"/>
          </a:p>
        </p:txBody>
      </p:sp>
      <p:sp>
        <p:nvSpPr>
          <p:cNvPr id="20" name="Shape 18"/>
          <p:cNvSpPr/>
          <p:nvPr/>
        </p:nvSpPr>
        <p:spPr>
          <a:xfrm>
            <a:off x="4160520" y="3456432"/>
            <a:ext cx="3858768" cy="658368"/>
          </a:xfrm>
          <a:prstGeom prst="roundRect">
            <a:avLst>
              <a:gd name="adj" fmla="val 11111"/>
            </a:avLst>
          </a:prstGeom>
          <a:solidFill>
            <a:srgbClr val="F6F6F6"/>
          </a:solidFill>
          <a:ln w="12700">
            <a:solidFill>
              <a:srgbClr val="C9C9C9"/>
            </a:solidFill>
            <a:prstDash val="solid"/>
          </a:ln>
        </p:spPr>
        <p:txBody>
          <a:bodyPr/>
          <a:lstStyle/>
          <a:p>
            <a:endParaRPr lang="en-US"/>
          </a:p>
        </p:txBody>
      </p:sp>
      <p:sp>
        <p:nvSpPr>
          <p:cNvPr id="21" name="Text 19"/>
          <p:cNvSpPr/>
          <p:nvPr/>
        </p:nvSpPr>
        <p:spPr>
          <a:xfrm>
            <a:off x="4306824" y="3584448"/>
            <a:ext cx="3566160" cy="237744"/>
          </a:xfrm>
          <a:prstGeom prst="rect">
            <a:avLst/>
          </a:prstGeom>
          <a:noFill/>
          <a:ln/>
        </p:spPr>
        <p:txBody>
          <a:bodyPr wrap="square" lIns="0" tIns="0" rIns="0" bIns="0" rtlCol="0" anchor="t">
            <a:normAutofit/>
          </a:bodyPr>
          <a:lstStyle/>
          <a:p>
            <a:pPr marL="0" indent="0" algn="l">
              <a:buNone/>
            </a:pPr>
            <a:r>
              <a:rPr lang="en-US" sz="1400" b="1" dirty="0">
                <a:solidFill>
                  <a:srgbClr val="222222"/>
                </a:solidFill>
                <a:latin typeface="Arial" pitchFamily="34" charset="0"/>
                <a:ea typeface="Arial" pitchFamily="34" charset="-122"/>
                <a:cs typeface="Arial" pitchFamily="34" charset="-120"/>
              </a:rPr>
              <a:t>pyscripts/worldsar.py</a:t>
            </a:r>
            <a:endParaRPr lang="en-US" sz="1400" dirty="0"/>
          </a:p>
        </p:txBody>
      </p:sp>
      <p:sp>
        <p:nvSpPr>
          <p:cNvPr id="22" name="Text 20"/>
          <p:cNvSpPr/>
          <p:nvPr/>
        </p:nvSpPr>
        <p:spPr>
          <a:xfrm>
            <a:off x="4306824" y="3840480"/>
            <a:ext cx="3566160" cy="164592"/>
          </a:xfrm>
          <a:prstGeom prst="rect">
            <a:avLst/>
          </a:prstGeom>
          <a:noFill/>
          <a:ln/>
        </p:spPr>
        <p:txBody>
          <a:bodyPr wrap="square" lIns="0" tIns="0" rIns="0" bIns="0" rtlCol="0" anchor="t">
            <a:normAutofit fontScale="62500" lnSpcReduction="20000"/>
          </a:bodyPr>
          <a:lstStyle/>
          <a:p>
            <a:pPr marL="0" indent="0" algn="l">
              <a:spcBef>
                <a:spcPts val="0"/>
              </a:spcBef>
              <a:spcAft>
                <a:spcPts val="0"/>
              </a:spcAft>
              <a:buNone/>
            </a:pPr>
            <a:r>
              <a:rPr sz="980">
                <a:solidFill>
                  <a:srgbClr val="444444"/>
                </a:solidFill>
                <a:latin typeface="Arial"/>
              </a:rPr>
              <a:t>Infers mission/mode, runs SNAP operators, subsets tiles, validates coverage, and writes parquet metadata.</a:t>
            </a:r>
            <a:endParaRPr lang="en-US" sz="1020" dirty="0"/>
          </a:p>
        </p:txBody>
      </p:sp>
      <p:sp>
        <p:nvSpPr>
          <p:cNvPr id="23" name="Shape 21"/>
          <p:cNvSpPr/>
          <p:nvPr/>
        </p:nvSpPr>
        <p:spPr>
          <a:xfrm>
            <a:off x="4160520" y="4315968"/>
            <a:ext cx="3858768" cy="658368"/>
          </a:xfrm>
          <a:prstGeom prst="roundRect">
            <a:avLst>
              <a:gd name="adj" fmla="val 11111"/>
            </a:avLst>
          </a:prstGeom>
          <a:solidFill>
            <a:srgbClr val="F6F6F6"/>
          </a:solidFill>
          <a:ln w="12700">
            <a:solidFill>
              <a:srgbClr val="C9C9C9"/>
            </a:solidFill>
            <a:prstDash val="solid"/>
          </a:ln>
        </p:spPr>
        <p:txBody>
          <a:bodyPr/>
          <a:lstStyle/>
          <a:p>
            <a:endParaRPr lang="en-US"/>
          </a:p>
        </p:txBody>
      </p:sp>
      <p:sp>
        <p:nvSpPr>
          <p:cNvPr id="24" name="Text 22"/>
          <p:cNvSpPr/>
          <p:nvPr/>
        </p:nvSpPr>
        <p:spPr>
          <a:xfrm>
            <a:off x="4306824" y="4443984"/>
            <a:ext cx="3566160" cy="237744"/>
          </a:xfrm>
          <a:prstGeom prst="rect">
            <a:avLst/>
          </a:prstGeom>
          <a:noFill/>
          <a:ln/>
        </p:spPr>
        <p:txBody>
          <a:bodyPr wrap="square" lIns="0" tIns="0" rIns="0" bIns="0" rtlCol="0" anchor="t">
            <a:normAutofit/>
          </a:bodyPr>
          <a:lstStyle/>
          <a:p>
            <a:pPr marL="0" indent="0" algn="l">
              <a:buNone/>
            </a:pPr>
            <a:r>
              <a:rPr lang="en-US" sz="1400" b="1" dirty="0">
                <a:solidFill>
                  <a:srgbClr val="222222"/>
                </a:solidFill>
                <a:latin typeface="Arial" pitchFamily="34" charset="0"/>
                <a:ea typeface="Arial" pitchFamily="34" charset="-122"/>
                <a:cs typeface="Arial" pitchFamily="34" charset="-120"/>
              </a:rPr>
              <a:t>sarpyx.snapflow.GPT + utils</a:t>
            </a:r>
            <a:endParaRPr lang="en-US" sz="1400" dirty="0"/>
          </a:p>
        </p:txBody>
      </p:sp>
      <p:sp>
        <p:nvSpPr>
          <p:cNvPr id="25" name="Text 23"/>
          <p:cNvSpPr/>
          <p:nvPr/>
        </p:nvSpPr>
        <p:spPr>
          <a:xfrm>
            <a:off x="4306824" y="4700016"/>
            <a:ext cx="3566160" cy="164592"/>
          </a:xfrm>
          <a:prstGeom prst="rect">
            <a:avLst/>
          </a:prstGeom>
          <a:noFill/>
          <a:ln/>
        </p:spPr>
        <p:txBody>
          <a:bodyPr wrap="square" lIns="0" tIns="0" rIns="0" bIns="0" rtlCol="0" anchor="t">
            <a:normAutofit fontScale="62500" lnSpcReduction="20000"/>
          </a:bodyPr>
          <a:lstStyle/>
          <a:p>
            <a:pPr marL="0" indent="0" algn="l">
              <a:spcBef>
                <a:spcPts val="0"/>
              </a:spcBef>
              <a:spcAft>
                <a:spcPts val="0"/>
              </a:spcAft>
              <a:buNone/>
            </a:pPr>
            <a:r>
              <a:rPr sz="980">
                <a:solidFill>
                  <a:srgbClr val="444444"/>
                </a:solidFill>
                <a:latin typeface="Arial"/>
              </a:rPr>
              <a:t>Operator wrappers plus geospatial helpers used by the mission pipelines inside the container runtime.</a:t>
            </a:r>
            <a:endParaRPr lang="en-US" sz="1020" dirty="0"/>
          </a:p>
        </p:txBody>
      </p:sp>
      <p:sp>
        <p:nvSpPr>
          <p:cNvPr id="26" name="Shape 24"/>
          <p:cNvSpPr/>
          <p:nvPr/>
        </p:nvSpPr>
        <p:spPr>
          <a:xfrm>
            <a:off x="749808" y="1874520"/>
            <a:ext cx="1033272" cy="859536"/>
          </a:xfrm>
          <a:prstGeom prst="roundRect">
            <a:avLst>
              <a:gd name="adj" fmla="val 8511"/>
            </a:avLst>
          </a:prstGeom>
          <a:solidFill>
            <a:srgbClr val="F6F6F6"/>
          </a:solidFill>
          <a:ln w="12700">
            <a:solidFill>
              <a:srgbClr val="C9C9C9"/>
            </a:solidFill>
            <a:prstDash val="solid"/>
          </a:ln>
        </p:spPr>
        <p:txBody>
          <a:bodyPr/>
          <a:lstStyle/>
          <a:p>
            <a:endParaRPr lang="en-US"/>
          </a:p>
        </p:txBody>
      </p:sp>
      <p:sp>
        <p:nvSpPr>
          <p:cNvPr id="27" name="Text 25"/>
          <p:cNvSpPr/>
          <p:nvPr/>
        </p:nvSpPr>
        <p:spPr>
          <a:xfrm>
            <a:off x="896112" y="2002536"/>
            <a:ext cx="740664" cy="237744"/>
          </a:xfrm>
          <a:prstGeom prst="rect">
            <a:avLst/>
          </a:prstGeom>
          <a:noFill/>
          <a:ln/>
        </p:spPr>
        <p:txBody>
          <a:bodyPr wrap="square" lIns="0" tIns="0" rIns="0" bIns="0" rtlCol="0" anchor="t">
            <a:normAutofit/>
          </a:bodyPr>
          <a:lstStyle/>
          <a:p>
            <a:pPr marL="0" indent="0" algn="l">
              <a:buNone/>
            </a:pPr>
            <a:r>
              <a:rPr lang="en-US" sz="1280" b="1" dirty="0">
                <a:solidFill>
                  <a:srgbClr val="222222"/>
                </a:solidFill>
                <a:latin typeface="Arial" pitchFamily="34" charset="0"/>
                <a:ea typeface="Arial" pitchFamily="34" charset="-122"/>
                <a:cs typeface="Arial" pitchFamily="34" charset="-120"/>
              </a:rPr>
              <a:t>Inputs</a:t>
            </a:r>
            <a:endParaRPr lang="en-US" sz="1280" dirty="0"/>
          </a:p>
        </p:txBody>
      </p:sp>
      <p:sp>
        <p:nvSpPr>
          <p:cNvPr id="28" name="Text 26"/>
          <p:cNvSpPr/>
          <p:nvPr/>
        </p:nvSpPr>
        <p:spPr>
          <a:xfrm>
            <a:off x="896112" y="2258568"/>
            <a:ext cx="740664" cy="365760"/>
          </a:xfrm>
          <a:prstGeom prst="rect">
            <a:avLst/>
          </a:prstGeom>
          <a:noFill/>
          <a:ln/>
        </p:spPr>
        <p:txBody>
          <a:bodyPr wrap="square" lIns="0" tIns="0" rIns="0" bIns="0" rtlCol="0" anchor="t">
            <a:normAutofit fontScale="70000" lnSpcReduction="20000"/>
          </a:bodyPr>
          <a:lstStyle/>
          <a:p>
            <a:pPr marL="0" indent="0" algn="l">
              <a:buNone/>
            </a:pPr>
            <a:r>
              <a:rPr lang="en-US" sz="980" dirty="0">
                <a:solidFill>
                  <a:srgbClr val="444444"/>
                </a:solidFill>
                <a:latin typeface="Arial" pitchFamily="34" charset="0"/>
                <a:ea typeface="Arial" pitchFamily="34" charset="-122"/>
                <a:cs typeface="Arial" pitchFamily="34" charset="-120"/>
              </a:rPr>
              <a:t>PRODUCT</a:t>
            </a:r>
            <a:endParaRPr lang="en-US" sz="980" dirty="0"/>
          </a:p>
          <a:p>
            <a:pPr marL="0" indent="0" algn="l">
              <a:buNone/>
            </a:pPr>
            <a:r>
              <a:rPr lang="en-US" sz="980" dirty="0">
                <a:solidFill>
                  <a:srgbClr val="444444"/>
                </a:solidFill>
                <a:latin typeface="Arial" pitchFamily="34" charset="0"/>
                <a:ea typeface="Arial" pitchFamily="34" charset="-122"/>
                <a:cs typeface="Arial" pitchFamily="34" charset="-120"/>
              </a:rPr>
              <a:t>GRID_PATH</a:t>
            </a:r>
            <a:endParaRPr lang="en-US" sz="980" dirty="0"/>
          </a:p>
          <a:p>
            <a:pPr marL="0" indent="0" algn="l">
              <a:buNone/>
            </a:pPr>
            <a:r>
              <a:rPr lang="en-US" sz="980" dirty="0">
                <a:solidFill>
                  <a:srgbClr val="444444"/>
                </a:solidFill>
                <a:latin typeface="Arial" pitchFamily="34" charset="0"/>
                <a:ea typeface="Arial" pitchFamily="34" charset="-122"/>
                <a:cs typeface="Arial" pitchFamily="34" charset="-120"/>
              </a:rPr>
              <a:t>SNAP_USERDIR</a:t>
            </a:r>
            <a:endParaRPr lang="en-US" sz="980" dirty="0"/>
          </a:p>
        </p:txBody>
      </p:sp>
      <p:sp>
        <p:nvSpPr>
          <p:cNvPr id="29" name="Shape 27"/>
          <p:cNvSpPr/>
          <p:nvPr/>
        </p:nvSpPr>
        <p:spPr>
          <a:xfrm>
            <a:off x="10314432" y="1901952"/>
            <a:ext cx="1115568" cy="585216"/>
          </a:xfrm>
          <a:prstGeom prst="roundRect">
            <a:avLst>
              <a:gd name="adj" fmla="val 12500"/>
            </a:avLst>
          </a:prstGeom>
          <a:solidFill>
            <a:srgbClr val="F6F6F6"/>
          </a:solidFill>
          <a:ln w="12700">
            <a:solidFill>
              <a:srgbClr val="C9C9C9"/>
            </a:solidFill>
            <a:prstDash val="solid"/>
          </a:ln>
        </p:spPr>
        <p:txBody>
          <a:bodyPr/>
          <a:lstStyle/>
          <a:p>
            <a:endParaRPr lang="en-US"/>
          </a:p>
        </p:txBody>
      </p:sp>
      <p:sp>
        <p:nvSpPr>
          <p:cNvPr id="30" name="Text 28"/>
          <p:cNvSpPr/>
          <p:nvPr/>
        </p:nvSpPr>
        <p:spPr>
          <a:xfrm>
            <a:off x="10460736" y="1978013"/>
            <a:ext cx="822960" cy="237744"/>
          </a:xfrm>
          <a:prstGeom prst="rect">
            <a:avLst/>
          </a:prstGeom>
          <a:noFill/>
          <a:ln/>
        </p:spPr>
        <p:txBody>
          <a:bodyPr wrap="square" lIns="0" tIns="0" rIns="0" bIns="0" rtlCol="0" anchor="t">
            <a:normAutofit fontScale="77500" lnSpcReduction="20000"/>
          </a:bodyPr>
          <a:lstStyle/>
          <a:p>
            <a:pPr marL="0" indent="0" algn="l">
              <a:buNone/>
            </a:pPr>
            <a:r>
              <a:rPr lang="en-US" sz="1150" b="1" dirty="0">
                <a:solidFill>
                  <a:srgbClr val="222222"/>
                </a:solidFill>
                <a:latin typeface="Arial" pitchFamily="34" charset="0"/>
                <a:ea typeface="Arial" pitchFamily="34" charset="-122"/>
                <a:cs typeface="Arial" pitchFamily="34" charset="-120"/>
              </a:rPr>
              <a:t>BEAM-DIMAP</a:t>
            </a:r>
            <a:endParaRPr lang="en-US" sz="1150" dirty="0"/>
          </a:p>
        </p:txBody>
      </p:sp>
      <p:sp>
        <p:nvSpPr>
          <p:cNvPr id="31" name="Text 29"/>
          <p:cNvSpPr/>
          <p:nvPr/>
        </p:nvSpPr>
        <p:spPr>
          <a:xfrm>
            <a:off x="10460736" y="2234045"/>
            <a:ext cx="822960" cy="91440"/>
          </a:xfrm>
          <a:prstGeom prst="rect">
            <a:avLst/>
          </a:prstGeom>
          <a:noFill/>
          <a:ln/>
        </p:spPr>
        <p:txBody>
          <a:bodyPr wrap="square" lIns="0" tIns="0" rIns="0" bIns="0" rtlCol="0" anchor="t">
            <a:normAutofit fontScale="70000" lnSpcReduction="20000"/>
          </a:bodyPr>
          <a:lstStyle/>
          <a:p>
            <a:pPr marL="0" indent="0" algn="l">
              <a:buNone/>
            </a:pPr>
            <a:r>
              <a:rPr lang="en-US" sz="880" dirty="0">
                <a:solidFill>
                  <a:srgbClr val="444444"/>
                </a:solidFill>
                <a:latin typeface="Arial" pitchFamily="34" charset="0"/>
                <a:ea typeface="Arial" pitchFamily="34" charset="-122"/>
                <a:cs typeface="Arial" pitchFamily="34" charset="-120"/>
              </a:rPr>
              <a:t>Intermediate products</a:t>
            </a:r>
            <a:endParaRPr lang="en-US" sz="880" dirty="0"/>
          </a:p>
        </p:txBody>
      </p:sp>
      <p:sp>
        <p:nvSpPr>
          <p:cNvPr id="32" name="Shape 30"/>
          <p:cNvSpPr/>
          <p:nvPr/>
        </p:nvSpPr>
        <p:spPr>
          <a:xfrm>
            <a:off x="10314432" y="2743200"/>
            <a:ext cx="1115568" cy="585216"/>
          </a:xfrm>
          <a:prstGeom prst="roundRect">
            <a:avLst>
              <a:gd name="adj" fmla="val 12500"/>
            </a:avLst>
          </a:prstGeom>
          <a:solidFill>
            <a:srgbClr val="F6F6F6"/>
          </a:solidFill>
          <a:ln w="12700">
            <a:solidFill>
              <a:srgbClr val="C9C9C9"/>
            </a:solidFill>
            <a:prstDash val="solid"/>
          </a:ln>
        </p:spPr>
        <p:txBody>
          <a:bodyPr/>
          <a:lstStyle/>
          <a:p>
            <a:endParaRPr lang="en-US"/>
          </a:p>
        </p:txBody>
      </p:sp>
      <p:sp>
        <p:nvSpPr>
          <p:cNvPr id="33" name="Text 31"/>
          <p:cNvSpPr/>
          <p:nvPr/>
        </p:nvSpPr>
        <p:spPr>
          <a:xfrm>
            <a:off x="10460736" y="2871216"/>
            <a:ext cx="822960" cy="237744"/>
          </a:xfrm>
          <a:prstGeom prst="rect">
            <a:avLst/>
          </a:prstGeom>
          <a:noFill/>
          <a:ln/>
        </p:spPr>
        <p:txBody>
          <a:bodyPr wrap="square" lIns="0" tIns="0" rIns="0" bIns="0" rtlCol="0" anchor="t">
            <a:normAutofit/>
          </a:bodyPr>
          <a:lstStyle/>
          <a:p>
            <a:pPr marL="0" indent="0" algn="l">
              <a:buNone/>
            </a:pPr>
            <a:r>
              <a:rPr lang="en-US" sz="1150" b="1" dirty="0">
                <a:solidFill>
                  <a:srgbClr val="222222"/>
                </a:solidFill>
                <a:latin typeface="Arial" pitchFamily="34" charset="0"/>
                <a:ea typeface="Arial" pitchFamily="34" charset="-122"/>
                <a:cs typeface="Arial" pitchFamily="34" charset="-120"/>
              </a:rPr>
              <a:t>HDF5 tiles</a:t>
            </a:r>
            <a:endParaRPr lang="en-US" sz="1150" dirty="0"/>
          </a:p>
        </p:txBody>
      </p:sp>
      <p:sp>
        <p:nvSpPr>
          <p:cNvPr id="34" name="Text 32"/>
          <p:cNvSpPr/>
          <p:nvPr/>
        </p:nvSpPr>
        <p:spPr>
          <a:xfrm>
            <a:off x="10460736" y="3127248"/>
            <a:ext cx="822960" cy="91440"/>
          </a:xfrm>
          <a:prstGeom prst="rect">
            <a:avLst/>
          </a:prstGeom>
          <a:noFill/>
          <a:ln/>
        </p:spPr>
        <p:txBody>
          <a:bodyPr wrap="square" lIns="0" tIns="0" rIns="0" bIns="0" rtlCol="0" anchor="t">
            <a:normAutofit fontScale="85000" lnSpcReduction="20000"/>
          </a:bodyPr>
          <a:lstStyle/>
          <a:p>
            <a:pPr marL="0" indent="0" algn="l">
              <a:buNone/>
            </a:pPr>
            <a:r>
              <a:rPr lang="en-US" sz="880" dirty="0">
                <a:solidFill>
                  <a:srgbClr val="444444"/>
                </a:solidFill>
                <a:latin typeface="Arial" pitchFamily="34" charset="0"/>
                <a:ea typeface="Arial" pitchFamily="34" charset="-122"/>
                <a:cs typeface="Arial" pitchFamily="34" charset="-120"/>
              </a:rPr>
              <a:t>Subset outputs</a:t>
            </a:r>
            <a:endParaRPr lang="en-US" sz="880" dirty="0"/>
          </a:p>
        </p:txBody>
      </p:sp>
      <p:sp>
        <p:nvSpPr>
          <p:cNvPr id="35" name="Shape 33"/>
          <p:cNvSpPr/>
          <p:nvPr/>
        </p:nvSpPr>
        <p:spPr>
          <a:xfrm>
            <a:off x="10314432" y="3602736"/>
            <a:ext cx="1115568" cy="585216"/>
          </a:xfrm>
          <a:prstGeom prst="roundRect">
            <a:avLst>
              <a:gd name="adj" fmla="val 12500"/>
            </a:avLst>
          </a:prstGeom>
          <a:solidFill>
            <a:srgbClr val="F6F6F6"/>
          </a:solidFill>
          <a:ln w="12700">
            <a:solidFill>
              <a:srgbClr val="C9C9C9"/>
            </a:solidFill>
            <a:prstDash val="solid"/>
          </a:ln>
        </p:spPr>
        <p:txBody>
          <a:bodyPr/>
          <a:lstStyle/>
          <a:p>
            <a:endParaRPr lang="en-US"/>
          </a:p>
        </p:txBody>
      </p:sp>
      <p:sp>
        <p:nvSpPr>
          <p:cNvPr id="36" name="Text 34"/>
          <p:cNvSpPr/>
          <p:nvPr/>
        </p:nvSpPr>
        <p:spPr>
          <a:xfrm>
            <a:off x="10460736" y="3709970"/>
            <a:ext cx="822960" cy="237744"/>
          </a:xfrm>
          <a:prstGeom prst="rect">
            <a:avLst/>
          </a:prstGeom>
          <a:noFill/>
          <a:ln/>
        </p:spPr>
        <p:txBody>
          <a:bodyPr wrap="square" lIns="0" tIns="0" rIns="0" bIns="0" rtlCol="0" anchor="t">
            <a:normAutofit/>
          </a:bodyPr>
          <a:lstStyle/>
          <a:p>
            <a:pPr marL="0" indent="0" algn="l">
              <a:buNone/>
            </a:pPr>
            <a:r>
              <a:rPr lang="en-US" sz="1150" b="1" dirty="0">
                <a:solidFill>
                  <a:srgbClr val="222222"/>
                </a:solidFill>
                <a:latin typeface="Arial" pitchFamily="34" charset="0"/>
                <a:ea typeface="Arial" pitchFamily="34" charset="-122"/>
                <a:cs typeface="Arial" pitchFamily="34" charset="-120"/>
              </a:rPr>
              <a:t>Parquet DB</a:t>
            </a:r>
            <a:endParaRPr lang="en-US" sz="1150" dirty="0"/>
          </a:p>
        </p:txBody>
      </p:sp>
      <p:sp>
        <p:nvSpPr>
          <p:cNvPr id="37" name="Text 35"/>
          <p:cNvSpPr/>
          <p:nvPr/>
        </p:nvSpPr>
        <p:spPr>
          <a:xfrm>
            <a:off x="10460736" y="3966002"/>
            <a:ext cx="822960" cy="91440"/>
          </a:xfrm>
          <a:prstGeom prst="rect">
            <a:avLst/>
          </a:prstGeom>
          <a:noFill/>
          <a:ln/>
        </p:spPr>
        <p:txBody>
          <a:bodyPr wrap="square" lIns="0" tIns="0" rIns="0" bIns="0" rtlCol="0" anchor="t">
            <a:normAutofit fontScale="70000" lnSpcReduction="20000"/>
          </a:bodyPr>
          <a:lstStyle/>
          <a:p>
            <a:pPr marL="0" indent="0" algn="l">
              <a:buNone/>
            </a:pPr>
            <a:r>
              <a:rPr lang="en-US" sz="880" dirty="0">
                <a:solidFill>
                  <a:srgbClr val="444444"/>
                </a:solidFill>
                <a:latin typeface="Arial" pitchFamily="34" charset="0"/>
                <a:ea typeface="Arial" pitchFamily="34" charset="-122"/>
                <a:cs typeface="Arial" pitchFamily="34" charset="-120"/>
              </a:rPr>
              <a:t>Core metadata index</a:t>
            </a:r>
            <a:endParaRPr lang="en-US" sz="880" dirty="0"/>
          </a:p>
        </p:txBody>
      </p:sp>
      <p:sp>
        <p:nvSpPr>
          <p:cNvPr id="38" name="Shape 36"/>
          <p:cNvSpPr/>
          <p:nvPr/>
        </p:nvSpPr>
        <p:spPr>
          <a:xfrm>
            <a:off x="10314432" y="4443984"/>
            <a:ext cx="1115568" cy="585216"/>
          </a:xfrm>
          <a:prstGeom prst="roundRect">
            <a:avLst>
              <a:gd name="adj" fmla="val 12500"/>
            </a:avLst>
          </a:prstGeom>
          <a:solidFill>
            <a:srgbClr val="F6F6F6"/>
          </a:solidFill>
          <a:ln w="12700">
            <a:solidFill>
              <a:srgbClr val="C9C9C9"/>
            </a:solidFill>
            <a:prstDash val="solid"/>
          </a:ln>
        </p:spPr>
        <p:txBody>
          <a:bodyPr/>
          <a:lstStyle/>
          <a:p>
            <a:endParaRPr lang="en-US"/>
          </a:p>
        </p:txBody>
      </p:sp>
      <p:sp>
        <p:nvSpPr>
          <p:cNvPr id="39" name="Text 37"/>
          <p:cNvSpPr/>
          <p:nvPr/>
        </p:nvSpPr>
        <p:spPr>
          <a:xfrm>
            <a:off x="10460736" y="4551218"/>
            <a:ext cx="822960" cy="237744"/>
          </a:xfrm>
          <a:prstGeom prst="rect">
            <a:avLst/>
          </a:prstGeom>
          <a:noFill/>
          <a:ln/>
        </p:spPr>
        <p:txBody>
          <a:bodyPr wrap="square" lIns="0" tIns="0" rIns="0" bIns="0" rtlCol="0" anchor="t">
            <a:normAutofit/>
          </a:bodyPr>
          <a:lstStyle/>
          <a:p>
            <a:pPr marL="0" indent="0" algn="l">
              <a:buNone/>
            </a:pPr>
            <a:r>
              <a:rPr lang="en-US" sz="1150" b="1" dirty="0">
                <a:solidFill>
                  <a:srgbClr val="222222"/>
                </a:solidFill>
                <a:latin typeface="Arial" pitchFamily="34" charset="0"/>
                <a:ea typeface="Arial" pitchFamily="34" charset="-122"/>
                <a:cs typeface="Arial" pitchFamily="34" charset="-120"/>
              </a:rPr>
              <a:t>Logs</a:t>
            </a:r>
            <a:endParaRPr lang="en-US" sz="1150" dirty="0"/>
          </a:p>
        </p:txBody>
      </p:sp>
      <p:sp>
        <p:nvSpPr>
          <p:cNvPr id="40" name="Text 38"/>
          <p:cNvSpPr/>
          <p:nvPr/>
        </p:nvSpPr>
        <p:spPr>
          <a:xfrm>
            <a:off x="10460736" y="4807250"/>
            <a:ext cx="822960" cy="91440"/>
          </a:xfrm>
          <a:prstGeom prst="rect">
            <a:avLst/>
          </a:prstGeom>
          <a:noFill/>
          <a:ln/>
        </p:spPr>
        <p:txBody>
          <a:bodyPr wrap="square" lIns="0" tIns="0" rIns="0" bIns="0" rtlCol="0" anchor="t">
            <a:normAutofit fontScale="55000" lnSpcReduction="20000"/>
          </a:bodyPr>
          <a:lstStyle/>
          <a:p>
            <a:pPr marL="0" indent="0" algn="l">
              <a:buNone/>
            </a:pPr>
            <a:r>
              <a:rPr lang="en-US" sz="880" dirty="0">
                <a:solidFill>
                  <a:srgbClr val="444444"/>
                </a:solidFill>
                <a:latin typeface="Arial" pitchFamily="34" charset="0"/>
                <a:ea typeface="Arial" pitchFamily="34" charset="-122"/>
                <a:cs typeface="Arial" pitchFamily="34" charset="-120"/>
              </a:rPr>
              <a:t>stdout/stderr or PBS logs</a:t>
            </a:r>
            <a:endParaRPr lang="en-US" sz="880" dirty="0"/>
          </a:p>
        </p:txBody>
      </p:sp>
      <p:sp>
        <p:nvSpPr>
          <p:cNvPr id="41" name="Shape 39"/>
          <p:cNvSpPr/>
          <p:nvPr/>
        </p:nvSpPr>
        <p:spPr>
          <a:xfrm>
            <a:off x="749808" y="5285232"/>
            <a:ext cx="10680192" cy="0"/>
          </a:xfrm>
          <a:prstGeom prst="line">
            <a:avLst/>
          </a:prstGeom>
          <a:noFill/>
          <a:ln w="12700">
            <a:solidFill>
              <a:srgbClr val="D6D6D6"/>
            </a:solidFill>
            <a:prstDash val="solid"/>
          </a:ln>
        </p:spPr>
        <p:txBody>
          <a:bodyPr/>
          <a:lstStyle/>
          <a:p>
            <a:endParaRPr lang="en-US"/>
          </a:p>
        </p:txBody>
      </p:sp>
      <p:sp>
        <p:nvSpPr>
          <p:cNvPr id="42" name="Text 40"/>
          <p:cNvSpPr/>
          <p:nvPr/>
        </p:nvSpPr>
        <p:spPr>
          <a:xfrm>
            <a:off x="749808" y="5468112"/>
            <a:ext cx="2926080" cy="219456"/>
          </a:xfrm>
          <a:prstGeom prst="rect">
            <a:avLst/>
          </a:prstGeom>
          <a:noFill/>
          <a:ln/>
        </p:spPr>
        <p:txBody>
          <a:bodyPr wrap="square" lIns="0" tIns="0" rIns="0" bIns="0" rtlCol="0" anchor="ctr">
            <a:normAutofit/>
          </a:bodyPr>
          <a:lstStyle/>
          <a:p>
            <a:pPr marL="0" indent="0">
              <a:buNone/>
            </a:pPr>
            <a:r>
              <a:rPr lang="en-US" sz="1080" b="1" dirty="0">
                <a:solidFill>
                  <a:srgbClr val="6E6E6E"/>
                </a:solidFill>
                <a:latin typeface="Arial" pitchFamily="34" charset="0"/>
                <a:ea typeface="Arial" pitchFamily="34" charset="-122"/>
                <a:cs typeface="Arial" pitchFamily="34" charset="-120"/>
              </a:rPr>
              <a:t>RUNTIME BINDING MODEL</a:t>
            </a:r>
            <a:endParaRPr lang="en-US" sz="1080" dirty="0"/>
          </a:p>
        </p:txBody>
      </p:sp>
      <p:sp>
        <p:nvSpPr>
          <p:cNvPr id="43" name="Shape 41"/>
          <p:cNvSpPr/>
          <p:nvPr/>
        </p:nvSpPr>
        <p:spPr>
          <a:xfrm>
            <a:off x="749808" y="5687568"/>
            <a:ext cx="10680192" cy="804672"/>
          </a:xfrm>
          <a:prstGeom prst="roundRect">
            <a:avLst>
              <a:gd name="adj" fmla="val 9091"/>
            </a:avLst>
          </a:prstGeom>
          <a:solidFill>
            <a:srgbClr val="F6F6F6"/>
          </a:solidFill>
          <a:ln w="12700">
            <a:solidFill>
              <a:srgbClr val="C9C9C9"/>
            </a:solidFill>
            <a:prstDash val="solid"/>
          </a:ln>
        </p:spPr>
        <p:txBody>
          <a:bodyPr/>
          <a:lstStyle/>
          <a:p>
            <a:endParaRPr lang="en-US"/>
          </a:p>
        </p:txBody>
      </p:sp>
      <p:sp>
        <p:nvSpPr>
          <p:cNvPr id="44" name="Text 42"/>
          <p:cNvSpPr/>
          <p:nvPr/>
        </p:nvSpPr>
        <p:spPr>
          <a:xfrm>
            <a:off x="932688" y="5888736"/>
            <a:ext cx="10241280" cy="329184"/>
          </a:xfrm>
          <a:prstGeom prst="rect">
            <a:avLst/>
          </a:prstGeom>
          <a:noFill/>
          <a:ln/>
        </p:spPr>
        <p:txBody>
          <a:bodyPr wrap="square" lIns="0" tIns="0" rIns="0" bIns="0" rtlCol="0" anchor="t">
            <a:normAutofit/>
          </a:bodyPr>
          <a:lstStyle/>
          <a:p>
            <a:pPr marL="0" indent="0" algn="l">
              <a:lnSpc>
                <a:spcPct val="100000"/>
              </a:lnSpc>
              <a:spcBef>
                <a:spcPts val="0"/>
              </a:spcBef>
              <a:spcAft>
                <a:spcPts val="0"/>
              </a:spcAft>
              <a:buNone/>
            </a:pPr>
            <a:r>
              <a:rPr sz="1019">
                <a:solidFill>
                  <a:srgbClr val="444444"/>
                </a:solidFill>
                <a:latin typeface="Arial"/>
              </a:rPr>
              <a:t>main.sh binds scripts, data, output, cuts, DB, grid, and .snap into /work, then runs python /work/scripts/worldsar.py with /work/data/&lt;PRODUCT_NAME&gt;, the output roots, and the resolved GPT/grid/runtime arguments.</a:t>
            </a:r>
            <a:endParaRPr lang="en-US" sz="1110" dirty="0"/>
          </a:p>
        </p:txBody>
      </p:sp>
      <p:sp>
        <p:nvSpPr>
          <p:cNvPr id="46" name="Shape 4">
            <a:extLst>
              <a:ext uri="{FF2B5EF4-FFF2-40B4-BE49-F238E27FC236}">
                <a16:creationId xmlns:a16="http://schemas.microsoft.com/office/drawing/2014/main" id="{E8343AA1-1715-7695-2542-FA08A59C31E4}"/>
              </a:ext>
            </a:extLst>
          </p:cNvPr>
          <p:cNvSpPr/>
          <p:nvPr/>
        </p:nvSpPr>
        <p:spPr>
          <a:xfrm>
            <a:off x="6081225" y="4106979"/>
            <a:ext cx="0" cy="179971"/>
          </a:xfrm>
          <a:prstGeom prst="line">
            <a:avLst/>
          </a:prstGeom>
          <a:noFill/>
          <a:ln w="19050">
            <a:solidFill>
              <a:srgbClr val="C9C9C9"/>
            </a:solidFill>
            <a:prstDash val="solid"/>
            <a:tailEnd type="triangle"/>
          </a:ln>
        </p:spPr>
        <p:txBody>
          <a:bodyPr/>
          <a:lstStyle/>
          <a:p>
            <a:endParaRPr lang="en-US"/>
          </a:p>
        </p:txBody>
      </p:sp>
      <p:sp>
        <p:nvSpPr>
          <p:cNvPr id="47" name="TextBox 46">
            <a:extLst>
              <a:ext uri="{FF2B5EF4-FFF2-40B4-BE49-F238E27FC236}">
                <a16:creationId xmlns:a16="http://schemas.microsoft.com/office/drawing/2014/main" id="{D316BB4D-D03B-E301-51A8-2F774344A94C}"/>
              </a:ext>
            </a:extLst>
          </p:cNvPr>
          <p:cNvSpPr txBox="1"/>
          <p:nvPr/>
        </p:nvSpPr>
        <p:spPr>
          <a:xfrm>
            <a:off x="6613062" y="4941185"/>
            <a:ext cx="1069524" cy="369332"/>
          </a:xfrm>
          <a:prstGeom prst="rect">
            <a:avLst/>
          </a:prstGeom>
          <a:noFill/>
        </p:spPr>
        <p:txBody>
          <a:bodyPr wrap="none" rtlCol="0">
            <a:spAutoFit/>
          </a:bodyPr>
          <a:lstStyle/>
          <a:p>
            <a:r>
              <a:rPr lang="en-US" dirty="0">
                <a:solidFill>
                  <a:schemeClr val="bg1"/>
                </a:solidFill>
              </a:rPr>
              <a:t>SNAP13</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356616"/>
            <a:ext cx="11109960" cy="0"/>
          </a:xfrm>
          <a:prstGeom prst="line">
            <a:avLst/>
          </a:prstGeom>
          <a:noFill/>
          <a:ln w="19050">
            <a:solidFill>
              <a:srgbClr val="4A4A4A"/>
            </a:solidFill>
            <a:prstDash val="solid"/>
          </a:ln>
        </p:spPr>
        <p:txBody>
          <a:bodyPr/>
          <a:lstStyle/>
          <a:p>
            <a:endParaRPr lang="en-US"/>
          </a:p>
        </p:txBody>
      </p:sp>
      <p:sp>
        <p:nvSpPr>
          <p:cNvPr id="3" name="Text 1"/>
          <p:cNvSpPr/>
          <p:nvPr/>
        </p:nvSpPr>
        <p:spPr>
          <a:xfrm>
            <a:off x="694944" y="512064"/>
            <a:ext cx="10899648" cy="457200"/>
          </a:xfrm>
          <a:prstGeom prst="rect">
            <a:avLst/>
          </a:prstGeom>
          <a:noFill/>
          <a:ln/>
        </p:spPr>
        <p:txBody>
          <a:bodyPr wrap="square" lIns="0" tIns="0" rIns="0" bIns="0" rtlCol="0" anchor="ctr">
            <a:normAutofit/>
          </a:bodyPr>
          <a:lstStyle/>
          <a:p>
            <a:pPr marL="0" indent="0">
              <a:buNone/>
            </a:pPr>
            <a:r>
              <a:rPr lang="en-US" sz="2700" b="1" dirty="0">
                <a:solidFill>
                  <a:srgbClr val="222222"/>
                </a:solidFill>
                <a:latin typeface="Arial" pitchFamily="34" charset="0"/>
                <a:ea typeface="Arial" pitchFamily="34" charset="-122"/>
                <a:cs typeface="Arial" pitchFamily="34" charset="-120"/>
              </a:rPr>
              <a:t>Sentinel-1 acquisition modes drive the router decision</a:t>
            </a:r>
            <a:endParaRPr lang="en-US" sz="2700" dirty="0"/>
          </a:p>
        </p:txBody>
      </p:sp>
      <p:sp>
        <p:nvSpPr>
          <p:cNvPr id="4" name="Text 2"/>
          <p:cNvSpPr/>
          <p:nvPr/>
        </p:nvSpPr>
        <p:spPr>
          <a:xfrm>
            <a:off x="694944" y="1049898"/>
            <a:ext cx="10424160" cy="256032"/>
          </a:xfrm>
          <a:prstGeom prst="rect">
            <a:avLst/>
          </a:prstGeom>
          <a:noFill/>
          <a:ln/>
        </p:spPr>
        <p:txBody>
          <a:bodyPr wrap="square" lIns="0" tIns="0" rIns="0" bIns="0" rtlCol="0" anchor="ctr">
            <a:normAutofit/>
          </a:bodyPr>
          <a:lstStyle/>
          <a:p>
            <a:pPr marL="0" indent="0">
              <a:buNone/>
            </a:pPr>
            <a:r>
              <a:rPr lang="en-US" sz="1150" dirty="0">
                <a:solidFill>
                  <a:srgbClr val="6E6E6E"/>
                </a:solidFill>
                <a:latin typeface="Arial" pitchFamily="34" charset="0"/>
                <a:ea typeface="Arial" pitchFamily="34" charset="-122"/>
                <a:cs typeface="Arial" pitchFamily="34" charset="-120"/>
              </a:rPr>
              <a:t>Use the acquisition table as an operational guardrail before selecting the WORLDSAR path</a:t>
            </a:r>
            <a:endParaRPr lang="en-US" sz="1150" dirty="0"/>
          </a:p>
        </p:txBody>
      </p:sp>
      <p:sp>
        <p:nvSpPr>
          <p:cNvPr id="5" name="Text 3"/>
          <p:cNvSpPr/>
          <p:nvPr/>
        </p:nvSpPr>
        <p:spPr>
          <a:xfrm>
            <a:off x="611137" y="1426464"/>
            <a:ext cx="2743200" cy="219456"/>
          </a:xfrm>
          <a:prstGeom prst="rect">
            <a:avLst/>
          </a:prstGeom>
          <a:noFill/>
          <a:ln/>
        </p:spPr>
        <p:txBody>
          <a:bodyPr wrap="square" lIns="0" tIns="0" rIns="0" bIns="0" rtlCol="0" anchor="ctr">
            <a:normAutofit/>
          </a:bodyPr>
          <a:lstStyle/>
          <a:p>
            <a:pPr marL="0" indent="0">
              <a:buNone/>
            </a:pPr>
            <a:r>
              <a:rPr lang="en-US" sz="1080" b="1" dirty="0">
                <a:solidFill>
                  <a:srgbClr val="6E6E6E"/>
                </a:solidFill>
                <a:latin typeface="Arial" pitchFamily="34" charset="0"/>
                <a:ea typeface="Arial" pitchFamily="34" charset="-122"/>
                <a:cs typeface="Arial" pitchFamily="34" charset="-120"/>
              </a:rPr>
              <a:t>SENTINEL-1 REFERENCE</a:t>
            </a:r>
            <a:endParaRPr lang="en-US" sz="1080" dirty="0"/>
          </a:p>
        </p:txBody>
      </p:sp>
      <p:grpSp>
        <p:nvGrpSpPr>
          <p:cNvPr id="73" name="Group 72">
            <a:extLst>
              <a:ext uri="{FF2B5EF4-FFF2-40B4-BE49-F238E27FC236}">
                <a16:creationId xmlns:a16="http://schemas.microsoft.com/office/drawing/2014/main" id="{279CE73E-3244-ED56-47EF-E86016AF9A3C}"/>
              </a:ext>
            </a:extLst>
          </p:cNvPr>
          <p:cNvGrpSpPr/>
          <p:nvPr/>
        </p:nvGrpSpPr>
        <p:grpSpPr>
          <a:xfrm>
            <a:off x="611137" y="1940136"/>
            <a:ext cx="6611090" cy="2491434"/>
            <a:chOff x="438913" y="1807843"/>
            <a:chExt cx="6858000" cy="2706624"/>
          </a:xfrm>
        </p:grpSpPr>
        <p:sp>
          <p:nvSpPr>
            <p:cNvPr id="6" name="Shape 4"/>
            <p:cNvSpPr/>
            <p:nvPr/>
          </p:nvSpPr>
          <p:spPr>
            <a:xfrm>
              <a:off x="438913" y="1807843"/>
              <a:ext cx="749808" cy="384048"/>
            </a:xfrm>
            <a:prstGeom prst="rect">
              <a:avLst/>
            </a:prstGeom>
            <a:solidFill>
              <a:srgbClr val="EFEFEF"/>
            </a:solidFill>
            <a:ln w="10160">
              <a:solidFill>
                <a:srgbClr val="C9C9C9"/>
              </a:solidFill>
              <a:prstDash val="solid"/>
            </a:ln>
          </p:spPr>
          <p:txBody>
            <a:bodyPr/>
            <a:lstStyle/>
            <a:p>
              <a:endParaRPr lang="en-US"/>
            </a:p>
          </p:txBody>
        </p:sp>
        <p:sp>
          <p:nvSpPr>
            <p:cNvPr id="7" name="Text 5"/>
            <p:cNvSpPr/>
            <p:nvPr/>
          </p:nvSpPr>
          <p:spPr>
            <a:xfrm>
              <a:off x="493777" y="1853563"/>
              <a:ext cx="640080" cy="292608"/>
            </a:xfrm>
            <a:prstGeom prst="rect">
              <a:avLst/>
            </a:prstGeom>
            <a:noFill/>
            <a:ln/>
          </p:spPr>
          <p:txBody>
            <a:bodyPr wrap="square" lIns="0" tIns="0" rIns="0" bIns="0" rtlCol="0" anchor="ctr">
              <a:normAutofit/>
            </a:bodyPr>
            <a:lstStyle/>
            <a:p>
              <a:pPr marL="0" indent="0">
                <a:buNone/>
              </a:pPr>
              <a:r>
                <a:rPr lang="en-US" sz="1030" b="1" dirty="0">
                  <a:solidFill>
                    <a:srgbClr val="222222"/>
                  </a:solidFill>
                  <a:latin typeface="Arial" pitchFamily="34" charset="0"/>
                  <a:ea typeface="Arial" pitchFamily="34" charset="-122"/>
                  <a:cs typeface="Arial" pitchFamily="34" charset="-120"/>
                </a:rPr>
                <a:t>Mode</a:t>
              </a:r>
              <a:endParaRPr lang="en-US" sz="1030" dirty="0"/>
            </a:p>
          </p:txBody>
        </p:sp>
        <p:sp>
          <p:nvSpPr>
            <p:cNvPr id="8" name="Shape 6"/>
            <p:cNvSpPr/>
            <p:nvPr/>
          </p:nvSpPr>
          <p:spPr>
            <a:xfrm>
              <a:off x="1188721" y="1807843"/>
              <a:ext cx="1664208" cy="384048"/>
            </a:xfrm>
            <a:prstGeom prst="rect">
              <a:avLst/>
            </a:prstGeom>
            <a:solidFill>
              <a:srgbClr val="EFEFEF"/>
            </a:solidFill>
            <a:ln w="10160">
              <a:solidFill>
                <a:srgbClr val="C9C9C9"/>
              </a:solidFill>
              <a:prstDash val="solid"/>
            </a:ln>
          </p:spPr>
          <p:txBody>
            <a:bodyPr/>
            <a:lstStyle/>
            <a:p>
              <a:endParaRPr lang="en-US"/>
            </a:p>
          </p:txBody>
        </p:sp>
        <p:sp>
          <p:nvSpPr>
            <p:cNvPr id="9" name="Text 7"/>
            <p:cNvSpPr/>
            <p:nvPr/>
          </p:nvSpPr>
          <p:spPr>
            <a:xfrm>
              <a:off x="1243585" y="1853563"/>
              <a:ext cx="1554480" cy="292608"/>
            </a:xfrm>
            <a:prstGeom prst="rect">
              <a:avLst/>
            </a:prstGeom>
            <a:noFill/>
            <a:ln/>
          </p:spPr>
          <p:txBody>
            <a:bodyPr wrap="square" lIns="0" tIns="0" rIns="0" bIns="0" rtlCol="0" anchor="ctr">
              <a:normAutofit/>
            </a:bodyPr>
            <a:lstStyle/>
            <a:p>
              <a:pPr marL="0" indent="0">
                <a:buNone/>
              </a:pPr>
              <a:r>
                <a:rPr lang="en-US" sz="1030" b="1" dirty="0">
                  <a:solidFill>
                    <a:srgbClr val="222222"/>
                  </a:solidFill>
                  <a:latin typeface="Arial" pitchFamily="34" charset="0"/>
                  <a:ea typeface="Arial" pitchFamily="34" charset="-122"/>
                  <a:cs typeface="Arial" pitchFamily="34" charset="-120"/>
                </a:rPr>
                <a:t>Swath / vignette</a:t>
              </a:r>
              <a:endParaRPr lang="en-US" sz="1030" dirty="0"/>
            </a:p>
          </p:txBody>
        </p:sp>
        <p:sp>
          <p:nvSpPr>
            <p:cNvPr id="10" name="Shape 8"/>
            <p:cNvSpPr/>
            <p:nvPr/>
          </p:nvSpPr>
          <p:spPr>
            <a:xfrm>
              <a:off x="2852929" y="1807843"/>
              <a:ext cx="1664208" cy="384048"/>
            </a:xfrm>
            <a:prstGeom prst="rect">
              <a:avLst/>
            </a:prstGeom>
            <a:solidFill>
              <a:srgbClr val="EFEFEF"/>
            </a:solidFill>
            <a:ln w="10160">
              <a:solidFill>
                <a:srgbClr val="C9C9C9"/>
              </a:solidFill>
              <a:prstDash val="solid"/>
            </a:ln>
          </p:spPr>
          <p:txBody>
            <a:bodyPr/>
            <a:lstStyle/>
            <a:p>
              <a:endParaRPr lang="en-US"/>
            </a:p>
          </p:txBody>
        </p:sp>
        <p:sp>
          <p:nvSpPr>
            <p:cNvPr id="11" name="Text 9"/>
            <p:cNvSpPr/>
            <p:nvPr/>
          </p:nvSpPr>
          <p:spPr>
            <a:xfrm>
              <a:off x="2907793" y="1853563"/>
              <a:ext cx="1554480" cy="292608"/>
            </a:xfrm>
            <a:prstGeom prst="rect">
              <a:avLst/>
            </a:prstGeom>
            <a:noFill/>
            <a:ln/>
          </p:spPr>
          <p:txBody>
            <a:bodyPr wrap="square" lIns="0" tIns="0" rIns="0" bIns="0" rtlCol="0" anchor="ctr">
              <a:normAutofit fontScale="92500" lnSpcReduction="20000"/>
            </a:bodyPr>
            <a:lstStyle/>
            <a:p>
              <a:pPr marL="0" indent="0">
                <a:buNone/>
              </a:pPr>
              <a:r>
                <a:rPr lang="en-US" sz="1030" b="1" dirty="0">
                  <a:solidFill>
                    <a:srgbClr val="222222"/>
                  </a:solidFill>
                  <a:latin typeface="Arial" pitchFamily="34" charset="0"/>
                  <a:ea typeface="Arial" pitchFamily="34" charset="-122"/>
                  <a:cs typeface="Arial" pitchFamily="34" charset="-120"/>
                </a:rPr>
                <a:t>Nominal single-look resolution</a:t>
              </a:r>
              <a:endParaRPr lang="en-US" sz="1030" dirty="0"/>
            </a:p>
          </p:txBody>
        </p:sp>
        <p:sp>
          <p:nvSpPr>
            <p:cNvPr id="12" name="Shape 10"/>
            <p:cNvSpPr/>
            <p:nvPr/>
          </p:nvSpPr>
          <p:spPr>
            <a:xfrm>
              <a:off x="4517137" y="1807843"/>
              <a:ext cx="1024128" cy="384048"/>
            </a:xfrm>
            <a:prstGeom prst="rect">
              <a:avLst/>
            </a:prstGeom>
            <a:solidFill>
              <a:srgbClr val="EFEFEF"/>
            </a:solidFill>
            <a:ln w="10160">
              <a:solidFill>
                <a:srgbClr val="C9C9C9"/>
              </a:solidFill>
              <a:prstDash val="solid"/>
            </a:ln>
          </p:spPr>
          <p:txBody>
            <a:bodyPr/>
            <a:lstStyle/>
            <a:p>
              <a:endParaRPr lang="en-US"/>
            </a:p>
          </p:txBody>
        </p:sp>
        <p:sp>
          <p:nvSpPr>
            <p:cNvPr id="13" name="Text 11"/>
            <p:cNvSpPr/>
            <p:nvPr/>
          </p:nvSpPr>
          <p:spPr>
            <a:xfrm>
              <a:off x="4572001" y="1853563"/>
              <a:ext cx="914400" cy="292608"/>
            </a:xfrm>
            <a:prstGeom prst="rect">
              <a:avLst/>
            </a:prstGeom>
            <a:noFill/>
            <a:ln/>
          </p:spPr>
          <p:txBody>
            <a:bodyPr wrap="square" lIns="0" tIns="0" rIns="0" bIns="0" rtlCol="0" anchor="ctr">
              <a:normAutofit/>
            </a:bodyPr>
            <a:lstStyle/>
            <a:p>
              <a:pPr marL="0" indent="0">
                <a:buNone/>
              </a:pPr>
              <a:r>
                <a:rPr lang="en-US" sz="1030" b="1" dirty="0">
                  <a:solidFill>
                    <a:srgbClr val="222222"/>
                  </a:solidFill>
                  <a:latin typeface="Arial" pitchFamily="34" charset="0"/>
                  <a:ea typeface="Arial" pitchFamily="34" charset="-122"/>
                  <a:cs typeface="Arial" pitchFamily="34" charset="-120"/>
                </a:rPr>
                <a:t>Polarization</a:t>
              </a:r>
              <a:endParaRPr lang="en-US" sz="1030" dirty="0"/>
            </a:p>
          </p:txBody>
        </p:sp>
        <p:sp>
          <p:nvSpPr>
            <p:cNvPr id="14" name="Shape 12"/>
            <p:cNvSpPr/>
            <p:nvPr/>
          </p:nvSpPr>
          <p:spPr>
            <a:xfrm>
              <a:off x="5541265" y="1807843"/>
              <a:ext cx="1755648" cy="384048"/>
            </a:xfrm>
            <a:prstGeom prst="rect">
              <a:avLst/>
            </a:prstGeom>
            <a:solidFill>
              <a:srgbClr val="EFEFEF"/>
            </a:solidFill>
            <a:ln w="10160">
              <a:solidFill>
                <a:srgbClr val="C9C9C9"/>
              </a:solidFill>
              <a:prstDash val="solid"/>
            </a:ln>
          </p:spPr>
          <p:txBody>
            <a:bodyPr/>
            <a:lstStyle/>
            <a:p>
              <a:endParaRPr lang="en-US"/>
            </a:p>
          </p:txBody>
        </p:sp>
        <p:sp>
          <p:nvSpPr>
            <p:cNvPr id="15" name="Text 13"/>
            <p:cNvSpPr/>
            <p:nvPr/>
          </p:nvSpPr>
          <p:spPr>
            <a:xfrm>
              <a:off x="5596129" y="1853563"/>
              <a:ext cx="1645920" cy="292608"/>
            </a:xfrm>
            <a:prstGeom prst="rect">
              <a:avLst/>
            </a:prstGeom>
            <a:noFill/>
            <a:ln/>
          </p:spPr>
          <p:txBody>
            <a:bodyPr wrap="square" lIns="0" tIns="0" rIns="0" bIns="0" rtlCol="0" anchor="ctr">
              <a:normAutofit/>
            </a:bodyPr>
            <a:lstStyle/>
            <a:p>
              <a:pPr marL="0" indent="0">
                <a:buNone/>
              </a:pPr>
              <a:r>
                <a:rPr lang="en-US" sz="1030" b="1" dirty="0">
                  <a:solidFill>
                    <a:srgbClr val="222222"/>
                  </a:solidFill>
                  <a:latin typeface="Arial" pitchFamily="34" charset="0"/>
                  <a:ea typeface="Arial" pitchFamily="34" charset="-122"/>
                  <a:cs typeface="Arial" pitchFamily="34" charset="-120"/>
                </a:rPr>
                <a:t>Operational reading</a:t>
              </a:r>
              <a:endParaRPr lang="en-US" sz="1030" dirty="0"/>
            </a:p>
          </p:txBody>
        </p:sp>
        <p:sp>
          <p:nvSpPr>
            <p:cNvPr id="16" name="Shape 14"/>
            <p:cNvSpPr/>
            <p:nvPr/>
          </p:nvSpPr>
          <p:spPr>
            <a:xfrm>
              <a:off x="438913" y="2191891"/>
              <a:ext cx="749808" cy="512064"/>
            </a:xfrm>
            <a:prstGeom prst="rect">
              <a:avLst/>
            </a:prstGeom>
            <a:solidFill>
              <a:srgbClr val="F6F6F6"/>
            </a:solidFill>
            <a:ln w="10160">
              <a:solidFill>
                <a:srgbClr val="C9C9C9"/>
              </a:solidFill>
              <a:prstDash val="solid"/>
            </a:ln>
          </p:spPr>
          <p:txBody>
            <a:bodyPr/>
            <a:lstStyle/>
            <a:p>
              <a:endParaRPr lang="en-US"/>
            </a:p>
          </p:txBody>
        </p:sp>
        <p:sp>
          <p:nvSpPr>
            <p:cNvPr id="17" name="Text 15"/>
            <p:cNvSpPr/>
            <p:nvPr/>
          </p:nvSpPr>
          <p:spPr>
            <a:xfrm>
              <a:off x="493777" y="2237611"/>
              <a:ext cx="640080" cy="420624"/>
            </a:xfrm>
            <a:prstGeom prst="rect">
              <a:avLst/>
            </a:prstGeom>
            <a:noFill/>
            <a:ln/>
          </p:spPr>
          <p:txBody>
            <a:bodyPr wrap="square" lIns="0" tIns="0" rIns="0" bIns="0" rtlCol="0" anchor="ctr">
              <a:normAutofit/>
            </a:bodyPr>
            <a:lstStyle/>
            <a:p>
              <a:pPr marL="0" indent="0">
                <a:buNone/>
              </a:pPr>
              <a:r>
                <a:rPr lang="en-US" sz="1030" dirty="0">
                  <a:solidFill>
                    <a:srgbClr val="444444"/>
                  </a:solidFill>
                  <a:latin typeface="Arial" pitchFamily="34" charset="0"/>
                  <a:ea typeface="Arial" pitchFamily="34" charset="-122"/>
                  <a:cs typeface="Arial" pitchFamily="34" charset="-120"/>
                </a:rPr>
                <a:t>SM</a:t>
              </a:r>
              <a:endParaRPr lang="en-US" sz="1030" dirty="0"/>
            </a:p>
          </p:txBody>
        </p:sp>
        <p:sp>
          <p:nvSpPr>
            <p:cNvPr id="18" name="Shape 16"/>
            <p:cNvSpPr/>
            <p:nvPr/>
          </p:nvSpPr>
          <p:spPr>
            <a:xfrm>
              <a:off x="1188721" y="2191891"/>
              <a:ext cx="1664208" cy="512064"/>
            </a:xfrm>
            <a:prstGeom prst="rect">
              <a:avLst/>
            </a:prstGeom>
            <a:solidFill>
              <a:srgbClr val="F6F6F6"/>
            </a:solidFill>
            <a:ln w="10160">
              <a:solidFill>
                <a:srgbClr val="C9C9C9"/>
              </a:solidFill>
              <a:prstDash val="solid"/>
            </a:ln>
          </p:spPr>
          <p:txBody>
            <a:bodyPr/>
            <a:lstStyle/>
            <a:p>
              <a:endParaRPr lang="en-US"/>
            </a:p>
          </p:txBody>
        </p:sp>
        <p:sp>
          <p:nvSpPr>
            <p:cNvPr id="19" name="Text 17"/>
            <p:cNvSpPr/>
            <p:nvPr/>
          </p:nvSpPr>
          <p:spPr>
            <a:xfrm>
              <a:off x="1243585" y="2237611"/>
              <a:ext cx="1554480" cy="420624"/>
            </a:xfrm>
            <a:prstGeom prst="rect">
              <a:avLst/>
            </a:prstGeom>
            <a:noFill/>
            <a:ln/>
          </p:spPr>
          <p:txBody>
            <a:bodyPr wrap="square" lIns="0" tIns="0" rIns="0" bIns="0" rtlCol="0" anchor="ctr">
              <a:normAutofit/>
            </a:bodyPr>
            <a:lstStyle/>
            <a:p>
              <a:pPr marL="0" indent="0">
                <a:buNone/>
              </a:pPr>
              <a:r>
                <a:rPr lang="en-US" sz="1030" dirty="0">
                  <a:solidFill>
                    <a:srgbClr val="444444"/>
                  </a:solidFill>
                  <a:latin typeface="Arial" pitchFamily="34" charset="0"/>
                  <a:ea typeface="Arial" pitchFamily="34" charset="-122"/>
                  <a:cs typeface="Arial" pitchFamily="34" charset="-120"/>
                </a:rPr>
                <a:t>80 km swath</a:t>
              </a:r>
              <a:endParaRPr lang="en-US" sz="1030" dirty="0"/>
            </a:p>
          </p:txBody>
        </p:sp>
        <p:sp>
          <p:nvSpPr>
            <p:cNvPr id="20" name="Shape 18"/>
            <p:cNvSpPr/>
            <p:nvPr/>
          </p:nvSpPr>
          <p:spPr>
            <a:xfrm>
              <a:off x="2852929" y="2191891"/>
              <a:ext cx="1664208" cy="512064"/>
            </a:xfrm>
            <a:prstGeom prst="rect">
              <a:avLst/>
            </a:prstGeom>
            <a:solidFill>
              <a:srgbClr val="F6F6F6"/>
            </a:solidFill>
            <a:ln w="10160">
              <a:solidFill>
                <a:srgbClr val="C9C9C9"/>
              </a:solidFill>
              <a:prstDash val="solid"/>
            </a:ln>
          </p:spPr>
          <p:txBody>
            <a:bodyPr/>
            <a:lstStyle/>
            <a:p>
              <a:endParaRPr lang="en-US"/>
            </a:p>
          </p:txBody>
        </p:sp>
        <p:sp>
          <p:nvSpPr>
            <p:cNvPr id="21" name="Text 19"/>
            <p:cNvSpPr/>
            <p:nvPr/>
          </p:nvSpPr>
          <p:spPr>
            <a:xfrm>
              <a:off x="2907793" y="2237611"/>
              <a:ext cx="1554480" cy="420624"/>
            </a:xfrm>
            <a:prstGeom prst="rect">
              <a:avLst/>
            </a:prstGeom>
            <a:noFill/>
            <a:ln/>
          </p:spPr>
          <p:txBody>
            <a:bodyPr wrap="square" lIns="0" tIns="0" rIns="0" bIns="0" rtlCol="0" anchor="ctr">
              <a:normAutofit/>
            </a:bodyPr>
            <a:lstStyle/>
            <a:p>
              <a:pPr marL="0" indent="0">
                <a:buNone/>
              </a:pPr>
              <a:r>
                <a:rPr lang="en-US" sz="1030" dirty="0">
                  <a:solidFill>
                    <a:srgbClr val="444444"/>
                  </a:solidFill>
                  <a:latin typeface="Arial" pitchFamily="34" charset="0"/>
                  <a:ea typeface="Arial" pitchFamily="34" charset="-122"/>
                  <a:cs typeface="Arial" pitchFamily="34" charset="-120"/>
                </a:rPr>
                <a:t>slightly better than 5 m × 5 m</a:t>
              </a:r>
              <a:endParaRPr lang="en-US" sz="1030" dirty="0"/>
            </a:p>
          </p:txBody>
        </p:sp>
        <p:sp>
          <p:nvSpPr>
            <p:cNvPr id="22" name="Shape 20"/>
            <p:cNvSpPr/>
            <p:nvPr/>
          </p:nvSpPr>
          <p:spPr>
            <a:xfrm>
              <a:off x="4517137" y="2191891"/>
              <a:ext cx="1024128" cy="512064"/>
            </a:xfrm>
            <a:prstGeom prst="rect">
              <a:avLst/>
            </a:prstGeom>
            <a:solidFill>
              <a:srgbClr val="F6F6F6"/>
            </a:solidFill>
            <a:ln w="10160">
              <a:solidFill>
                <a:srgbClr val="C9C9C9"/>
              </a:solidFill>
              <a:prstDash val="solid"/>
            </a:ln>
          </p:spPr>
          <p:txBody>
            <a:bodyPr/>
            <a:lstStyle/>
            <a:p>
              <a:endParaRPr lang="en-US"/>
            </a:p>
          </p:txBody>
        </p:sp>
        <p:sp>
          <p:nvSpPr>
            <p:cNvPr id="23" name="Text 21"/>
            <p:cNvSpPr/>
            <p:nvPr/>
          </p:nvSpPr>
          <p:spPr>
            <a:xfrm>
              <a:off x="4572001" y="2237611"/>
              <a:ext cx="914400" cy="420624"/>
            </a:xfrm>
            <a:prstGeom prst="rect">
              <a:avLst/>
            </a:prstGeom>
            <a:noFill/>
            <a:ln/>
          </p:spPr>
          <p:txBody>
            <a:bodyPr wrap="square" lIns="0" tIns="0" rIns="0" bIns="0" rtlCol="0" anchor="ctr">
              <a:normAutofit/>
            </a:bodyPr>
            <a:lstStyle/>
            <a:p>
              <a:pPr marL="0" indent="0">
                <a:buNone/>
              </a:pPr>
              <a:r>
                <a:rPr lang="en-US" sz="1030" dirty="0">
                  <a:solidFill>
                    <a:srgbClr val="444444"/>
                  </a:solidFill>
                  <a:latin typeface="Arial" pitchFamily="34" charset="0"/>
                  <a:ea typeface="Arial" pitchFamily="34" charset="-122"/>
                  <a:cs typeface="Arial" pitchFamily="34" charset="-120"/>
                </a:rPr>
                <a:t>single or dual</a:t>
              </a:r>
              <a:endParaRPr lang="en-US" sz="1030" dirty="0"/>
            </a:p>
          </p:txBody>
        </p:sp>
        <p:sp>
          <p:nvSpPr>
            <p:cNvPr id="24" name="Shape 22"/>
            <p:cNvSpPr/>
            <p:nvPr/>
          </p:nvSpPr>
          <p:spPr>
            <a:xfrm>
              <a:off x="5541265" y="2191891"/>
              <a:ext cx="1755648" cy="512064"/>
            </a:xfrm>
            <a:prstGeom prst="rect">
              <a:avLst/>
            </a:prstGeom>
            <a:solidFill>
              <a:srgbClr val="F6F6F6"/>
            </a:solidFill>
            <a:ln w="10160">
              <a:solidFill>
                <a:srgbClr val="C9C9C9"/>
              </a:solidFill>
              <a:prstDash val="solid"/>
            </a:ln>
          </p:spPr>
          <p:txBody>
            <a:bodyPr/>
            <a:lstStyle/>
            <a:p>
              <a:endParaRPr lang="en-US"/>
            </a:p>
          </p:txBody>
        </p:sp>
        <p:sp>
          <p:nvSpPr>
            <p:cNvPr id="25" name="Text 23"/>
            <p:cNvSpPr/>
            <p:nvPr/>
          </p:nvSpPr>
          <p:spPr>
            <a:xfrm>
              <a:off x="5596129" y="2237611"/>
              <a:ext cx="1645920" cy="420624"/>
            </a:xfrm>
            <a:prstGeom prst="rect">
              <a:avLst/>
            </a:prstGeom>
            <a:noFill/>
            <a:ln/>
          </p:spPr>
          <p:txBody>
            <a:bodyPr wrap="square" lIns="0" tIns="0" rIns="0" bIns="0" rtlCol="0" anchor="ctr">
              <a:normAutofit/>
            </a:bodyPr>
            <a:lstStyle/>
            <a:p>
              <a:pPr marL="0" indent="0">
                <a:buNone/>
              </a:pPr>
              <a:r>
                <a:rPr lang="en-US" sz="1030" dirty="0">
                  <a:solidFill>
                    <a:srgbClr val="444444"/>
                  </a:solidFill>
                  <a:latin typeface="Arial" pitchFamily="34" charset="0"/>
                  <a:ea typeface="Arial" pitchFamily="34" charset="-122"/>
                  <a:cs typeface="Arial" pitchFamily="34" charset="-120"/>
                </a:rPr>
                <a:t>Stripmap branch</a:t>
              </a:r>
              <a:endParaRPr lang="en-US" sz="1030" dirty="0"/>
            </a:p>
          </p:txBody>
        </p:sp>
        <p:sp>
          <p:nvSpPr>
            <p:cNvPr id="26" name="Shape 24"/>
            <p:cNvSpPr/>
            <p:nvPr/>
          </p:nvSpPr>
          <p:spPr>
            <a:xfrm>
              <a:off x="438913" y="2703955"/>
              <a:ext cx="749808" cy="603504"/>
            </a:xfrm>
            <a:prstGeom prst="rect">
              <a:avLst/>
            </a:prstGeom>
            <a:solidFill>
              <a:srgbClr val="F6F6F6"/>
            </a:solidFill>
            <a:ln w="10160">
              <a:solidFill>
                <a:srgbClr val="C9C9C9"/>
              </a:solidFill>
              <a:prstDash val="solid"/>
            </a:ln>
          </p:spPr>
          <p:txBody>
            <a:bodyPr/>
            <a:lstStyle/>
            <a:p>
              <a:endParaRPr lang="en-US"/>
            </a:p>
          </p:txBody>
        </p:sp>
        <p:sp>
          <p:nvSpPr>
            <p:cNvPr id="27" name="Text 25"/>
            <p:cNvSpPr/>
            <p:nvPr/>
          </p:nvSpPr>
          <p:spPr>
            <a:xfrm>
              <a:off x="493777" y="2749675"/>
              <a:ext cx="640080" cy="512064"/>
            </a:xfrm>
            <a:prstGeom prst="rect">
              <a:avLst/>
            </a:prstGeom>
            <a:noFill/>
            <a:ln/>
          </p:spPr>
          <p:txBody>
            <a:bodyPr wrap="square" lIns="0" tIns="0" rIns="0" bIns="0" rtlCol="0" anchor="ctr">
              <a:normAutofit/>
            </a:bodyPr>
            <a:lstStyle/>
            <a:p>
              <a:pPr marL="0" indent="0">
                <a:buNone/>
              </a:pPr>
              <a:r>
                <a:rPr lang="en-US" sz="1030" dirty="0">
                  <a:solidFill>
                    <a:srgbClr val="444444"/>
                  </a:solidFill>
                  <a:latin typeface="Arial" pitchFamily="34" charset="0"/>
                  <a:ea typeface="Arial" pitchFamily="34" charset="-122"/>
                  <a:cs typeface="Arial" pitchFamily="34" charset="-120"/>
                </a:rPr>
                <a:t>IW</a:t>
              </a:r>
              <a:endParaRPr lang="en-US" sz="1030" dirty="0"/>
            </a:p>
          </p:txBody>
        </p:sp>
        <p:sp>
          <p:nvSpPr>
            <p:cNvPr id="28" name="Shape 26"/>
            <p:cNvSpPr/>
            <p:nvPr/>
          </p:nvSpPr>
          <p:spPr>
            <a:xfrm>
              <a:off x="1188721" y="2703955"/>
              <a:ext cx="1664208" cy="603504"/>
            </a:xfrm>
            <a:prstGeom prst="rect">
              <a:avLst/>
            </a:prstGeom>
            <a:solidFill>
              <a:srgbClr val="F6F6F6"/>
            </a:solidFill>
            <a:ln w="10160">
              <a:solidFill>
                <a:srgbClr val="C9C9C9"/>
              </a:solidFill>
              <a:prstDash val="solid"/>
            </a:ln>
          </p:spPr>
          <p:txBody>
            <a:bodyPr/>
            <a:lstStyle/>
            <a:p>
              <a:endParaRPr lang="en-US"/>
            </a:p>
          </p:txBody>
        </p:sp>
        <p:sp>
          <p:nvSpPr>
            <p:cNvPr id="29" name="Text 27"/>
            <p:cNvSpPr/>
            <p:nvPr/>
          </p:nvSpPr>
          <p:spPr>
            <a:xfrm>
              <a:off x="1243585" y="2749675"/>
              <a:ext cx="1554480" cy="512064"/>
            </a:xfrm>
            <a:prstGeom prst="rect">
              <a:avLst/>
            </a:prstGeom>
            <a:noFill/>
            <a:ln/>
          </p:spPr>
          <p:txBody>
            <a:bodyPr wrap="square" lIns="0" tIns="0" rIns="0" bIns="0" rtlCol="0" anchor="ctr">
              <a:normAutofit/>
            </a:bodyPr>
            <a:lstStyle/>
            <a:p>
              <a:pPr marL="0" indent="0">
                <a:buNone/>
              </a:pPr>
              <a:r>
                <a:rPr lang="en-US" sz="1030" dirty="0">
                  <a:solidFill>
                    <a:srgbClr val="444444"/>
                  </a:solidFill>
                  <a:latin typeface="Arial" pitchFamily="34" charset="0"/>
                  <a:ea typeface="Arial" pitchFamily="34" charset="-122"/>
                  <a:cs typeface="Arial" pitchFamily="34" charset="-120"/>
                </a:rPr>
                <a:t>250 km swath</a:t>
              </a:r>
              <a:endParaRPr lang="en-US" sz="1030" dirty="0"/>
            </a:p>
            <a:p>
              <a:pPr marL="0" indent="0">
                <a:buNone/>
              </a:pPr>
              <a:r>
                <a:rPr lang="en-US" sz="1030" dirty="0">
                  <a:solidFill>
                    <a:srgbClr val="444444"/>
                  </a:solidFill>
                  <a:latin typeface="Arial" pitchFamily="34" charset="0"/>
                  <a:ea typeface="Arial" pitchFamily="34" charset="-122"/>
                  <a:cs typeface="Arial" pitchFamily="34" charset="-120"/>
                </a:rPr>
                <a:t>3 sub-swaths (TOPSAR)</a:t>
              </a:r>
              <a:endParaRPr lang="en-US" sz="1030" dirty="0"/>
            </a:p>
          </p:txBody>
        </p:sp>
        <p:sp>
          <p:nvSpPr>
            <p:cNvPr id="30" name="Shape 28"/>
            <p:cNvSpPr/>
            <p:nvPr/>
          </p:nvSpPr>
          <p:spPr>
            <a:xfrm>
              <a:off x="2852929" y="2703955"/>
              <a:ext cx="1664208" cy="603504"/>
            </a:xfrm>
            <a:prstGeom prst="rect">
              <a:avLst/>
            </a:prstGeom>
            <a:solidFill>
              <a:srgbClr val="F6F6F6"/>
            </a:solidFill>
            <a:ln w="10160">
              <a:solidFill>
                <a:srgbClr val="C9C9C9"/>
              </a:solidFill>
              <a:prstDash val="solid"/>
            </a:ln>
          </p:spPr>
          <p:txBody>
            <a:bodyPr/>
            <a:lstStyle/>
            <a:p>
              <a:endParaRPr lang="en-US"/>
            </a:p>
          </p:txBody>
        </p:sp>
        <p:sp>
          <p:nvSpPr>
            <p:cNvPr id="31" name="Text 29"/>
            <p:cNvSpPr/>
            <p:nvPr/>
          </p:nvSpPr>
          <p:spPr>
            <a:xfrm>
              <a:off x="2907793" y="2749675"/>
              <a:ext cx="1554480" cy="512064"/>
            </a:xfrm>
            <a:prstGeom prst="rect">
              <a:avLst/>
            </a:prstGeom>
            <a:noFill/>
            <a:ln/>
          </p:spPr>
          <p:txBody>
            <a:bodyPr wrap="square" lIns="0" tIns="0" rIns="0" bIns="0" rtlCol="0" anchor="ctr">
              <a:normAutofit/>
            </a:bodyPr>
            <a:lstStyle/>
            <a:p>
              <a:pPr marL="0" indent="0">
                <a:buNone/>
              </a:pPr>
              <a:r>
                <a:rPr lang="en-US" sz="1030" dirty="0">
                  <a:solidFill>
                    <a:srgbClr val="444444"/>
                  </a:solidFill>
                  <a:latin typeface="Arial" pitchFamily="34" charset="0"/>
                  <a:ea typeface="Arial" pitchFamily="34" charset="-122"/>
                  <a:cs typeface="Arial" pitchFamily="34" charset="-120"/>
                </a:rPr>
                <a:t>5 m × 20 m</a:t>
              </a:r>
              <a:endParaRPr lang="en-US" sz="1030" dirty="0"/>
            </a:p>
          </p:txBody>
        </p:sp>
        <p:sp>
          <p:nvSpPr>
            <p:cNvPr id="32" name="Shape 30"/>
            <p:cNvSpPr/>
            <p:nvPr/>
          </p:nvSpPr>
          <p:spPr>
            <a:xfrm>
              <a:off x="4517137" y="2703955"/>
              <a:ext cx="1024128" cy="603504"/>
            </a:xfrm>
            <a:prstGeom prst="rect">
              <a:avLst/>
            </a:prstGeom>
            <a:solidFill>
              <a:srgbClr val="F6F6F6"/>
            </a:solidFill>
            <a:ln w="10160">
              <a:solidFill>
                <a:srgbClr val="C9C9C9"/>
              </a:solidFill>
              <a:prstDash val="solid"/>
            </a:ln>
          </p:spPr>
          <p:txBody>
            <a:bodyPr/>
            <a:lstStyle/>
            <a:p>
              <a:endParaRPr lang="en-US"/>
            </a:p>
          </p:txBody>
        </p:sp>
        <p:sp>
          <p:nvSpPr>
            <p:cNvPr id="33" name="Text 31"/>
            <p:cNvSpPr/>
            <p:nvPr/>
          </p:nvSpPr>
          <p:spPr>
            <a:xfrm>
              <a:off x="4572001" y="2749675"/>
              <a:ext cx="914400" cy="512064"/>
            </a:xfrm>
            <a:prstGeom prst="rect">
              <a:avLst/>
            </a:prstGeom>
            <a:noFill/>
            <a:ln/>
          </p:spPr>
          <p:txBody>
            <a:bodyPr wrap="square" lIns="0" tIns="0" rIns="0" bIns="0" rtlCol="0" anchor="ctr">
              <a:normAutofit/>
            </a:bodyPr>
            <a:lstStyle/>
            <a:p>
              <a:pPr marL="0" indent="0">
                <a:buNone/>
              </a:pPr>
              <a:r>
                <a:rPr lang="en-US" sz="1030" dirty="0">
                  <a:solidFill>
                    <a:srgbClr val="444444"/>
                  </a:solidFill>
                  <a:latin typeface="Arial" pitchFamily="34" charset="0"/>
                  <a:ea typeface="Arial" pitchFamily="34" charset="-122"/>
                  <a:cs typeface="Arial" pitchFamily="34" charset="-120"/>
                </a:rPr>
                <a:t>single or dual</a:t>
              </a:r>
              <a:endParaRPr lang="en-US" sz="1030" dirty="0"/>
            </a:p>
          </p:txBody>
        </p:sp>
        <p:sp>
          <p:nvSpPr>
            <p:cNvPr id="34" name="Shape 32"/>
            <p:cNvSpPr/>
            <p:nvPr/>
          </p:nvSpPr>
          <p:spPr>
            <a:xfrm>
              <a:off x="5541265" y="2703955"/>
              <a:ext cx="1755648" cy="603504"/>
            </a:xfrm>
            <a:prstGeom prst="rect">
              <a:avLst/>
            </a:prstGeom>
            <a:solidFill>
              <a:srgbClr val="F6F6F6"/>
            </a:solidFill>
            <a:ln w="10160">
              <a:solidFill>
                <a:srgbClr val="C9C9C9"/>
              </a:solidFill>
              <a:prstDash val="solid"/>
            </a:ln>
          </p:spPr>
          <p:txBody>
            <a:bodyPr/>
            <a:lstStyle/>
            <a:p>
              <a:endParaRPr lang="en-US"/>
            </a:p>
          </p:txBody>
        </p:sp>
        <p:sp>
          <p:nvSpPr>
            <p:cNvPr id="35" name="Text 33"/>
            <p:cNvSpPr/>
            <p:nvPr/>
          </p:nvSpPr>
          <p:spPr>
            <a:xfrm>
              <a:off x="5596129" y="2749675"/>
              <a:ext cx="1645920" cy="512064"/>
            </a:xfrm>
            <a:prstGeom prst="rect">
              <a:avLst/>
            </a:prstGeom>
            <a:noFill/>
            <a:ln/>
          </p:spPr>
          <p:txBody>
            <a:bodyPr wrap="square" lIns="0" tIns="0" rIns="0" bIns="0" rtlCol="0" anchor="ctr">
              <a:normAutofit/>
            </a:bodyPr>
            <a:lstStyle/>
            <a:p>
              <a:pPr marL="0" indent="0">
                <a:buNone/>
              </a:pPr>
              <a:r>
                <a:rPr lang="en-US" sz="1030" dirty="0">
                  <a:solidFill>
                    <a:srgbClr val="444444"/>
                  </a:solidFill>
                  <a:latin typeface="Arial" pitchFamily="34" charset="0"/>
                  <a:ea typeface="Arial" pitchFamily="34" charset="-122"/>
                  <a:cs typeface="Arial" pitchFamily="34" charset="-120"/>
                </a:rPr>
                <a:t>TOPS branch</a:t>
              </a:r>
              <a:endParaRPr lang="en-US" sz="1030" dirty="0"/>
            </a:p>
          </p:txBody>
        </p:sp>
        <p:sp>
          <p:nvSpPr>
            <p:cNvPr id="36" name="Shape 34"/>
            <p:cNvSpPr/>
            <p:nvPr/>
          </p:nvSpPr>
          <p:spPr>
            <a:xfrm>
              <a:off x="438913" y="3307459"/>
              <a:ext cx="749808" cy="603504"/>
            </a:xfrm>
            <a:prstGeom prst="rect">
              <a:avLst/>
            </a:prstGeom>
            <a:solidFill>
              <a:srgbClr val="F6F6F6"/>
            </a:solidFill>
            <a:ln w="10160">
              <a:solidFill>
                <a:srgbClr val="C9C9C9"/>
              </a:solidFill>
              <a:prstDash val="solid"/>
            </a:ln>
          </p:spPr>
          <p:txBody>
            <a:bodyPr/>
            <a:lstStyle/>
            <a:p>
              <a:endParaRPr lang="en-US"/>
            </a:p>
          </p:txBody>
        </p:sp>
        <p:sp>
          <p:nvSpPr>
            <p:cNvPr id="37" name="Text 35"/>
            <p:cNvSpPr/>
            <p:nvPr/>
          </p:nvSpPr>
          <p:spPr>
            <a:xfrm>
              <a:off x="493777" y="3353179"/>
              <a:ext cx="640080" cy="512064"/>
            </a:xfrm>
            <a:prstGeom prst="rect">
              <a:avLst/>
            </a:prstGeom>
            <a:noFill/>
            <a:ln/>
          </p:spPr>
          <p:txBody>
            <a:bodyPr wrap="square" lIns="0" tIns="0" rIns="0" bIns="0" rtlCol="0" anchor="ctr">
              <a:normAutofit/>
            </a:bodyPr>
            <a:lstStyle/>
            <a:p>
              <a:pPr marL="0" indent="0">
                <a:buNone/>
              </a:pPr>
              <a:r>
                <a:rPr lang="en-US" sz="1030" dirty="0">
                  <a:solidFill>
                    <a:srgbClr val="444444"/>
                  </a:solidFill>
                  <a:latin typeface="Arial" pitchFamily="34" charset="0"/>
                  <a:ea typeface="Arial" pitchFamily="34" charset="-122"/>
                  <a:cs typeface="Arial" pitchFamily="34" charset="-120"/>
                </a:rPr>
                <a:t>EW</a:t>
              </a:r>
              <a:endParaRPr lang="en-US" sz="1030" dirty="0"/>
            </a:p>
          </p:txBody>
        </p:sp>
        <p:sp>
          <p:nvSpPr>
            <p:cNvPr id="38" name="Shape 36"/>
            <p:cNvSpPr/>
            <p:nvPr/>
          </p:nvSpPr>
          <p:spPr>
            <a:xfrm>
              <a:off x="1188721" y="3307459"/>
              <a:ext cx="1664208" cy="603504"/>
            </a:xfrm>
            <a:prstGeom prst="rect">
              <a:avLst/>
            </a:prstGeom>
            <a:solidFill>
              <a:srgbClr val="F6F6F6"/>
            </a:solidFill>
            <a:ln w="10160">
              <a:solidFill>
                <a:srgbClr val="C9C9C9"/>
              </a:solidFill>
              <a:prstDash val="solid"/>
            </a:ln>
          </p:spPr>
          <p:txBody>
            <a:bodyPr/>
            <a:lstStyle/>
            <a:p>
              <a:endParaRPr lang="en-US"/>
            </a:p>
          </p:txBody>
        </p:sp>
        <p:sp>
          <p:nvSpPr>
            <p:cNvPr id="39" name="Text 37"/>
            <p:cNvSpPr/>
            <p:nvPr/>
          </p:nvSpPr>
          <p:spPr>
            <a:xfrm>
              <a:off x="1243585" y="3353179"/>
              <a:ext cx="1554480" cy="512064"/>
            </a:xfrm>
            <a:prstGeom prst="rect">
              <a:avLst/>
            </a:prstGeom>
            <a:noFill/>
            <a:ln/>
          </p:spPr>
          <p:txBody>
            <a:bodyPr wrap="square" lIns="0" tIns="0" rIns="0" bIns="0" rtlCol="0" anchor="ctr">
              <a:normAutofit/>
            </a:bodyPr>
            <a:lstStyle/>
            <a:p>
              <a:pPr marL="0" indent="0">
                <a:buNone/>
              </a:pPr>
              <a:r>
                <a:rPr lang="en-US" sz="1030" dirty="0">
                  <a:solidFill>
                    <a:srgbClr val="444444"/>
                  </a:solidFill>
                  <a:latin typeface="Arial" pitchFamily="34" charset="0"/>
                  <a:ea typeface="Arial" pitchFamily="34" charset="-122"/>
                  <a:cs typeface="Arial" pitchFamily="34" charset="-120"/>
                </a:rPr>
                <a:t>400–410 km swath</a:t>
              </a:r>
              <a:endParaRPr lang="en-US" sz="1030" dirty="0"/>
            </a:p>
            <a:p>
              <a:pPr marL="0" indent="0">
                <a:buNone/>
              </a:pPr>
              <a:r>
                <a:rPr lang="en-US" sz="1030" dirty="0">
                  <a:solidFill>
                    <a:srgbClr val="444444"/>
                  </a:solidFill>
                  <a:latin typeface="Arial" pitchFamily="34" charset="0"/>
                  <a:ea typeface="Arial" pitchFamily="34" charset="-122"/>
                  <a:cs typeface="Arial" pitchFamily="34" charset="-120"/>
                </a:rPr>
                <a:t>5 sub-swaths (TOPSAR)</a:t>
              </a:r>
              <a:endParaRPr lang="en-US" sz="1030" dirty="0"/>
            </a:p>
          </p:txBody>
        </p:sp>
        <p:sp>
          <p:nvSpPr>
            <p:cNvPr id="40" name="Shape 38"/>
            <p:cNvSpPr/>
            <p:nvPr/>
          </p:nvSpPr>
          <p:spPr>
            <a:xfrm>
              <a:off x="2852929" y="3307459"/>
              <a:ext cx="1664208" cy="603504"/>
            </a:xfrm>
            <a:prstGeom prst="rect">
              <a:avLst/>
            </a:prstGeom>
            <a:solidFill>
              <a:srgbClr val="F6F6F6"/>
            </a:solidFill>
            <a:ln w="10160">
              <a:solidFill>
                <a:srgbClr val="C9C9C9"/>
              </a:solidFill>
              <a:prstDash val="solid"/>
            </a:ln>
          </p:spPr>
          <p:txBody>
            <a:bodyPr/>
            <a:lstStyle/>
            <a:p>
              <a:endParaRPr lang="en-US"/>
            </a:p>
          </p:txBody>
        </p:sp>
        <p:sp>
          <p:nvSpPr>
            <p:cNvPr id="41" name="Text 39"/>
            <p:cNvSpPr/>
            <p:nvPr/>
          </p:nvSpPr>
          <p:spPr>
            <a:xfrm>
              <a:off x="2907793" y="3353179"/>
              <a:ext cx="1554480" cy="512064"/>
            </a:xfrm>
            <a:prstGeom prst="rect">
              <a:avLst/>
            </a:prstGeom>
            <a:noFill/>
            <a:ln/>
          </p:spPr>
          <p:txBody>
            <a:bodyPr wrap="square" lIns="0" tIns="0" rIns="0" bIns="0" rtlCol="0" anchor="ctr">
              <a:normAutofit/>
            </a:bodyPr>
            <a:lstStyle/>
            <a:p>
              <a:pPr marL="0" indent="0">
                <a:buNone/>
              </a:pPr>
              <a:r>
                <a:rPr lang="en-US" sz="1030" dirty="0">
                  <a:solidFill>
                    <a:srgbClr val="444444"/>
                  </a:solidFill>
                  <a:latin typeface="Arial" pitchFamily="34" charset="0"/>
                  <a:ea typeface="Arial" pitchFamily="34" charset="-122"/>
                  <a:cs typeface="Arial" pitchFamily="34" charset="-120"/>
                </a:rPr>
                <a:t>20 m × 40 m</a:t>
              </a:r>
              <a:endParaRPr lang="en-US" sz="1030" dirty="0"/>
            </a:p>
          </p:txBody>
        </p:sp>
        <p:sp>
          <p:nvSpPr>
            <p:cNvPr id="42" name="Shape 40"/>
            <p:cNvSpPr/>
            <p:nvPr/>
          </p:nvSpPr>
          <p:spPr>
            <a:xfrm>
              <a:off x="4517137" y="3307459"/>
              <a:ext cx="1024128" cy="603504"/>
            </a:xfrm>
            <a:prstGeom prst="rect">
              <a:avLst/>
            </a:prstGeom>
            <a:solidFill>
              <a:srgbClr val="F6F6F6"/>
            </a:solidFill>
            <a:ln w="10160">
              <a:solidFill>
                <a:srgbClr val="C9C9C9"/>
              </a:solidFill>
              <a:prstDash val="solid"/>
            </a:ln>
          </p:spPr>
          <p:txBody>
            <a:bodyPr/>
            <a:lstStyle/>
            <a:p>
              <a:endParaRPr lang="en-US"/>
            </a:p>
          </p:txBody>
        </p:sp>
        <p:sp>
          <p:nvSpPr>
            <p:cNvPr id="43" name="Text 41"/>
            <p:cNvSpPr/>
            <p:nvPr/>
          </p:nvSpPr>
          <p:spPr>
            <a:xfrm>
              <a:off x="4572001" y="3353179"/>
              <a:ext cx="914400" cy="512064"/>
            </a:xfrm>
            <a:prstGeom prst="rect">
              <a:avLst/>
            </a:prstGeom>
            <a:noFill/>
            <a:ln/>
          </p:spPr>
          <p:txBody>
            <a:bodyPr wrap="square" lIns="0" tIns="0" rIns="0" bIns="0" rtlCol="0" anchor="ctr">
              <a:normAutofit/>
            </a:bodyPr>
            <a:lstStyle/>
            <a:p>
              <a:pPr marL="0" indent="0">
                <a:buNone/>
              </a:pPr>
              <a:r>
                <a:rPr lang="en-US" sz="1030" dirty="0">
                  <a:solidFill>
                    <a:srgbClr val="444444"/>
                  </a:solidFill>
                  <a:latin typeface="Arial" pitchFamily="34" charset="0"/>
                  <a:ea typeface="Arial" pitchFamily="34" charset="-122"/>
                  <a:cs typeface="Arial" pitchFamily="34" charset="-120"/>
                </a:rPr>
                <a:t>single or dual</a:t>
              </a:r>
              <a:endParaRPr lang="en-US" sz="1030" dirty="0"/>
            </a:p>
          </p:txBody>
        </p:sp>
        <p:sp>
          <p:nvSpPr>
            <p:cNvPr id="44" name="Shape 42"/>
            <p:cNvSpPr/>
            <p:nvPr/>
          </p:nvSpPr>
          <p:spPr>
            <a:xfrm>
              <a:off x="5541265" y="3307459"/>
              <a:ext cx="1755648" cy="603504"/>
            </a:xfrm>
            <a:prstGeom prst="rect">
              <a:avLst/>
            </a:prstGeom>
            <a:solidFill>
              <a:srgbClr val="F6F6F6"/>
            </a:solidFill>
            <a:ln w="10160">
              <a:solidFill>
                <a:srgbClr val="C9C9C9"/>
              </a:solidFill>
              <a:prstDash val="solid"/>
            </a:ln>
          </p:spPr>
          <p:txBody>
            <a:bodyPr/>
            <a:lstStyle/>
            <a:p>
              <a:endParaRPr lang="en-US"/>
            </a:p>
          </p:txBody>
        </p:sp>
        <p:sp>
          <p:nvSpPr>
            <p:cNvPr id="45" name="Text 43"/>
            <p:cNvSpPr/>
            <p:nvPr/>
          </p:nvSpPr>
          <p:spPr>
            <a:xfrm>
              <a:off x="5596129" y="3353179"/>
              <a:ext cx="1645920" cy="512064"/>
            </a:xfrm>
            <a:prstGeom prst="rect">
              <a:avLst/>
            </a:prstGeom>
            <a:noFill/>
            <a:ln/>
          </p:spPr>
          <p:txBody>
            <a:bodyPr wrap="square" lIns="0" tIns="0" rIns="0" bIns="0" rtlCol="0" anchor="ctr">
              <a:normAutofit/>
            </a:bodyPr>
            <a:lstStyle/>
            <a:p>
              <a:pPr marL="0" indent="0">
                <a:buNone/>
              </a:pPr>
              <a:r>
                <a:rPr lang="en-US" sz="1030" dirty="0">
                  <a:solidFill>
                    <a:srgbClr val="444444"/>
                  </a:solidFill>
                  <a:latin typeface="Arial" pitchFamily="34" charset="0"/>
                  <a:ea typeface="Arial" pitchFamily="34" charset="-122"/>
                  <a:cs typeface="Arial" pitchFamily="34" charset="-120"/>
                </a:rPr>
                <a:t>TOPS branch</a:t>
              </a:r>
              <a:endParaRPr lang="en-US" sz="1030" dirty="0"/>
            </a:p>
          </p:txBody>
        </p:sp>
        <p:sp>
          <p:nvSpPr>
            <p:cNvPr id="46" name="Shape 44"/>
            <p:cNvSpPr/>
            <p:nvPr/>
          </p:nvSpPr>
          <p:spPr>
            <a:xfrm>
              <a:off x="438913" y="3910963"/>
              <a:ext cx="749808" cy="603504"/>
            </a:xfrm>
            <a:prstGeom prst="rect">
              <a:avLst/>
            </a:prstGeom>
            <a:solidFill>
              <a:srgbClr val="F6F6F6"/>
            </a:solidFill>
            <a:ln w="10160">
              <a:solidFill>
                <a:srgbClr val="C9C9C9"/>
              </a:solidFill>
              <a:prstDash val="solid"/>
            </a:ln>
          </p:spPr>
          <p:txBody>
            <a:bodyPr/>
            <a:lstStyle/>
            <a:p>
              <a:endParaRPr lang="en-US"/>
            </a:p>
          </p:txBody>
        </p:sp>
        <p:sp>
          <p:nvSpPr>
            <p:cNvPr id="47" name="Text 45"/>
            <p:cNvSpPr/>
            <p:nvPr/>
          </p:nvSpPr>
          <p:spPr>
            <a:xfrm>
              <a:off x="493777" y="3956683"/>
              <a:ext cx="640080" cy="512064"/>
            </a:xfrm>
            <a:prstGeom prst="rect">
              <a:avLst/>
            </a:prstGeom>
            <a:noFill/>
            <a:ln/>
          </p:spPr>
          <p:txBody>
            <a:bodyPr wrap="square" lIns="0" tIns="0" rIns="0" bIns="0" rtlCol="0" anchor="ctr">
              <a:normAutofit/>
            </a:bodyPr>
            <a:lstStyle/>
            <a:p>
              <a:pPr marL="0" indent="0">
                <a:buNone/>
              </a:pPr>
              <a:r>
                <a:rPr lang="en-US" sz="1030" dirty="0">
                  <a:solidFill>
                    <a:srgbClr val="444444"/>
                  </a:solidFill>
                  <a:latin typeface="Arial" pitchFamily="34" charset="0"/>
                  <a:ea typeface="Arial" pitchFamily="34" charset="-122"/>
                  <a:cs typeface="Arial" pitchFamily="34" charset="-120"/>
                </a:rPr>
                <a:t>WV</a:t>
              </a:r>
              <a:endParaRPr lang="en-US" sz="1030" dirty="0"/>
            </a:p>
          </p:txBody>
        </p:sp>
        <p:sp>
          <p:nvSpPr>
            <p:cNvPr id="48" name="Shape 46"/>
            <p:cNvSpPr/>
            <p:nvPr/>
          </p:nvSpPr>
          <p:spPr>
            <a:xfrm>
              <a:off x="1188721" y="3910963"/>
              <a:ext cx="1664208" cy="603504"/>
            </a:xfrm>
            <a:prstGeom prst="rect">
              <a:avLst/>
            </a:prstGeom>
            <a:solidFill>
              <a:srgbClr val="F6F6F6"/>
            </a:solidFill>
            <a:ln w="10160">
              <a:solidFill>
                <a:srgbClr val="C9C9C9"/>
              </a:solidFill>
              <a:prstDash val="solid"/>
            </a:ln>
          </p:spPr>
          <p:txBody>
            <a:bodyPr/>
            <a:lstStyle/>
            <a:p>
              <a:endParaRPr lang="en-US"/>
            </a:p>
          </p:txBody>
        </p:sp>
        <p:sp>
          <p:nvSpPr>
            <p:cNvPr id="49" name="Text 47"/>
            <p:cNvSpPr/>
            <p:nvPr/>
          </p:nvSpPr>
          <p:spPr>
            <a:xfrm>
              <a:off x="1243585" y="3956683"/>
              <a:ext cx="1554480" cy="512064"/>
            </a:xfrm>
            <a:prstGeom prst="rect">
              <a:avLst/>
            </a:prstGeom>
            <a:noFill/>
            <a:ln/>
          </p:spPr>
          <p:txBody>
            <a:bodyPr wrap="square" lIns="0" tIns="0" rIns="0" bIns="0" rtlCol="0" anchor="ctr">
              <a:normAutofit/>
            </a:bodyPr>
            <a:lstStyle/>
            <a:p>
              <a:pPr marL="0" indent="0">
                <a:buNone/>
              </a:pPr>
              <a:r>
                <a:rPr lang="en-US" sz="1030" dirty="0">
                  <a:solidFill>
                    <a:srgbClr val="444444"/>
                  </a:solidFill>
                  <a:latin typeface="Arial" pitchFamily="34" charset="0"/>
                  <a:ea typeface="Arial" pitchFamily="34" charset="-122"/>
                  <a:cs typeface="Arial" pitchFamily="34" charset="-120"/>
                </a:rPr>
                <a:t>20 km × 20 km vignette</a:t>
              </a:r>
              <a:endParaRPr lang="en-US" sz="1030" dirty="0"/>
            </a:p>
            <a:p>
              <a:pPr marL="0" indent="0">
                <a:buNone/>
              </a:pPr>
              <a:r>
                <a:rPr lang="en-US" sz="1030" dirty="0">
                  <a:solidFill>
                    <a:srgbClr val="444444"/>
                  </a:solidFill>
                  <a:latin typeface="Arial" pitchFamily="34" charset="0"/>
                  <a:ea typeface="Arial" pitchFamily="34" charset="-122"/>
                  <a:cs typeface="Arial" pitchFamily="34" charset="-120"/>
                </a:rPr>
                <a:t>every 100 km</a:t>
              </a:r>
              <a:endParaRPr lang="en-US" sz="1030" dirty="0"/>
            </a:p>
          </p:txBody>
        </p:sp>
        <p:sp>
          <p:nvSpPr>
            <p:cNvPr id="50" name="Shape 48"/>
            <p:cNvSpPr/>
            <p:nvPr/>
          </p:nvSpPr>
          <p:spPr>
            <a:xfrm>
              <a:off x="2852929" y="3910963"/>
              <a:ext cx="1664208" cy="603504"/>
            </a:xfrm>
            <a:prstGeom prst="rect">
              <a:avLst/>
            </a:prstGeom>
            <a:solidFill>
              <a:srgbClr val="F6F6F6"/>
            </a:solidFill>
            <a:ln w="10160">
              <a:solidFill>
                <a:srgbClr val="C9C9C9"/>
              </a:solidFill>
              <a:prstDash val="solid"/>
            </a:ln>
          </p:spPr>
          <p:txBody>
            <a:bodyPr/>
            <a:lstStyle/>
            <a:p>
              <a:endParaRPr lang="en-US"/>
            </a:p>
          </p:txBody>
        </p:sp>
        <p:sp>
          <p:nvSpPr>
            <p:cNvPr id="51" name="Text 49"/>
            <p:cNvSpPr/>
            <p:nvPr/>
          </p:nvSpPr>
          <p:spPr>
            <a:xfrm>
              <a:off x="2907793" y="3956683"/>
              <a:ext cx="1554480" cy="512064"/>
            </a:xfrm>
            <a:prstGeom prst="rect">
              <a:avLst/>
            </a:prstGeom>
            <a:noFill/>
            <a:ln/>
          </p:spPr>
          <p:txBody>
            <a:bodyPr wrap="square" lIns="0" tIns="0" rIns="0" bIns="0" rtlCol="0" anchor="ctr">
              <a:normAutofit/>
            </a:bodyPr>
            <a:lstStyle/>
            <a:p>
              <a:pPr marL="0" indent="0">
                <a:buNone/>
              </a:pPr>
              <a:r>
                <a:rPr lang="en-US" sz="1030" dirty="0">
                  <a:solidFill>
                    <a:srgbClr val="444444"/>
                  </a:solidFill>
                  <a:latin typeface="Arial" pitchFamily="34" charset="0"/>
                  <a:ea typeface="Arial" pitchFamily="34" charset="-122"/>
                  <a:cs typeface="Arial" pitchFamily="34" charset="-120"/>
                </a:rPr>
                <a:t>5 m × 5 m</a:t>
              </a:r>
              <a:endParaRPr lang="en-US" sz="1030" dirty="0"/>
            </a:p>
          </p:txBody>
        </p:sp>
        <p:sp>
          <p:nvSpPr>
            <p:cNvPr id="52" name="Shape 50"/>
            <p:cNvSpPr/>
            <p:nvPr/>
          </p:nvSpPr>
          <p:spPr>
            <a:xfrm>
              <a:off x="4517137" y="3910963"/>
              <a:ext cx="1024128" cy="603504"/>
            </a:xfrm>
            <a:prstGeom prst="rect">
              <a:avLst/>
            </a:prstGeom>
            <a:solidFill>
              <a:srgbClr val="F6F6F6"/>
            </a:solidFill>
            <a:ln w="10160">
              <a:solidFill>
                <a:srgbClr val="C9C9C9"/>
              </a:solidFill>
              <a:prstDash val="solid"/>
            </a:ln>
          </p:spPr>
          <p:txBody>
            <a:bodyPr/>
            <a:lstStyle/>
            <a:p>
              <a:endParaRPr lang="en-US"/>
            </a:p>
          </p:txBody>
        </p:sp>
        <p:sp>
          <p:nvSpPr>
            <p:cNvPr id="53" name="Text 51"/>
            <p:cNvSpPr/>
            <p:nvPr/>
          </p:nvSpPr>
          <p:spPr>
            <a:xfrm>
              <a:off x="4572001" y="3956683"/>
              <a:ext cx="914400" cy="512064"/>
            </a:xfrm>
            <a:prstGeom prst="rect">
              <a:avLst/>
            </a:prstGeom>
            <a:noFill/>
            <a:ln/>
          </p:spPr>
          <p:txBody>
            <a:bodyPr wrap="square" lIns="0" tIns="0" rIns="0" bIns="0" rtlCol="0" anchor="ctr">
              <a:normAutofit/>
            </a:bodyPr>
            <a:lstStyle/>
            <a:p>
              <a:pPr marL="0" indent="0">
                <a:buNone/>
              </a:pPr>
              <a:r>
                <a:rPr lang="en-US" sz="1030" dirty="0">
                  <a:solidFill>
                    <a:srgbClr val="444444"/>
                  </a:solidFill>
                  <a:latin typeface="Arial" pitchFamily="34" charset="0"/>
                  <a:ea typeface="Arial" pitchFamily="34" charset="-122"/>
                  <a:cs typeface="Arial" pitchFamily="34" charset="-120"/>
                </a:rPr>
                <a:t>single only</a:t>
              </a:r>
              <a:endParaRPr lang="en-US" sz="1030" dirty="0"/>
            </a:p>
          </p:txBody>
        </p:sp>
        <p:sp>
          <p:nvSpPr>
            <p:cNvPr id="54" name="Shape 52"/>
            <p:cNvSpPr/>
            <p:nvPr/>
          </p:nvSpPr>
          <p:spPr>
            <a:xfrm>
              <a:off x="5541265" y="3910963"/>
              <a:ext cx="1755648" cy="603504"/>
            </a:xfrm>
            <a:prstGeom prst="rect">
              <a:avLst/>
            </a:prstGeom>
            <a:solidFill>
              <a:srgbClr val="F6F6F6"/>
            </a:solidFill>
            <a:ln w="10160">
              <a:solidFill>
                <a:srgbClr val="C9C9C9"/>
              </a:solidFill>
              <a:prstDash val="solid"/>
            </a:ln>
          </p:spPr>
          <p:txBody>
            <a:bodyPr/>
            <a:lstStyle/>
            <a:p>
              <a:endParaRPr lang="en-US"/>
            </a:p>
          </p:txBody>
        </p:sp>
        <p:sp>
          <p:nvSpPr>
            <p:cNvPr id="55" name="Text 53"/>
            <p:cNvSpPr/>
            <p:nvPr/>
          </p:nvSpPr>
          <p:spPr>
            <a:xfrm>
              <a:off x="5596129" y="3956683"/>
              <a:ext cx="1645920" cy="512064"/>
            </a:xfrm>
            <a:prstGeom prst="rect">
              <a:avLst/>
            </a:prstGeom>
            <a:noFill/>
            <a:ln/>
          </p:spPr>
          <p:txBody>
            <a:bodyPr wrap="square" lIns="0" tIns="0" rIns="0" bIns="0" rtlCol="0" anchor="ctr">
              <a:normAutofit/>
            </a:bodyPr>
            <a:lstStyle/>
            <a:p>
              <a:pPr marL="0" indent="0">
                <a:buNone/>
              </a:pPr>
              <a:r>
                <a:rPr lang="en-US" sz="1030" dirty="0">
                  <a:solidFill>
                    <a:srgbClr val="444444"/>
                  </a:solidFill>
                  <a:latin typeface="Arial" pitchFamily="34" charset="0"/>
                  <a:ea typeface="Arial" pitchFamily="34" charset="-122"/>
                  <a:cs typeface="Arial" pitchFamily="34" charset="-120"/>
                </a:rPr>
                <a:t>Validate separately</a:t>
              </a:r>
              <a:endParaRPr lang="en-US" sz="1030" dirty="0"/>
            </a:p>
          </p:txBody>
        </p:sp>
      </p:grpSp>
      <p:sp>
        <p:nvSpPr>
          <p:cNvPr id="56" name="Text 54"/>
          <p:cNvSpPr/>
          <p:nvPr/>
        </p:nvSpPr>
        <p:spPr>
          <a:xfrm>
            <a:off x="8801003" y="1426464"/>
            <a:ext cx="2011680" cy="219456"/>
          </a:xfrm>
          <a:prstGeom prst="rect">
            <a:avLst/>
          </a:prstGeom>
          <a:noFill/>
          <a:ln/>
        </p:spPr>
        <p:txBody>
          <a:bodyPr wrap="square" lIns="0" tIns="0" rIns="0" bIns="0" rtlCol="0" anchor="ctr">
            <a:normAutofit/>
          </a:bodyPr>
          <a:lstStyle/>
          <a:p>
            <a:pPr marL="0" indent="0">
              <a:buNone/>
            </a:pPr>
            <a:r>
              <a:rPr lang="en-US" sz="1080" b="1" dirty="0">
                <a:solidFill>
                  <a:srgbClr val="6E6E6E"/>
                </a:solidFill>
                <a:latin typeface="Arial" pitchFamily="34" charset="0"/>
                <a:ea typeface="Arial" pitchFamily="34" charset="-122"/>
                <a:cs typeface="Arial" pitchFamily="34" charset="-120"/>
              </a:rPr>
              <a:t>ROUTING LOGIC</a:t>
            </a:r>
            <a:endParaRPr lang="en-US" sz="1080" dirty="0"/>
          </a:p>
        </p:txBody>
      </p:sp>
      <p:sp>
        <p:nvSpPr>
          <p:cNvPr id="57" name="Shape 55"/>
          <p:cNvSpPr/>
          <p:nvPr/>
        </p:nvSpPr>
        <p:spPr>
          <a:xfrm>
            <a:off x="9473184" y="2359152"/>
            <a:ext cx="0" cy="402336"/>
          </a:xfrm>
          <a:prstGeom prst="line">
            <a:avLst/>
          </a:prstGeom>
          <a:noFill/>
          <a:ln w="19050">
            <a:solidFill>
              <a:srgbClr val="C9C9C9"/>
            </a:solidFill>
            <a:prstDash val="solid"/>
            <a:tailEnd type="triangle"/>
          </a:ln>
        </p:spPr>
        <p:txBody>
          <a:bodyPr/>
          <a:lstStyle/>
          <a:p>
            <a:endParaRPr lang="en-US"/>
          </a:p>
        </p:txBody>
      </p:sp>
      <p:sp>
        <p:nvSpPr>
          <p:cNvPr id="58" name="Shape 56"/>
          <p:cNvSpPr/>
          <p:nvPr/>
        </p:nvSpPr>
        <p:spPr>
          <a:xfrm flipH="1">
            <a:off x="8275319" y="3136391"/>
            <a:ext cx="512049" cy="868681"/>
          </a:xfrm>
          <a:prstGeom prst="line">
            <a:avLst/>
          </a:prstGeom>
          <a:noFill/>
          <a:ln w="19050">
            <a:solidFill>
              <a:srgbClr val="C9C9C9"/>
            </a:solidFill>
            <a:prstDash val="solid"/>
            <a:tailEnd type="triangle"/>
          </a:ln>
        </p:spPr>
        <p:txBody>
          <a:bodyPr/>
          <a:lstStyle/>
          <a:p>
            <a:endParaRPr lang="en-US"/>
          </a:p>
        </p:txBody>
      </p:sp>
      <p:sp>
        <p:nvSpPr>
          <p:cNvPr id="59" name="Shape 57"/>
          <p:cNvSpPr/>
          <p:nvPr/>
        </p:nvSpPr>
        <p:spPr>
          <a:xfrm>
            <a:off x="10158984" y="3136391"/>
            <a:ext cx="512064" cy="868681"/>
          </a:xfrm>
          <a:prstGeom prst="line">
            <a:avLst/>
          </a:prstGeom>
          <a:noFill/>
          <a:ln w="19050">
            <a:solidFill>
              <a:srgbClr val="C9C9C9"/>
            </a:solidFill>
            <a:prstDash val="solid"/>
            <a:tailEnd type="triangle"/>
          </a:ln>
        </p:spPr>
        <p:txBody>
          <a:bodyPr/>
          <a:lstStyle/>
          <a:p>
            <a:endParaRPr lang="en-US"/>
          </a:p>
        </p:txBody>
      </p:sp>
      <p:sp>
        <p:nvSpPr>
          <p:cNvPr id="60" name="Shape 58"/>
          <p:cNvSpPr/>
          <p:nvPr/>
        </p:nvSpPr>
        <p:spPr>
          <a:xfrm>
            <a:off x="7699248" y="1847088"/>
            <a:ext cx="3547872" cy="658368"/>
          </a:xfrm>
          <a:prstGeom prst="roundRect">
            <a:avLst>
              <a:gd name="adj" fmla="val 11111"/>
            </a:avLst>
          </a:prstGeom>
          <a:solidFill>
            <a:srgbClr val="F6F6F6"/>
          </a:solidFill>
          <a:ln w="12700">
            <a:solidFill>
              <a:srgbClr val="C9C9C9"/>
            </a:solidFill>
            <a:prstDash val="solid"/>
          </a:ln>
        </p:spPr>
        <p:txBody>
          <a:bodyPr/>
          <a:lstStyle/>
          <a:p>
            <a:endParaRPr lang="en-US"/>
          </a:p>
        </p:txBody>
      </p:sp>
      <p:sp>
        <p:nvSpPr>
          <p:cNvPr id="61" name="Text 59"/>
          <p:cNvSpPr/>
          <p:nvPr/>
        </p:nvSpPr>
        <p:spPr>
          <a:xfrm>
            <a:off x="7845552" y="1975104"/>
            <a:ext cx="3255264" cy="237744"/>
          </a:xfrm>
          <a:prstGeom prst="rect">
            <a:avLst/>
          </a:prstGeom>
          <a:noFill/>
          <a:ln/>
        </p:spPr>
        <p:txBody>
          <a:bodyPr wrap="square" lIns="0" tIns="0" rIns="0" bIns="0" rtlCol="0" anchor="t">
            <a:normAutofit/>
          </a:bodyPr>
          <a:lstStyle/>
          <a:p>
            <a:pPr marL="0" indent="0" algn="l">
              <a:buNone/>
            </a:pPr>
            <a:r>
              <a:rPr lang="en-US" sz="1360" b="1" dirty="0">
                <a:solidFill>
                  <a:srgbClr val="222222"/>
                </a:solidFill>
                <a:latin typeface="Arial" pitchFamily="34" charset="0"/>
                <a:ea typeface="Arial" pitchFamily="34" charset="-122"/>
                <a:cs typeface="Arial" pitchFamily="34" charset="-120"/>
              </a:rPr>
              <a:t>SAFE name / manifest token</a:t>
            </a:r>
            <a:endParaRPr lang="en-US" sz="1360" dirty="0"/>
          </a:p>
        </p:txBody>
      </p:sp>
      <p:sp>
        <p:nvSpPr>
          <p:cNvPr id="62" name="Text 60"/>
          <p:cNvSpPr/>
          <p:nvPr/>
        </p:nvSpPr>
        <p:spPr>
          <a:xfrm>
            <a:off x="7845552" y="2210354"/>
            <a:ext cx="3255264" cy="164592"/>
          </a:xfrm>
          <a:prstGeom prst="rect">
            <a:avLst/>
          </a:prstGeom>
          <a:noFill/>
          <a:ln/>
        </p:spPr>
        <p:txBody>
          <a:bodyPr wrap="square" lIns="0" tIns="0" rIns="0" bIns="0" rtlCol="0" anchor="t">
            <a:normAutofit fontScale="77500" lnSpcReduction="20000"/>
          </a:bodyPr>
          <a:lstStyle/>
          <a:p>
            <a:pPr marL="0" indent="0" algn="l">
              <a:buNone/>
            </a:pPr>
            <a:r>
              <a:rPr lang="en-US" sz="1020" dirty="0">
                <a:solidFill>
                  <a:srgbClr val="444444"/>
                </a:solidFill>
                <a:latin typeface="Arial" pitchFamily="34" charset="0"/>
                <a:ea typeface="Arial" pitchFamily="34" charset="-122"/>
                <a:cs typeface="Arial" pitchFamily="34" charset="-120"/>
              </a:rPr>
              <a:t>infer_product_mode(...) inspects S1 mode tokens and path patterns</a:t>
            </a:r>
            <a:endParaRPr lang="en-US" sz="1020" dirty="0"/>
          </a:p>
        </p:txBody>
      </p:sp>
      <p:sp>
        <p:nvSpPr>
          <p:cNvPr id="63" name="Shape 61"/>
          <p:cNvSpPr/>
          <p:nvPr/>
        </p:nvSpPr>
        <p:spPr>
          <a:xfrm>
            <a:off x="8787384" y="2761488"/>
            <a:ext cx="1371600" cy="731520"/>
          </a:xfrm>
          <a:prstGeom prst="diamond">
            <a:avLst/>
          </a:prstGeom>
          <a:solidFill>
            <a:srgbClr val="F6F6F6"/>
          </a:solidFill>
          <a:ln w="12700">
            <a:solidFill>
              <a:srgbClr val="C9C9C9"/>
            </a:solidFill>
            <a:prstDash val="solid"/>
          </a:ln>
        </p:spPr>
        <p:txBody>
          <a:bodyPr/>
          <a:lstStyle/>
          <a:p>
            <a:endParaRPr lang="en-US"/>
          </a:p>
        </p:txBody>
      </p:sp>
      <p:sp>
        <p:nvSpPr>
          <p:cNvPr id="64" name="Text 62"/>
          <p:cNvSpPr/>
          <p:nvPr/>
        </p:nvSpPr>
        <p:spPr>
          <a:xfrm>
            <a:off x="8924544" y="2990088"/>
            <a:ext cx="1097280" cy="201168"/>
          </a:xfrm>
          <a:prstGeom prst="rect">
            <a:avLst/>
          </a:prstGeom>
          <a:noFill/>
          <a:ln/>
        </p:spPr>
        <p:txBody>
          <a:bodyPr wrap="square" lIns="0" tIns="0" rIns="0" bIns="0" rtlCol="0" anchor="t">
            <a:normAutofit/>
          </a:bodyPr>
          <a:lstStyle/>
          <a:p>
            <a:pPr marL="0" indent="0" algn="ctr">
              <a:buNone/>
            </a:pPr>
            <a:r>
              <a:rPr lang="en-US" sz="1100" b="1" dirty="0">
                <a:solidFill>
                  <a:srgbClr val="222222"/>
                </a:solidFill>
                <a:latin typeface="Arial" pitchFamily="34" charset="0"/>
                <a:ea typeface="Arial" pitchFamily="34" charset="-122"/>
                <a:cs typeface="Arial" pitchFamily="34" charset="-120"/>
              </a:rPr>
              <a:t>IW / SM ?</a:t>
            </a:r>
            <a:endParaRPr lang="en-US" sz="1100" dirty="0"/>
          </a:p>
        </p:txBody>
      </p:sp>
      <p:sp>
        <p:nvSpPr>
          <p:cNvPr id="65" name="Shape 63"/>
          <p:cNvSpPr/>
          <p:nvPr/>
        </p:nvSpPr>
        <p:spPr>
          <a:xfrm>
            <a:off x="7333488" y="4005072"/>
            <a:ext cx="1883664" cy="749808"/>
          </a:xfrm>
          <a:prstGeom prst="roundRect">
            <a:avLst>
              <a:gd name="adj" fmla="val 9756"/>
            </a:avLst>
          </a:prstGeom>
          <a:solidFill>
            <a:srgbClr val="F6F6F6"/>
          </a:solidFill>
          <a:ln w="12700">
            <a:solidFill>
              <a:srgbClr val="C9C9C9"/>
            </a:solidFill>
            <a:prstDash val="solid"/>
          </a:ln>
        </p:spPr>
        <p:txBody>
          <a:bodyPr/>
          <a:lstStyle/>
          <a:p>
            <a:endParaRPr lang="en-US"/>
          </a:p>
        </p:txBody>
      </p:sp>
      <p:sp>
        <p:nvSpPr>
          <p:cNvPr id="66" name="Text 64"/>
          <p:cNvSpPr/>
          <p:nvPr/>
        </p:nvSpPr>
        <p:spPr>
          <a:xfrm>
            <a:off x="7479792" y="4133088"/>
            <a:ext cx="1591056" cy="237744"/>
          </a:xfrm>
          <a:prstGeom prst="rect">
            <a:avLst/>
          </a:prstGeom>
          <a:noFill/>
          <a:ln/>
        </p:spPr>
        <p:txBody>
          <a:bodyPr wrap="square" lIns="0" tIns="0" rIns="0" bIns="0" rtlCol="0" anchor="t">
            <a:normAutofit/>
          </a:bodyPr>
          <a:lstStyle/>
          <a:p>
            <a:pPr marL="0" indent="0" algn="l">
              <a:buNone/>
            </a:pPr>
            <a:r>
              <a:rPr lang="en-US" sz="1320" b="1" dirty="0">
                <a:solidFill>
                  <a:srgbClr val="222222"/>
                </a:solidFill>
                <a:latin typeface="Arial" pitchFamily="34" charset="0"/>
                <a:ea typeface="Arial" pitchFamily="34" charset="-122"/>
                <a:cs typeface="Arial" pitchFamily="34" charset="-120"/>
              </a:rPr>
              <a:t>S1STRIP</a:t>
            </a:r>
            <a:endParaRPr lang="en-US" sz="1320" dirty="0"/>
          </a:p>
        </p:txBody>
      </p:sp>
      <p:sp>
        <p:nvSpPr>
          <p:cNvPr id="67" name="Text 65"/>
          <p:cNvSpPr/>
          <p:nvPr/>
        </p:nvSpPr>
        <p:spPr>
          <a:xfrm>
            <a:off x="7479792" y="4389120"/>
            <a:ext cx="1591056" cy="256032"/>
          </a:xfrm>
          <a:prstGeom prst="rect">
            <a:avLst/>
          </a:prstGeom>
          <a:noFill/>
          <a:ln/>
        </p:spPr>
        <p:txBody>
          <a:bodyPr wrap="square" lIns="0" tIns="0" rIns="0" bIns="0" rtlCol="0" anchor="t">
            <a:normAutofit/>
          </a:bodyPr>
          <a:lstStyle/>
          <a:p>
            <a:pPr marL="0" indent="0" algn="l">
              <a:buNone/>
            </a:pPr>
            <a:r>
              <a:rPr lang="en-US" sz="1000" dirty="0">
                <a:solidFill>
                  <a:srgbClr val="444444"/>
                </a:solidFill>
                <a:latin typeface="Arial" pitchFamily="34" charset="0"/>
                <a:ea typeface="Arial" pitchFamily="34" charset="-122"/>
                <a:cs typeface="Arial" pitchFamily="34" charset="-120"/>
              </a:rPr>
              <a:t>SM or S1…S6 modes</a:t>
            </a:r>
            <a:endParaRPr lang="en-US" sz="1000" dirty="0"/>
          </a:p>
        </p:txBody>
      </p:sp>
      <p:sp>
        <p:nvSpPr>
          <p:cNvPr id="68" name="Shape 66"/>
          <p:cNvSpPr/>
          <p:nvPr/>
        </p:nvSpPr>
        <p:spPr>
          <a:xfrm>
            <a:off x="9710928" y="4005072"/>
            <a:ext cx="1883664" cy="749808"/>
          </a:xfrm>
          <a:prstGeom prst="roundRect">
            <a:avLst>
              <a:gd name="adj" fmla="val 9756"/>
            </a:avLst>
          </a:prstGeom>
          <a:solidFill>
            <a:srgbClr val="F6F6F6"/>
          </a:solidFill>
          <a:ln w="12700">
            <a:solidFill>
              <a:srgbClr val="C9C9C9"/>
            </a:solidFill>
            <a:prstDash val="solid"/>
          </a:ln>
        </p:spPr>
        <p:txBody>
          <a:bodyPr/>
          <a:lstStyle/>
          <a:p>
            <a:endParaRPr lang="en-US"/>
          </a:p>
        </p:txBody>
      </p:sp>
      <p:sp>
        <p:nvSpPr>
          <p:cNvPr id="69" name="Text 67"/>
          <p:cNvSpPr/>
          <p:nvPr/>
        </p:nvSpPr>
        <p:spPr>
          <a:xfrm>
            <a:off x="9857232" y="4133088"/>
            <a:ext cx="1591056" cy="237744"/>
          </a:xfrm>
          <a:prstGeom prst="rect">
            <a:avLst/>
          </a:prstGeom>
          <a:noFill/>
          <a:ln/>
        </p:spPr>
        <p:txBody>
          <a:bodyPr wrap="square" lIns="0" tIns="0" rIns="0" bIns="0" rtlCol="0" anchor="t">
            <a:normAutofit/>
          </a:bodyPr>
          <a:lstStyle/>
          <a:p>
            <a:pPr marL="0" indent="0" algn="l">
              <a:buNone/>
            </a:pPr>
            <a:r>
              <a:rPr lang="en-US" sz="1320" b="1" dirty="0">
                <a:solidFill>
                  <a:srgbClr val="222222"/>
                </a:solidFill>
                <a:latin typeface="Arial" pitchFamily="34" charset="0"/>
                <a:ea typeface="Arial" pitchFamily="34" charset="-122"/>
                <a:cs typeface="Arial" pitchFamily="34" charset="-120"/>
              </a:rPr>
              <a:t>S1TOPS</a:t>
            </a:r>
            <a:endParaRPr lang="en-US" sz="1320" dirty="0"/>
          </a:p>
        </p:txBody>
      </p:sp>
      <p:sp>
        <p:nvSpPr>
          <p:cNvPr id="70" name="Text 68"/>
          <p:cNvSpPr/>
          <p:nvPr/>
        </p:nvSpPr>
        <p:spPr>
          <a:xfrm>
            <a:off x="9857232" y="4389120"/>
            <a:ext cx="1591056" cy="256032"/>
          </a:xfrm>
          <a:prstGeom prst="rect">
            <a:avLst/>
          </a:prstGeom>
          <a:noFill/>
          <a:ln/>
        </p:spPr>
        <p:txBody>
          <a:bodyPr wrap="square" lIns="0" tIns="0" rIns="0" bIns="0" rtlCol="0" anchor="t">
            <a:normAutofit/>
          </a:bodyPr>
          <a:lstStyle/>
          <a:p>
            <a:pPr marL="0" indent="0" algn="l">
              <a:buNone/>
            </a:pPr>
            <a:r>
              <a:rPr lang="en-US" sz="1000" dirty="0">
                <a:solidFill>
                  <a:srgbClr val="444444"/>
                </a:solidFill>
                <a:latin typeface="Arial" pitchFamily="34" charset="0"/>
                <a:ea typeface="Arial" pitchFamily="34" charset="-122"/>
                <a:cs typeface="Arial" pitchFamily="34" charset="-120"/>
              </a:rPr>
              <a:t>IW or EW</a:t>
            </a:r>
            <a:endParaRPr lang="en-US" sz="1000" dirty="0"/>
          </a:p>
        </p:txBody>
      </p:sp>
      <p:sp>
        <p:nvSpPr>
          <p:cNvPr id="71" name="Shape 69"/>
          <p:cNvSpPr/>
          <p:nvPr/>
        </p:nvSpPr>
        <p:spPr>
          <a:xfrm>
            <a:off x="7333488" y="5065776"/>
            <a:ext cx="4279392" cy="1042416"/>
          </a:xfrm>
          <a:prstGeom prst="roundRect">
            <a:avLst>
              <a:gd name="adj" fmla="val 7018"/>
            </a:avLst>
          </a:prstGeom>
          <a:solidFill>
            <a:srgbClr val="F6F6F6"/>
          </a:solidFill>
          <a:ln w="12700">
            <a:solidFill>
              <a:srgbClr val="C9C9C9"/>
            </a:solidFill>
            <a:prstDash val="solid"/>
          </a:ln>
        </p:spPr>
        <p:txBody>
          <a:bodyPr/>
          <a:lstStyle/>
          <a:p>
            <a:endParaRPr lang="en-US"/>
          </a:p>
        </p:txBody>
      </p:sp>
      <p:sp>
        <p:nvSpPr>
          <p:cNvPr id="72" name="Text 70"/>
          <p:cNvSpPr/>
          <p:nvPr/>
        </p:nvSpPr>
        <p:spPr>
          <a:xfrm>
            <a:off x="7534656" y="5120640"/>
            <a:ext cx="3858768" cy="914400"/>
          </a:xfrm>
          <a:prstGeom prst="rect">
            <a:avLst/>
          </a:prstGeom>
          <a:noFill/>
          <a:ln/>
        </p:spPr>
        <p:txBody>
          <a:bodyPr wrap="square" lIns="0" tIns="0" rIns="0" bIns="0" rtlCol="0" anchor="t">
            <a:normAutofit/>
          </a:bodyPr>
          <a:lstStyle/>
          <a:p>
            <a:pPr marL="0" indent="0" algn="l">
              <a:lnSpc>
                <a:spcPct val="100000"/>
              </a:lnSpc>
              <a:spcBef>
                <a:spcPts val="0"/>
              </a:spcBef>
              <a:spcAft>
                <a:spcPts val="0"/>
              </a:spcAft>
              <a:buNone/>
            </a:pPr>
            <a:r>
              <a:rPr sz="1200" dirty="0">
                <a:solidFill>
                  <a:srgbClr val="444444"/>
                </a:solidFill>
                <a:latin typeface="Arial"/>
              </a:rPr>
              <a:t>The current router explicitly IW to S1TOPS and SM/S1…S6 to S1STRIP. WV is listed in the acquisition tables but not exposed as a dedicated branch, and ambiguous Sentinel names fall back to S1TOPS in </a:t>
            </a:r>
            <a:r>
              <a:rPr sz="1200" dirty="0" err="1">
                <a:solidFill>
                  <a:srgbClr val="444444"/>
                </a:solidFill>
                <a:latin typeface="Arial"/>
              </a:rPr>
              <a:t>infer_product_mode</a:t>
            </a:r>
            <a:r>
              <a:rPr sz="1200" dirty="0">
                <a:solidFill>
                  <a:srgbClr val="444444"/>
                </a:solidFill>
                <a:latin typeface="Arial"/>
              </a:rPr>
              <a:t>.</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356616"/>
            <a:ext cx="11109960" cy="0"/>
          </a:xfrm>
          <a:prstGeom prst="line">
            <a:avLst/>
          </a:prstGeom>
          <a:noFill/>
          <a:ln w="19050">
            <a:solidFill>
              <a:srgbClr val="4A4A4A"/>
            </a:solidFill>
            <a:prstDash val="solid"/>
          </a:ln>
        </p:spPr>
        <p:txBody>
          <a:bodyPr/>
          <a:lstStyle/>
          <a:p>
            <a:endParaRPr lang="en-US"/>
          </a:p>
        </p:txBody>
      </p:sp>
      <p:sp>
        <p:nvSpPr>
          <p:cNvPr id="3" name="Text 1"/>
          <p:cNvSpPr/>
          <p:nvPr/>
        </p:nvSpPr>
        <p:spPr>
          <a:xfrm>
            <a:off x="694944" y="512064"/>
            <a:ext cx="7863840" cy="457200"/>
          </a:xfrm>
          <a:prstGeom prst="rect">
            <a:avLst/>
          </a:prstGeom>
          <a:noFill/>
          <a:ln/>
        </p:spPr>
        <p:txBody>
          <a:bodyPr wrap="square" lIns="0" tIns="0" rIns="0" bIns="0" rtlCol="0" anchor="ctr">
            <a:normAutofit/>
          </a:bodyPr>
          <a:lstStyle/>
          <a:p>
            <a:pPr marL="0" indent="0">
              <a:buNone/>
            </a:pPr>
            <a:r>
              <a:rPr lang="en-US" sz="2700" b="1" dirty="0">
                <a:solidFill>
                  <a:srgbClr val="222222"/>
                </a:solidFill>
                <a:latin typeface="Arial" pitchFamily="34" charset="0"/>
                <a:ea typeface="Arial" pitchFamily="34" charset="-122"/>
                <a:cs typeface="Arial" pitchFamily="34" charset="-120"/>
              </a:rPr>
              <a:t>Sentinel-1 pipeline excerpt from worldsar.py</a:t>
            </a:r>
            <a:endParaRPr lang="en-US" sz="2700" dirty="0"/>
          </a:p>
        </p:txBody>
      </p:sp>
      <p:sp>
        <p:nvSpPr>
          <p:cNvPr id="4" name="Text 2"/>
          <p:cNvSpPr/>
          <p:nvPr/>
        </p:nvSpPr>
        <p:spPr>
          <a:xfrm>
            <a:off x="694944" y="987552"/>
            <a:ext cx="10424160" cy="256032"/>
          </a:xfrm>
          <a:prstGeom prst="rect">
            <a:avLst/>
          </a:prstGeom>
          <a:noFill/>
          <a:ln/>
        </p:spPr>
        <p:txBody>
          <a:bodyPr wrap="square" lIns="0" tIns="0" rIns="0" bIns="0" rtlCol="0" anchor="ctr">
            <a:normAutofit/>
          </a:bodyPr>
          <a:lstStyle/>
          <a:p>
            <a:pPr marL="0" indent="0">
              <a:spcBef>
                <a:spcPts val="0"/>
              </a:spcBef>
              <a:spcAft>
                <a:spcPts val="0"/>
              </a:spcAft>
              <a:buNone/>
            </a:pPr>
            <a:r>
              <a:rPr sz="1060">
                <a:solidFill>
                  <a:srgbClr val="666666"/>
                </a:solidFill>
                <a:latin typeface="Arial"/>
              </a:rPr>
              <a:t>Repository-faithful excerpt of the Sentinel-1 router and post-chain, reformatted for slide readability</a:t>
            </a:r>
            <a:endParaRPr lang="en-US" sz="1150" dirty="0"/>
          </a:p>
        </p:txBody>
      </p:sp>
      <p:sp>
        <p:nvSpPr>
          <p:cNvPr id="5" name="Text 3"/>
          <p:cNvSpPr/>
          <p:nvPr/>
        </p:nvSpPr>
        <p:spPr>
          <a:xfrm>
            <a:off x="749808" y="1426464"/>
            <a:ext cx="2377440" cy="219456"/>
          </a:xfrm>
          <a:prstGeom prst="rect">
            <a:avLst/>
          </a:prstGeom>
          <a:noFill/>
          <a:ln/>
        </p:spPr>
        <p:txBody>
          <a:bodyPr wrap="square" lIns="0" tIns="0" rIns="0" bIns="0" rtlCol="0" anchor="ctr">
            <a:normAutofit/>
          </a:bodyPr>
          <a:lstStyle/>
          <a:p>
            <a:pPr marL="0" indent="0">
              <a:buNone/>
            </a:pPr>
            <a:r>
              <a:rPr lang="en-US" sz="1080" b="1" dirty="0">
                <a:solidFill>
                  <a:srgbClr val="6E6E6E"/>
                </a:solidFill>
                <a:latin typeface="Arial" pitchFamily="34" charset="0"/>
                <a:ea typeface="Arial" pitchFamily="34" charset="-122"/>
                <a:cs typeface="Arial" pitchFamily="34" charset="-120"/>
              </a:rPr>
              <a:t>PIPELINE EXCERPT</a:t>
            </a:r>
            <a:endParaRPr lang="en-US" sz="1080" dirty="0"/>
          </a:p>
        </p:txBody>
      </p:sp>
      <p:sp>
        <p:nvSpPr>
          <p:cNvPr id="6" name="Shape 4"/>
          <p:cNvSpPr/>
          <p:nvPr/>
        </p:nvSpPr>
        <p:spPr>
          <a:xfrm>
            <a:off x="749808" y="1755648"/>
            <a:ext cx="6446520" cy="4709160"/>
          </a:xfrm>
          <a:prstGeom prst="roundRect">
            <a:avLst>
              <a:gd name="adj" fmla="val 1553"/>
            </a:avLst>
          </a:prstGeom>
          <a:solidFill>
            <a:srgbClr val="2F2F2F"/>
          </a:solidFill>
          <a:ln w="12700">
            <a:solidFill>
              <a:srgbClr val="2F2F2F"/>
            </a:solidFill>
            <a:prstDash val="solid"/>
          </a:ln>
        </p:spPr>
        <p:txBody>
          <a:bodyPr/>
          <a:lstStyle/>
          <a:p>
            <a:endParaRPr lang="en-US"/>
          </a:p>
        </p:txBody>
      </p:sp>
      <p:sp>
        <p:nvSpPr>
          <p:cNvPr id="7" name="Text 5"/>
          <p:cNvSpPr/>
          <p:nvPr/>
        </p:nvSpPr>
        <p:spPr>
          <a:xfrm>
            <a:off x="914400" y="1865376"/>
            <a:ext cx="6117336" cy="256032"/>
          </a:xfrm>
          <a:prstGeom prst="rect">
            <a:avLst/>
          </a:prstGeom>
          <a:noFill/>
          <a:ln/>
        </p:spPr>
        <p:txBody>
          <a:bodyPr wrap="square" lIns="0" tIns="0" rIns="0" bIns="0" rtlCol="0" anchor="ctr">
            <a:normAutofit/>
          </a:bodyPr>
          <a:lstStyle/>
          <a:p>
            <a:pPr marL="0" indent="0">
              <a:buNone/>
            </a:pPr>
            <a:r>
              <a:rPr lang="en-US" sz="1150" b="1" dirty="0">
                <a:solidFill>
                  <a:srgbClr val="92D050"/>
                </a:solidFill>
                <a:latin typeface="Arial" pitchFamily="34" charset="0"/>
                <a:ea typeface="Arial" pitchFamily="34" charset="-122"/>
                <a:cs typeface="Arial" pitchFamily="34" charset="-120"/>
              </a:rPr>
              <a:t>Sentinel branch (presentation-ready excerpt)</a:t>
            </a:r>
            <a:endParaRPr lang="en-US" sz="1150" dirty="0">
              <a:solidFill>
                <a:srgbClr val="92D050"/>
              </a:solidFill>
            </a:endParaRPr>
          </a:p>
        </p:txBody>
      </p:sp>
      <p:sp>
        <p:nvSpPr>
          <p:cNvPr id="8" name="Text 6"/>
          <p:cNvSpPr/>
          <p:nvPr/>
        </p:nvSpPr>
        <p:spPr>
          <a:xfrm>
            <a:off x="914400" y="2139696"/>
            <a:ext cx="6117336" cy="4197096"/>
          </a:xfrm>
          <a:prstGeom prst="rect">
            <a:avLst/>
          </a:prstGeom>
          <a:noFill/>
          <a:ln/>
        </p:spPr>
        <p:txBody>
          <a:bodyPr wrap="square" lIns="0" tIns="0" rIns="0" bIns="0" rtlCol="0" anchor="t">
            <a:normAutofit/>
          </a:bodyPr>
          <a:lstStyle/>
          <a:p>
            <a:pPr marL="0" indent="0" algn="l">
              <a:lnSpc>
                <a:spcPct val="100000"/>
              </a:lnSpc>
              <a:spcBef>
                <a:spcPts val="0"/>
              </a:spcBef>
              <a:spcAft>
                <a:spcPts val="0"/>
              </a:spcAft>
              <a:buNone/>
            </a:pPr>
            <a:r>
              <a:rPr sz="890">
                <a:solidFill>
                  <a:srgbClr val="F6F6F6"/>
                </a:solidFill>
                <a:latin typeface="Courier New"/>
              </a:rPr>
              <a:t>def _sentinel_post_chain(op):</a:t>
            </a:r>
            <a:endParaRPr lang="en-US" sz="1010" dirty="0"/>
          </a:p>
          <a:p>
            <a:pPr algn="l">
              <a:lnSpc>
                <a:spcPct val="100000"/>
              </a:lnSpc>
              <a:spcBef>
                <a:spcPts val="0"/>
              </a:spcBef>
              <a:spcAft>
                <a:spcPts val="0"/>
              </a:spcAft>
            </a:pPr>
            <a:r>
              <a:rPr sz="890">
                <a:solidFill>
                  <a:srgbClr val="F6F6F6"/>
                </a:solidFill>
                <a:latin typeface="Courier New"/>
              </a:rPr>
              <a:t>    op.ApplyOrbitFile()</a:t>
            </a:r>
          </a:p>
          <a:p>
            <a:pPr algn="l">
              <a:lnSpc>
                <a:spcPct val="100000"/>
              </a:lnSpc>
              <a:spcBef>
                <a:spcPts val="0"/>
              </a:spcBef>
              <a:spcAft>
                <a:spcPts val="0"/>
              </a:spcAft>
            </a:pPr>
            <a:r>
              <a:rPr sz="890">
                <a:solidFill>
                  <a:srgbClr val="F6F6F6"/>
                </a:solidFill>
                <a:latin typeface="Courier New"/>
              </a:rPr>
              <a:t>    op.Calibration(output_complex=True)</a:t>
            </a:r>
          </a:p>
          <a:p>
            <a:pPr algn="l">
              <a:lnSpc>
                <a:spcPct val="100000"/>
              </a:lnSpc>
              <a:spcBef>
                <a:spcPts val="0"/>
              </a:spcBef>
              <a:spcAft>
                <a:spcPts val="0"/>
              </a:spcAft>
            </a:pPr>
            <a:r>
              <a:rPr sz="890">
                <a:solidFill>
                  <a:srgbClr val="F6F6F6"/>
                </a:solidFill>
                <a:latin typeface="Courier New"/>
              </a:rPr>
              <a:t>    op.TopsarDerampDemod()</a:t>
            </a:r>
          </a:p>
          <a:p>
            <a:pPr algn="l">
              <a:lnSpc>
                <a:spcPct val="100000"/>
              </a:lnSpc>
              <a:spcBef>
                <a:spcPts val="0"/>
              </a:spcBef>
              <a:spcAft>
                <a:spcPts val="0"/>
              </a:spcAft>
            </a:pPr>
            <a:r>
              <a:rPr sz="890">
                <a:solidFill>
                  <a:srgbClr val="F6F6F6"/>
                </a:solidFill>
                <a:latin typeface="Courier New"/>
              </a:rPr>
              <a:t>    op.Deburst()</a:t>
            </a:r>
          </a:p>
          <a:p>
            <a:pPr algn="l">
              <a:lnSpc>
                <a:spcPct val="100000"/>
              </a:lnSpc>
              <a:spcBef>
                <a:spcPts val="0"/>
              </a:spcBef>
              <a:spcAft>
                <a:spcPts val="0"/>
              </a:spcAft>
            </a:pPr>
            <a:r>
              <a:rPr sz="890">
                <a:solidFill>
                  <a:srgbClr val="F6F6F6"/>
                </a:solidFill>
                <a:latin typeface="Courier New"/>
              </a:rPr>
              <a:t>    op.do_subaps(...)</a:t>
            </a:r>
          </a:p>
          <a:p>
            <a:pPr algn="l">
              <a:lnSpc>
                <a:spcPct val="100000"/>
              </a:lnSpc>
              <a:spcBef>
                <a:spcPts val="0"/>
              </a:spcBef>
              <a:spcAft>
                <a:spcPts val="0"/>
              </a:spcAft>
            </a:pPr>
            <a:r>
              <a:rPr sz="890">
                <a:solidFill>
                  <a:srgbClr val="F6F6F6"/>
                </a:solidFill>
                <a:latin typeface="Courier New"/>
              </a:rPr>
              <a:t>    op.polarimetric_decomposition(</a:t>
            </a:r>
          </a:p>
          <a:p>
            <a:pPr algn="l">
              <a:lnSpc>
                <a:spcPct val="100000"/>
              </a:lnSpc>
              <a:spcBef>
                <a:spcPts val="0"/>
              </a:spcBef>
              <a:spcAft>
                <a:spcPts val="0"/>
              </a:spcAft>
            </a:pPr>
            <a:r>
              <a:rPr sz="890">
                <a:solidFill>
                  <a:srgbClr val="F6F6F6"/>
                </a:solidFill>
                <a:latin typeface="Courier New"/>
              </a:rPr>
              <a:t>        decomposition="H-Alpha Dual Pol Decomposition",</a:t>
            </a:r>
          </a:p>
          <a:p>
            <a:pPr algn="l">
              <a:lnSpc>
                <a:spcPct val="100000"/>
              </a:lnSpc>
              <a:spcBef>
                <a:spcPts val="0"/>
              </a:spcBef>
              <a:spcAft>
                <a:spcPts val="0"/>
              </a:spcAft>
            </a:pPr>
            <a:r>
              <a:rPr sz="890">
                <a:solidFill>
                  <a:srgbClr val="F6F6F6"/>
                </a:solidFill>
                <a:latin typeface="Courier New"/>
              </a:rPr>
              <a:t>        window_size=5,</a:t>
            </a:r>
          </a:p>
          <a:p>
            <a:pPr algn="l">
              <a:lnSpc>
                <a:spcPct val="100000"/>
              </a:lnSpc>
              <a:spcBef>
                <a:spcPts val="0"/>
              </a:spcBef>
              <a:spcAft>
                <a:spcPts val="0"/>
              </a:spcAft>
            </a:pPr>
            <a:r>
              <a:rPr sz="890">
                <a:solidFill>
                  <a:srgbClr val="F6F6F6"/>
                </a:solidFill>
                <a:latin typeface="Courier New"/>
              </a:rPr>
              <a:t>    )</a:t>
            </a:r>
          </a:p>
          <a:p>
            <a:pPr algn="l">
              <a:lnSpc>
                <a:spcPct val="100000"/>
              </a:lnSpc>
              <a:spcBef>
                <a:spcPts val="0"/>
              </a:spcBef>
              <a:spcAft>
                <a:spcPts val="0"/>
              </a:spcAft>
            </a:pPr>
            <a:r>
              <a:rPr sz="890">
                <a:solidFill>
                  <a:srgbClr val="F6F6F6"/>
                </a:solidFill>
                <a:latin typeface="Courier New"/>
              </a:rPr>
              <a:t>    op.TerrainCorrection(</a:t>
            </a:r>
          </a:p>
          <a:p>
            <a:pPr algn="l">
              <a:lnSpc>
                <a:spcPct val="100000"/>
              </a:lnSpc>
              <a:spcBef>
                <a:spcPts val="0"/>
              </a:spcBef>
              <a:spcAft>
                <a:spcPts val="0"/>
              </a:spcAft>
            </a:pPr>
            <a:r>
              <a:rPr sz="890">
                <a:solidFill>
                  <a:srgbClr val="F6F6F6"/>
                </a:solidFill>
                <a:latin typeface="Courier New"/>
              </a:rPr>
              <a:t>        map_projection='AUTO:42001',</a:t>
            </a:r>
          </a:p>
          <a:p>
            <a:pPr algn="l">
              <a:lnSpc>
                <a:spcPct val="100000"/>
              </a:lnSpc>
              <a:spcBef>
                <a:spcPts val="0"/>
              </a:spcBef>
              <a:spcAft>
                <a:spcPts val="0"/>
              </a:spcAft>
            </a:pPr>
            <a:r>
              <a:rPr sz="890">
                <a:solidFill>
                  <a:srgbClr val="F6F6F6"/>
                </a:solidFill>
                <a:latin typeface="Courier New"/>
              </a:rPr>
              <a:t>        pixel_spacing_in_meter=10.0,</a:t>
            </a:r>
          </a:p>
          <a:p>
            <a:pPr algn="l">
              <a:lnSpc>
                <a:spcPct val="100000"/>
              </a:lnSpc>
              <a:spcBef>
                <a:spcPts val="0"/>
              </a:spcBef>
              <a:spcAft>
                <a:spcPts val="0"/>
              </a:spcAft>
            </a:pPr>
            <a:r>
              <a:rPr sz="890">
                <a:solidFill>
                  <a:srgbClr val="F6F6F6"/>
                </a:solidFill>
                <a:latin typeface="Courier New"/>
              </a:rPr>
              <a:t>    )</a:t>
            </a:r>
          </a:p>
          <a:p>
            <a:pPr algn="l">
              <a:lnSpc>
                <a:spcPct val="100000"/>
              </a:lnSpc>
              <a:spcBef>
                <a:spcPts val="0"/>
              </a:spcBef>
              <a:spcAft>
                <a:spcPts val="0"/>
              </a:spcAft>
            </a:pPr>
            <a:endParaRPr sz="890">
              <a:solidFill>
                <a:srgbClr val="F6F6F6"/>
              </a:solidFill>
              <a:latin typeface="Courier New"/>
            </a:endParaRPr>
          </a:p>
          <a:p>
            <a:pPr algn="l">
              <a:lnSpc>
                <a:spcPct val="100000"/>
              </a:lnSpc>
              <a:spcBef>
                <a:spcPts val="0"/>
              </a:spcBef>
              <a:spcAft>
                <a:spcPts val="0"/>
              </a:spcAft>
            </a:pPr>
            <a:r>
              <a:rPr sz="890">
                <a:solidFill>
                  <a:srgbClr val="F6F6F6"/>
                </a:solidFill>
                <a:latin typeface="Courier New"/>
              </a:rPr>
              <a:t>if is_TOPS:</a:t>
            </a:r>
          </a:p>
          <a:p>
            <a:pPr algn="l">
              <a:lnSpc>
                <a:spcPct val="100000"/>
              </a:lnSpc>
              <a:spcBef>
                <a:spcPts val="0"/>
              </a:spcBef>
              <a:spcAft>
                <a:spcPts val="0"/>
              </a:spcAft>
            </a:pPr>
            <a:r>
              <a:rPr sz="890">
                <a:solidFill>
                  <a:srgbClr val="F6F6F6"/>
                </a:solidFill>
                <a:latin typeface="Courier New"/>
              </a:rPr>
              <a:t>    for swath in ('IW1', 'IW2', 'IW3'):</a:t>
            </a:r>
          </a:p>
          <a:p>
            <a:pPr algn="l">
              <a:lnSpc>
                <a:spcPct val="100000"/>
              </a:lnSpc>
              <a:spcBef>
                <a:spcPts val="0"/>
              </a:spcBef>
              <a:spcAft>
                <a:spcPts val="0"/>
              </a:spcAft>
            </a:pPr>
            <a:r>
              <a:rPr sz="890">
                <a:solidFill>
                  <a:srgbClr val="F6F6F6"/>
                </a:solidFill>
                <a:latin typeface="Courier New"/>
              </a:rPr>
              <a:t>        sw_op.TopsarSplit(subswath=swath)</a:t>
            </a:r>
          </a:p>
          <a:p>
            <a:pPr algn="l">
              <a:lnSpc>
                <a:spcPct val="100000"/>
              </a:lnSpc>
              <a:spcBef>
                <a:spcPts val="0"/>
              </a:spcBef>
              <a:spcAft>
                <a:spcPts val="0"/>
              </a:spcAft>
            </a:pPr>
            <a:r>
              <a:rPr sz="890">
                <a:solidFill>
                  <a:srgbClr val="F6F6F6"/>
                </a:solidFill>
                <a:latin typeface="Courier New"/>
              </a:rPr>
              <a:t>        results[swath] = _sentinel_post_chain(sw_op)</a:t>
            </a:r>
          </a:p>
          <a:p>
            <a:pPr algn="l">
              <a:lnSpc>
                <a:spcPct val="100000"/>
              </a:lnSpc>
              <a:spcBef>
                <a:spcPts val="0"/>
              </a:spcBef>
              <a:spcAft>
                <a:spcPts val="0"/>
              </a:spcAft>
            </a:pPr>
            <a:r>
              <a:rPr sz="890">
                <a:solidFill>
                  <a:srgbClr val="F6F6F6"/>
                </a:solidFill>
                <a:latin typeface="Courier New"/>
              </a:rPr>
              <a:t>else:</a:t>
            </a:r>
          </a:p>
          <a:p>
            <a:pPr algn="l">
              <a:lnSpc>
                <a:spcPct val="100000"/>
              </a:lnSpc>
              <a:spcBef>
                <a:spcPts val="0"/>
              </a:spcBef>
              <a:spcAft>
                <a:spcPts val="0"/>
              </a:spcAft>
            </a:pPr>
            <a:r>
              <a:rPr sz="890">
                <a:solidFill>
                  <a:srgbClr val="F6F6F6"/>
                </a:solidFill>
                <a:latin typeface="Courier New"/>
              </a:rPr>
              <a:t>    op.ApplyOrbitFile(); op.Calibration(output_complex=True)</a:t>
            </a:r>
          </a:p>
          <a:p>
            <a:pPr algn="l">
              <a:lnSpc>
                <a:spcPct val="100000"/>
              </a:lnSpc>
              <a:spcBef>
                <a:spcPts val="0"/>
              </a:spcBef>
              <a:spcAft>
                <a:spcPts val="0"/>
              </a:spcAft>
            </a:pPr>
            <a:r>
              <a:rPr sz="890">
                <a:solidFill>
                  <a:srgbClr val="F6F6F6"/>
                </a:solidFill>
                <a:latin typeface="Courier New"/>
              </a:rPr>
              <a:t>    op.do_subaps(...); op.polarimetric_decomposition(...)</a:t>
            </a:r>
          </a:p>
          <a:p>
            <a:pPr algn="l">
              <a:lnSpc>
                <a:spcPct val="100000"/>
              </a:lnSpc>
              <a:spcBef>
                <a:spcPts val="0"/>
              </a:spcBef>
              <a:spcAft>
                <a:spcPts val="0"/>
              </a:spcAft>
            </a:pPr>
            <a:r>
              <a:rPr sz="890">
                <a:solidFill>
                  <a:srgbClr val="F6F6F6"/>
                </a:solidFill>
                <a:latin typeface="Courier New"/>
              </a:rPr>
              <a:t>    op.TerrainCorrection(map_projection='AUTO:42001',</a:t>
            </a:r>
          </a:p>
          <a:p>
            <a:pPr algn="l">
              <a:lnSpc>
                <a:spcPct val="100000"/>
              </a:lnSpc>
              <a:spcBef>
                <a:spcPts val="0"/>
              </a:spcBef>
              <a:spcAft>
                <a:spcPts val="0"/>
              </a:spcAft>
            </a:pPr>
            <a:r>
              <a:rPr sz="890">
                <a:solidFill>
                  <a:srgbClr val="F6F6F6"/>
                </a:solidFill>
                <a:latin typeface="Courier New"/>
              </a:rPr>
              <a:t>                         pixel_spacing_in_meter=10.0)</a:t>
            </a:r>
          </a:p>
        </p:txBody>
      </p:sp>
      <p:sp>
        <p:nvSpPr>
          <p:cNvPr id="9" name="Shape 7"/>
          <p:cNvSpPr/>
          <p:nvPr/>
        </p:nvSpPr>
        <p:spPr>
          <a:xfrm>
            <a:off x="7424928" y="1755648"/>
            <a:ext cx="4005072" cy="4709160"/>
          </a:xfrm>
          <a:prstGeom prst="roundRect">
            <a:avLst>
              <a:gd name="adj" fmla="val 1826"/>
            </a:avLst>
          </a:prstGeom>
          <a:solidFill>
            <a:srgbClr val="F6F6F6"/>
          </a:solidFill>
          <a:ln w="12700">
            <a:solidFill>
              <a:srgbClr val="C9C9C9"/>
            </a:solidFill>
            <a:prstDash val="solid"/>
          </a:ln>
        </p:spPr>
        <p:txBody>
          <a:bodyPr/>
          <a:lstStyle/>
          <a:p>
            <a:endParaRPr lang="en-US"/>
          </a:p>
        </p:txBody>
      </p:sp>
      <p:sp>
        <p:nvSpPr>
          <p:cNvPr id="10" name="Text 8"/>
          <p:cNvSpPr/>
          <p:nvPr/>
        </p:nvSpPr>
        <p:spPr>
          <a:xfrm>
            <a:off x="7626096" y="1901952"/>
            <a:ext cx="3602736" cy="256032"/>
          </a:xfrm>
          <a:prstGeom prst="rect">
            <a:avLst/>
          </a:prstGeom>
          <a:noFill/>
          <a:ln/>
        </p:spPr>
        <p:txBody>
          <a:bodyPr wrap="square" lIns="0" tIns="0" rIns="0" bIns="0" rtlCol="0" anchor="ctr">
            <a:normAutofit/>
          </a:bodyPr>
          <a:lstStyle/>
          <a:p>
            <a:pPr marL="0" indent="0">
              <a:buNone/>
            </a:pPr>
            <a:r>
              <a:rPr lang="en-US" sz="1320" b="1" dirty="0">
                <a:solidFill>
                  <a:srgbClr val="222222"/>
                </a:solidFill>
                <a:latin typeface="Arial" pitchFamily="34" charset="0"/>
                <a:ea typeface="Arial" pitchFamily="34" charset="-122"/>
                <a:cs typeface="Arial" pitchFamily="34" charset="-120"/>
              </a:rPr>
              <a:t>What each step is doing</a:t>
            </a:r>
            <a:endParaRPr lang="en-US" sz="1320" dirty="0"/>
          </a:p>
        </p:txBody>
      </p:sp>
      <p:sp>
        <p:nvSpPr>
          <p:cNvPr id="11" name="Shape 9"/>
          <p:cNvSpPr/>
          <p:nvPr/>
        </p:nvSpPr>
        <p:spPr>
          <a:xfrm>
            <a:off x="7626096" y="2240280"/>
            <a:ext cx="310896" cy="310896"/>
          </a:xfrm>
          <a:prstGeom prst="ellipse">
            <a:avLst/>
          </a:prstGeom>
          <a:solidFill>
            <a:srgbClr val="474747"/>
          </a:solidFill>
          <a:ln w="6350">
            <a:solidFill>
              <a:srgbClr val="474747"/>
            </a:solidFill>
            <a:prstDash val="solid"/>
          </a:ln>
        </p:spPr>
        <p:txBody>
          <a:bodyPr/>
          <a:lstStyle/>
          <a:p>
            <a:endParaRPr lang="en-US"/>
          </a:p>
        </p:txBody>
      </p:sp>
      <p:sp>
        <p:nvSpPr>
          <p:cNvPr id="12" name="Text 10"/>
          <p:cNvSpPr/>
          <p:nvPr/>
        </p:nvSpPr>
        <p:spPr>
          <a:xfrm>
            <a:off x="7626096" y="2258568"/>
            <a:ext cx="310896" cy="21945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3" name="Text 11"/>
          <p:cNvSpPr/>
          <p:nvPr/>
        </p:nvSpPr>
        <p:spPr>
          <a:xfrm>
            <a:off x="7991856" y="2221992"/>
            <a:ext cx="3145536" cy="402336"/>
          </a:xfrm>
          <a:prstGeom prst="rect">
            <a:avLst/>
          </a:prstGeom>
          <a:noFill/>
          <a:ln/>
        </p:spPr>
        <p:txBody>
          <a:bodyPr wrap="square" lIns="0" tIns="0" rIns="0" bIns="0" rtlCol="0" anchor="t">
            <a:normAutofit/>
          </a:bodyPr>
          <a:lstStyle/>
          <a:p>
            <a:pPr marL="0" indent="0" algn="l">
              <a:spcBef>
                <a:spcPts val="0"/>
              </a:spcBef>
              <a:spcAft>
                <a:spcPts val="0"/>
              </a:spcAft>
              <a:buNone/>
            </a:pPr>
            <a:r>
              <a:rPr sz="1050">
                <a:solidFill>
                  <a:srgbClr val="444444"/>
                </a:solidFill>
                <a:latin typeface="Arial"/>
              </a:rPr>
              <a:t>ApplyOrbitFile moves the product onto the refined orbit solution before any calibration or geocoding.</a:t>
            </a:r>
            <a:endParaRPr lang="en-US" sz="1040" dirty="0"/>
          </a:p>
        </p:txBody>
      </p:sp>
      <p:sp>
        <p:nvSpPr>
          <p:cNvPr id="14" name="Shape 12"/>
          <p:cNvSpPr/>
          <p:nvPr/>
        </p:nvSpPr>
        <p:spPr>
          <a:xfrm>
            <a:off x="7626096" y="2816352"/>
            <a:ext cx="310896" cy="310896"/>
          </a:xfrm>
          <a:prstGeom prst="ellipse">
            <a:avLst/>
          </a:prstGeom>
          <a:solidFill>
            <a:srgbClr val="474747"/>
          </a:solidFill>
          <a:ln w="6350">
            <a:solidFill>
              <a:srgbClr val="474747"/>
            </a:solidFill>
            <a:prstDash val="solid"/>
          </a:ln>
        </p:spPr>
        <p:txBody>
          <a:bodyPr/>
          <a:lstStyle/>
          <a:p>
            <a:endParaRPr lang="en-US"/>
          </a:p>
        </p:txBody>
      </p:sp>
      <p:sp>
        <p:nvSpPr>
          <p:cNvPr id="15" name="Text 13"/>
          <p:cNvSpPr/>
          <p:nvPr/>
        </p:nvSpPr>
        <p:spPr>
          <a:xfrm>
            <a:off x="7626096" y="2834640"/>
            <a:ext cx="310896" cy="21945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6" name="Text 14"/>
          <p:cNvSpPr/>
          <p:nvPr/>
        </p:nvSpPr>
        <p:spPr>
          <a:xfrm>
            <a:off x="7991856" y="2798064"/>
            <a:ext cx="3145536" cy="402336"/>
          </a:xfrm>
          <a:prstGeom prst="rect">
            <a:avLst/>
          </a:prstGeom>
          <a:noFill/>
          <a:ln/>
        </p:spPr>
        <p:txBody>
          <a:bodyPr wrap="square" lIns="0" tIns="0" rIns="0" bIns="0" rtlCol="0" anchor="t">
            <a:normAutofit fontScale="92500" lnSpcReduction="20000"/>
          </a:bodyPr>
          <a:lstStyle/>
          <a:p>
            <a:pPr marL="0" indent="0" algn="l">
              <a:spcBef>
                <a:spcPts val="0"/>
              </a:spcBef>
              <a:spcAft>
                <a:spcPts val="0"/>
              </a:spcAft>
              <a:buNone/>
            </a:pPr>
            <a:r>
              <a:rPr sz="1040">
                <a:solidFill>
                  <a:srgbClr val="444444"/>
                </a:solidFill>
                <a:latin typeface="Arial"/>
              </a:rPr>
              <a:t>Calibration(output_complex=True) preserves complex signal content so phase-aware follow-up steps remain valid.</a:t>
            </a:r>
            <a:endParaRPr lang="en-US" sz="1040" dirty="0"/>
          </a:p>
        </p:txBody>
      </p:sp>
      <p:sp>
        <p:nvSpPr>
          <p:cNvPr id="17" name="Shape 15"/>
          <p:cNvSpPr/>
          <p:nvPr/>
        </p:nvSpPr>
        <p:spPr>
          <a:xfrm>
            <a:off x="7626096" y="3392424"/>
            <a:ext cx="310896" cy="310896"/>
          </a:xfrm>
          <a:prstGeom prst="ellipse">
            <a:avLst/>
          </a:prstGeom>
          <a:solidFill>
            <a:srgbClr val="474747"/>
          </a:solidFill>
          <a:ln w="6350">
            <a:solidFill>
              <a:srgbClr val="474747"/>
            </a:solidFill>
            <a:prstDash val="solid"/>
          </a:ln>
        </p:spPr>
        <p:txBody>
          <a:bodyPr/>
          <a:lstStyle/>
          <a:p>
            <a:endParaRPr lang="en-US"/>
          </a:p>
        </p:txBody>
      </p:sp>
      <p:sp>
        <p:nvSpPr>
          <p:cNvPr id="18" name="Text 16"/>
          <p:cNvSpPr/>
          <p:nvPr/>
        </p:nvSpPr>
        <p:spPr>
          <a:xfrm>
            <a:off x="7626096" y="3410712"/>
            <a:ext cx="310896" cy="21945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9" name="Text 17"/>
          <p:cNvSpPr/>
          <p:nvPr/>
        </p:nvSpPr>
        <p:spPr>
          <a:xfrm>
            <a:off x="7991856" y="3374136"/>
            <a:ext cx="3145536" cy="402336"/>
          </a:xfrm>
          <a:prstGeom prst="rect">
            <a:avLst/>
          </a:prstGeom>
          <a:noFill/>
          <a:ln/>
        </p:spPr>
        <p:txBody>
          <a:bodyPr wrap="square" lIns="0" tIns="0" rIns="0" bIns="0" rtlCol="0" anchor="t">
            <a:normAutofit fontScale="92500" lnSpcReduction="10000"/>
          </a:bodyPr>
          <a:lstStyle/>
          <a:p>
            <a:pPr marL="0" indent="0" algn="l">
              <a:spcBef>
                <a:spcPts val="0"/>
              </a:spcBef>
              <a:spcAft>
                <a:spcPts val="0"/>
              </a:spcAft>
              <a:buNone/>
            </a:pPr>
            <a:r>
              <a:rPr sz="1000">
                <a:solidFill>
                  <a:srgbClr val="444444"/>
                </a:solidFill>
                <a:latin typeface="Arial"/>
              </a:rPr>
              <a:t>TopsarDerampDemod and Deburst exist only for TOPS data. They remove burst modulation and stitch bursts into a contiguous swath.</a:t>
            </a:r>
            <a:endParaRPr lang="en-US" sz="1040" dirty="0"/>
          </a:p>
        </p:txBody>
      </p:sp>
      <p:sp>
        <p:nvSpPr>
          <p:cNvPr id="20" name="Shape 18"/>
          <p:cNvSpPr/>
          <p:nvPr/>
        </p:nvSpPr>
        <p:spPr>
          <a:xfrm>
            <a:off x="7626096" y="3968496"/>
            <a:ext cx="310896" cy="310896"/>
          </a:xfrm>
          <a:prstGeom prst="ellipse">
            <a:avLst/>
          </a:prstGeom>
          <a:solidFill>
            <a:srgbClr val="474747"/>
          </a:solidFill>
          <a:ln w="6350">
            <a:solidFill>
              <a:srgbClr val="474747"/>
            </a:solidFill>
            <a:prstDash val="solid"/>
          </a:ln>
        </p:spPr>
        <p:txBody>
          <a:bodyPr/>
          <a:lstStyle/>
          <a:p>
            <a:endParaRPr lang="en-US"/>
          </a:p>
        </p:txBody>
      </p:sp>
      <p:sp>
        <p:nvSpPr>
          <p:cNvPr id="21" name="Text 19"/>
          <p:cNvSpPr/>
          <p:nvPr/>
        </p:nvSpPr>
        <p:spPr>
          <a:xfrm>
            <a:off x="7626096" y="3986784"/>
            <a:ext cx="310896" cy="21945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22" name="Text 20"/>
          <p:cNvSpPr/>
          <p:nvPr/>
        </p:nvSpPr>
        <p:spPr>
          <a:xfrm>
            <a:off x="7991856" y="3950208"/>
            <a:ext cx="3145536" cy="402336"/>
          </a:xfrm>
          <a:prstGeom prst="rect">
            <a:avLst/>
          </a:prstGeom>
          <a:noFill/>
          <a:ln/>
        </p:spPr>
        <p:txBody>
          <a:bodyPr wrap="square" lIns="0" tIns="0" rIns="0" bIns="0" rtlCol="0" anchor="t">
            <a:normAutofit fontScale="92500" lnSpcReduction="10000"/>
          </a:bodyPr>
          <a:lstStyle/>
          <a:p>
            <a:pPr marL="0" indent="0" algn="l">
              <a:spcBef>
                <a:spcPts val="0"/>
              </a:spcBef>
              <a:spcAft>
                <a:spcPts val="0"/>
              </a:spcAft>
              <a:buNone/>
            </a:pPr>
            <a:r>
              <a:rPr sz="980">
                <a:solidFill>
                  <a:srgbClr val="444444"/>
                </a:solidFill>
                <a:latin typeface="Arial"/>
              </a:rPr>
              <a:t>do_subaps is the SARPyX-specific stage: it creates sub-aperture products for directional diversity, motion sensitivity, and later science metrics.</a:t>
            </a:r>
            <a:endParaRPr lang="en-US" sz="1040" dirty="0"/>
          </a:p>
        </p:txBody>
      </p:sp>
      <p:sp>
        <p:nvSpPr>
          <p:cNvPr id="23" name="Shape 21"/>
          <p:cNvSpPr/>
          <p:nvPr/>
        </p:nvSpPr>
        <p:spPr>
          <a:xfrm>
            <a:off x="7626096" y="4544568"/>
            <a:ext cx="310896" cy="310896"/>
          </a:xfrm>
          <a:prstGeom prst="ellipse">
            <a:avLst/>
          </a:prstGeom>
          <a:solidFill>
            <a:srgbClr val="474747"/>
          </a:solidFill>
          <a:ln w="6350">
            <a:solidFill>
              <a:srgbClr val="474747"/>
            </a:solidFill>
            <a:prstDash val="solid"/>
          </a:ln>
        </p:spPr>
        <p:txBody>
          <a:bodyPr/>
          <a:lstStyle/>
          <a:p>
            <a:endParaRPr lang="en-US"/>
          </a:p>
        </p:txBody>
      </p:sp>
      <p:sp>
        <p:nvSpPr>
          <p:cNvPr id="24" name="Text 22"/>
          <p:cNvSpPr/>
          <p:nvPr/>
        </p:nvSpPr>
        <p:spPr>
          <a:xfrm>
            <a:off x="7626096" y="4562856"/>
            <a:ext cx="310896" cy="21945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25" name="Text 23"/>
          <p:cNvSpPr/>
          <p:nvPr/>
        </p:nvSpPr>
        <p:spPr>
          <a:xfrm>
            <a:off x="7991856" y="4526280"/>
            <a:ext cx="3145536" cy="402336"/>
          </a:xfrm>
          <a:prstGeom prst="rect">
            <a:avLst/>
          </a:prstGeom>
          <a:noFill/>
          <a:ln/>
        </p:spPr>
        <p:txBody>
          <a:bodyPr wrap="square" lIns="0" tIns="0" rIns="0" bIns="0" rtlCol="0" anchor="t">
            <a:normAutofit fontScale="92500" lnSpcReduction="10000"/>
          </a:bodyPr>
          <a:lstStyle/>
          <a:p>
            <a:pPr marL="0" indent="0" algn="l">
              <a:spcBef>
                <a:spcPts val="0"/>
              </a:spcBef>
              <a:spcAft>
                <a:spcPts val="0"/>
              </a:spcAft>
              <a:buNone/>
            </a:pPr>
            <a:r>
              <a:rPr sz="980">
                <a:solidFill>
                  <a:srgbClr val="444444"/>
                </a:solidFill>
                <a:latin typeface="Arial"/>
              </a:rPr>
              <a:t>H-Alpha Dual Pol Decomposition converts the calibrated signal into descriptive dual-pol features such as Entropy, Anisotropy, and Alpha.</a:t>
            </a:r>
            <a:endParaRPr lang="en-US" sz="1040" dirty="0"/>
          </a:p>
        </p:txBody>
      </p:sp>
      <p:sp>
        <p:nvSpPr>
          <p:cNvPr id="26" name="Shape 24"/>
          <p:cNvSpPr/>
          <p:nvPr/>
        </p:nvSpPr>
        <p:spPr>
          <a:xfrm>
            <a:off x="7626096" y="5120640"/>
            <a:ext cx="310896" cy="310896"/>
          </a:xfrm>
          <a:prstGeom prst="ellipse">
            <a:avLst/>
          </a:prstGeom>
          <a:solidFill>
            <a:srgbClr val="474747"/>
          </a:solidFill>
          <a:ln w="6350">
            <a:solidFill>
              <a:srgbClr val="474747"/>
            </a:solidFill>
            <a:prstDash val="solid"/>
          </a:ln>
        </p:spPr>
        <p:txBody>
          <a:bodyPr/>
          <a:lstStyle/>
          <a:p>
            <a:endParaRPr lang="en-US"/>
          </a:p>
        </p:txBody>
      </p:sp>
      <p:sp>
        <p:nvSpPr>
          <p:cNvPr id="27" name="Text 25"/>
          <p:cNvSpPr/>
          <p:nvPr/>
        </p:nvSpPr>
        <p:spPr>
          <a:xfrm>
            <a:off x="7626096" y="5138928"/>
            <a:ext cx="310896" cy="21945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6</a:t>
            </a:r>
            <a:endParaRPr lang="en-US" sz="1100" dirty="0"/>
          </a:p>
        </p:txBody>
      </p:sp>
      <p:sp>
        <p:nvSpPr>
          <p:cNvPr id="28" name="Text 26"/>
          <p:cNvSpPr/>
          <p:nvPr/>
        </p:nvSpPr>
        <p:spPr>
          <a:xfrm>
            <a:off x="7991856" y="5102352"/>
            <a:ext cx="3145536" cy="402336"/>
          </a:xfrm>
          <a:prstGeom prst="rect">
            <a:avLst/>
          </a:prstGeom>
          <a:noFill/>
          <a:ln/>
        </p:spPr>
        <p:txBody>
          <a:bodyPr wrap="square" lIns="0" tIns="0" rIns="0" bIns="0" rtlCol="0" anchor="t">
            <a:normAutofit fontScale="92500" lnSpcReduction="10000"/>
          </a:bodyPr>
          <a:lstStyle/>
          <a:p>
            <a:pPr marL="0" indent="0" algn="l">
              <a:spcBef>
                <a:spcPts val="0"/>
              </a:spcBef>
              <a:spcAft>
                <a:spcPts val="0"/>
              </a:spcAft>
              <a:buNone/>
            </a:pPr>
            <a:r>
              <a:rPr sz="990">
                <a:solidFill>
                  <a:srgbClr val="444444"/>
                </a:solidFill>
                <a:latin typeface="Arial"/>
              </a:rPr>
              <a:t>TerrainCorrection projects the result to map space at 10 m pixel spacing, which is what makes grid-based tile cutting straightforward.</a:t>
            </a:r>
            <a:endParaRPr lang="en-US" sz="1040" dirty="0"/>
          </a:p>
        </p:txBody>
      </p:sp>
      <p:sp>
        <p:nvSpPr>
          <p:cNvPr id="29" name="Text 27"/>
          <p:cNvSpPr/>
          <p:nvPr/>
        </p:nvSpPr>
        <p:spPr>
          <a:xfrm>
            <a:off x="7626096" y="5843016"/>
            <a:ext cx="3566160" cy="310896"/>
          </a:xfrm>
          <a:prstGeom prst="rect">
            <a:avLst/>
          </a:prstGeom>
          <a:noFill/>
          <a:ln/>
        </p:spPr>
        <p:txBody>
          <a:bodyPr wrap="square" lIns="0" tIns="0" rIns="0" bIns="0" rtlCol="0" anchor="t">
            <a:normAutofit fontScale="85000" lnSpcReduction="20000"/>
          </a:bodyPr>
          <a:lstStyle/>
          <a:p>
            <a:pPr marL="0" indent="0" algn="l">
              <a:spcBef>
                <a:spcPts val="0"/>
              </a:spcBef>
              <a:spcAft>
                <a:spcPts val="0"/>
              </a:spcAft>
              <a:buNone/>
            </a:pPr>
            <a:r>
              <a:rPr sz="960">
                <a:solidFill>
                  <a:srgbClr val="444444"/>
                </a:solidFill>
                <a:latin typeface="Arial"/>
              </a:rPr>
              <a:t>TOPS adds TopsarSplit, Deramp/Demod, and Deburst per subswath; STRIP keeps the same orbit → calibration → sub-aperture → decomposition → terrain-correction core without those TOPS-only steps.</a:t>
            </a:r>
            <a:endParaRPr lang="en-US" sz="106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356616"/>
            <a:ext cx="11109960" cy="0"/>
          </a:xfrm>
          <a:prstGeom prst="line">
            <a:avLst/>
          </a:prstGeom>
          <a:noFill/>
          <a:ln w="19050">
            <a:solidFill>
              <a:srgbClr val="4A4A4A"/>
            </a:solidFill>
            <a:prstDash val="solid"/>
          </a:ln>
        </p:spPr>
        <p:txBody>
          <a:bodyPr/>
          <a:lstStyle/>
          <a:p>
            <a:endParaRPr lang="en-US"/>
          </a:p>
        </p:txBody>
      </p:sp>
      <p:sp>
        <p:nvSpPr>
          <p:cNvPr id="3" name="Text 1"/>
          <p:cNvSpPr/>
          <p:nvPr/>
        </p:nvSpPr>
        <p:spPr>
          <a:xfrm>
            <a:off x="694944" y="512064"/>
            <a:ext cx="7863840" cy="457200"/>
          </a:xfrm>
          <a:prstGeom prst="rect">
            <a:avLst/>
          </a:prstGeom>
          <a:noFill/>
          <a:ln/>
        </p:spPr>
        <p:txBody>
          <a:bodyPr wrap="square" lIns="0" tIns="0" rIns="0" bIns="0" rtlCol="0" anchor="ctr">
            <a:normAutofit/>
          </a:bodyPr>
          <a:lstStyle/>
          <a:p>
            <a:pPr marL="0" indent="0">
              <a:buNone/>
            </a:pPr>
            <a:r>
              <a:rPr lang="en-US" sz="2700" b="1" dirty="0">
                <a:solidFill>
                  <a:srgbClr val="222222"/>
                </a:solidFill>
                <a:latin typeface="Arial" pitchFamily="34" charset="0"/>
                <a:ea typeface="Arial" pitchFamily="34" charset="-122"/>
                <a:cs typeface="Arial" pitchFamily="34" charset="-120"/>
              </a:rPr>
              <a:t>TOPS and STRIP execute differently on purpose</a:t>
            </a:r>
            <a:endParaRPr lang="en-US" sz="2700" dirty="0"/>
          </a:p>
        </p:txBody>
      </p:sp>
      <p:sp>
        <p:nvSpPr>
          <p:cNvPr id="4" name="Text 2"/>
          <p:cNvSpPr/>
          <p:nvPr/>
        </p:nvSpPr>
        <p:spPr>
          <a:xfrm>
            <a:off x="694944" y="987552"/>
            <a:ext cx="10424160" cy="256032"/>
          </a:xfrm>
          <a:prstGeom prst="rect">
            <a:avLst/>
          </a:prstGeom>
          <a:noFill/>
          <a:ln/>
        </p:spPr>
        <p:txBody>
          <a:bodyPr wrap="square" lIns="0" tIns="0" rIns="0" bIns="0" rtlCol="0" anchor="ctr">
            <a:normAutofit/>
          </a:bodyPr>
          <a:lstStyle/>
          <a:p>
            <a:pPr marL="0" indent="0">
              <a:buNone/>
            </a:pPr>
            <a:r>
              <a:rPr lang="en-US" sz="1150" dirty="0">
                <a:solidFill>
                  <a:srgbClr val="6E6E6E"/>
                </a:solidFill>
                <a:latin typeface="Arial" pitchFamily="34" charset="0"/>
                <a:ea typeface="Arial" pitchFamily="34" charset="-122"/>
                <a:cs typeface="Arial" pitchFamily="34" charset="-120"/>
              </a:rPr>
              <a:t>The two Sentinel paths diverge only where the acquisition geometry demands it</a:t>
            </a:r>
            <a:endParaRPr lang="en-US" sz="1150" dirty="0"/>
          </a:p>
        </p:txBody>
      </p:sp>
      <p:sp>
        <p:nvSpPr>
          <p:cNvPr id="5" name="Text 3"/>
          <p:cNvSpPr/>
          <p:nvPr/>
        </p:nvSpPr>
        <p:spPr>
          <a:xfrm>
            <a:off x="658368" y="82296"/>
            <a:ext cx="2011680" cy="219456"/>
          </a:xfrm>
          <a:prstGeom prst="rect">
            <a:avLst/>
          </a:prstGeom>
          <a:noFill/>
          <a:ln/>
        </p:spPr>
        <p:txBody>
          <a:bodyPr wrap="square" lIns="0" tIns="0" rIns="0" bIns="0" rtlCol="0" anchor="ctr">
            <a:normAutofit/>
          </a:bodyPr>
          <a:lstStyle/>
          <a:p>
            <a:pPr marL="0" indent="0">
              <a:buNone/>
            </a:pPr>
            <a:r>
              <a:rPr lang="en-US" sz="1080" b="1" dirty="0">
                <a:solidFill>
                  <a:srgbClr val="6E6E6E"/>
                </a:solidFill>
                <a:latin typeface="Arial" pitchFamily="34" charset="0"/>
                <a:ea typeface="Arial" pitchFamily="34" charset="-122"/>
                <a:cs typeface="Arial" pitchFamily="34" charset="-120"/>
              </a:rPr>
              <a:t>EXECUTION GRAPH</a:t>
            </a:r>
            <a:endParaRPr lang="en-US" sz="1080" dirty="0"/>
          </a:p>
        </p:txBody>
      </p:sp>
      <p:sp>
        <p:nvSpPr>
          <p:cNvPr id="6" name="Shape 4"/>
          <p:cNvSpPr/>
          <p:nvPr/>
        </p:nvSpPr>
        <p:spPr>
          <a:xfrm>
            <a:off x="2670048" y="2066544"/>
            <a:ext cx="0" cy="347472"/>
          </a:xfrm>
          <a:prstGeom prst="line">
            <a:avLst/>
          </a:prstGeom>
          <a:noFill/>
          <a:ln w="19050">
            <a:solidFill>
              <a:srgbClr val="C9C9C9"/>
            </a:solidFill>
            <a:prstDash val="solid"/>
            <a:tailEnd type="triangle"/>
          </a:ln>
        </p:spPr>
        <p:txBody>
          <a:bodyPr/>
          <a:lstStyle/>
          <a:p>
            <a:endParaRPr lang="en-US"/>
          </a:p>
        </p:txBody>
      </p:sp>
      <p:sp>
        <p:nvSpPr>
          <p:cNvPr id="7" name="Shape 5"/>
          <p:cNvSpPr/>
          <p:nvPr/>
        </p:nvSpPr>
        <p:spPr>
          <a:xfrm>
            <a:off x="2670048" y="2816352"/>
            <a:ext cx="0" cy="347472"/>
          </a:xfrm>
          <a:prstGeom prst="line">
            <a:avLst/>
          </a:prstGeom>
          <a:noFill/>
          <a:ln w="19050">
            <a:solidFill>
              <a:srgbClr val="C9C9C9"/>
            </a:solidFill>
            <a:prstDash val="solid"/>
            <a:tailEnd type="triangle"/>
          </a:ln>
        </p:spPr>
        <p:txBody>
          <a:bodyPr/>
          <a:lstStyle/>
          <a:p>
            <a:endParaRPr lang="en-US"/>
          </a:p>
        </p:txBody>
      </p:sp>
      <p:sp>
        <p:nvSpPr>
          <p:cNvPr id="8" name="Shape 6"/>
          <p:cNvSpPr/>
          <p:nvPr/>
        </p:nvSpPr>
        <p:spPr>
          <a:xfrm>
            <a:off x="2670048" y="3566160"/>
            <a:ext cx="0" cy="347472"/>
          </a:xfrm>
          <a:prstGeom prst="line">
            <a:avLst/>
          </a:prstGeom>
          <a:noFill/>
          <a:ln w="19050">
            <a:solidFill>
              <a:srgbClr val="C9C9C9"/>
            </a:solidFill>
            <a:prstDash val="solid"/>
            <a:tailEnd type="triangle"/>
          </a:ln>
        </p:spPr>
        <p:txBody>
          <a:bodyPr/>
          <a:lstStyle/>
          <a:p>
            <a:endParaRPr lang="en-US"/>
          </a:p>
        </p:txBody>
      </p:sp>
      <p:sp>
        <p:nvSpPr>
          <p:cNvPr id="9" name="Shape 7"/>
          <p:cNvSpPr/>
          <p:nvPr/>
        </p:nvSpPr>
        <p:spPr>
          <a:xfrm>
            <a:off x="2670048" y="4315968"/>
            <a:ext cx="0" cy="347472"/>
          </a:xfrm>
          <a:prstGeom prst="line">
            <a:avLst/>
          </a:prstGeom>
          <a:noFill/>
          <a:ln w="19050">
            <a:solidFill>
              <a:srgbClr val="C9C9C9"/>
            </a:solidFill>
            <a:prstDash val="solid"/>
            <a:tailEnd type="triangle"/>
          </a:ln>
        </p:spPr>
        <p:txBody>
          <a:bodyPr/>
          <a:lstStyle/>
          <a:p>
            <a:endParaRPr lang="en-US"/>
          </a:p>
        </p:txBody>
      </p:sp>
      <p:sp>
        <p:nvSpPr>
          <p:cNvPr id="10" name="Shape 8"/>
          <p:cNvSpPr/>
          <p:nvPr/>
        </p:nvSpPr>
        <p:spPr>
          <a:xfrm>
            <a:off x="2670048" y="5065776"/>
            <a:ext cx="0" cy="347472"/>
          </a:xfrm>
          <a:prstGeom prst="line">
            <a:avLst/>
          </a:prstGeom>
          <a:noFill/>
          <a:ln w="19050">
            <a:solidFill>
              <a:srgbClr val="C9C9C9"/>
            </a:solidFill>
            <a:prstDash val="solid"/>
            <a:tailEnd type="triangle"/>
          </a:ln>
        </p:spPr>
        <p:txBody>
          <a:bodyPr/>
          <a:lstStyle/>
          <a:p>
            <a:endParaRPr lang="en-US"/>
          </a:p>
        </p:txBody>
      </p:sp>
      <p:sp>
        <p:nvSpPr>
          <p:cNvPr id="11" name="Shape 9"/>
          <p:cNvSpPr/>
          <p:nvPr/>
        </p:nvSpPr>
        <p:spPr>
          <a:xfrm>
            <a:off x="2670048" y="5815584"/>
            <a:ext cx="0" cy="292608"/>
          </a:xfrm>
          <a:prstGeom prst="line">
            <a:avLst/>
          </a:prstGeom>
          <a:noFill/>
          <a:ln w="19050">
            <a:solidFill>
              <a:srgbClr val="C9C9C9"/>
            </a:solidFill>
            <a:prstDash val="solid"/>
            <a:tailEnd type="triangle"/>
          </a:ln>
        </p:spPr>
        <p:txBody>
          <a:bodyPr/>
          <a:lstStyle/>
          <a:p>
            <a:endParaRPr lang="en-US"/>
          </a:p>
        </p:txBody>
      </p:sp>
      <p:sp>
        <p:nvSpPr>
          <p:cNvPr id="12" name="Shape 10"/>
          <p:cNvSpPr/>
          <p:nvPr/>
        </p:nvSpPr>
        <p:spPr>
          <a:xfrm>
            <a:off x="9034272" y="2066544"/>
            <a:ext cx="0" cy="347472"/>
          </a:xfrm>
          <a:prstGeom prst="line">
            <a:avLst/>
          </a:prstGeom>
          <a:noFill/>
          <a:ln w="19050">
            <a:solidFill>
              <a:srgbClr val="C9C9C9"/>
            </a:solidFill>
            <a:prstDash val="solid"/>
            <a:tailEnd type="triangle"/>
          </a:ln>
        </p:spPr>
        <p:txBody>
          <a:bodyPr/>
          <a:lstStyle/>
          <a:p>
            <a:endParaRPr lang="en-US"/>
          </a:p>
        </p:txBody>
      </p:sp>
      <p:sp>
        <p:nvSpPr>
          <p:cNvPr id="13" name="Shape 11"/>
          <p:cNvSpPr/>
          <p:nvPr/>
        </p:nvSpPr>
        <p:spPr>
          <a:xfrm>
            <a:off x="9034272" y="2816352"/>
            <a:ext cx="0" cy="347472"/>
          </a:xfrm>
          <a:prstGeom prst="line">
            <a:avLst/>
          </a:prstGeom>
          <a:noFill/>
          <a:ln w="19050">
            <a:solidFill>
              <a:srgbClr val="C9C9C9"/>
            </a:solidFill>
            <a:prstDash val="solid"/>
            <a:tailEnd type="triangle"/>
          </a:ln>
        </p:spPr>
        <p:txBody>
          <a:bodyPr/>
          <a:lstStyle/>
          <a:p>
            <a:endParaRPr lang="en-US"/>
          </a:p>
        </p:txBody>
      </p:sp>
      <p:sp>
        <p:nvSpPr>
          <p:cNvPr id="14" name="Shape 12"/>
          <p:cNvSpPr/>
          <p:nvPr/>
        </p:nvSpPr>
        <p:spPr>
          <a:xfrm>
            <a:off x="9034272" y="3566160"/>
            <a:ext cx="0" cy="347472"/>
          </a:xfrm>
          <a:prstGeom prst="line">
            <a:avLst/>
          </a:prstGeom>
          <a:noFill/>
          <a:ln w="19050">
            <a:solidFill>
              <a:srgbClr val="C9C9C9"/>
            </a:solidFill>
            <a:prstDash val="solid"/>
            <a:tailEnd type="triangle"/>
          </a:ln>
        </p:spPr>
        <p:txBody>
          <a:bodyPr/>
          <a:lstStyle/>
          <a:p>
            <a:endParaRPr lang="en-US"/>
          </a:p>
        </p:txBody>
      </p:sp>
      <p:sp>
        <p:nvSpPr>
          <p:cNvPr id="15" name="Shape 13"/>
          <p:cNvSpPr/>
          <p:nvPr/>
        </p:nvSpPr>
        <p:spPr>
          <a:xfrm>
            <a:off x="9034272" y="4315968"/>
            <a:ext cx="0" cy="347472"/>
          </a:xfrm>
          <a:prstGeom prst="line">
            <a:avLst/>
          </a:prstGeom>
          <a:noFill/>
          <a:ln w="19050">
            <a:solidFill>
              <a:srgbClr val="C9C9C9"/>
            </a:solidFill>
            <a:prstDash val="solid"/>
            <a:tailEnd type="triangle"/>
          </a:ln>
        </p:spPr>
        <p:txBody>
          <a:bodyPr/>
          <a:lstStyle/>
          <a:p>
            <a:endParaRPr lang="en-US"/>
          </a:p>
        </p:txBody>
      </p:sp>
      <p:sp>
        <p:nvSpPr>
          <p:cNvPr id="16" name="Shape 14"/>
          <p:cNvSpPr/>
          <p:nvPr/>
        </p:nvSpPr>
        <p:spPr>
          <a:xfrm>
            <a:off x="9034272" y="5065776"/>
            <a:ext cx="0" cy="347472"/>
          </a:xfrm>
          <a:prstGeom prst="line">
            <a:avLst/>
          </a:prstGeom>
          <a:noFill/>
          <a:ln w="19050">
            <a:solidFill>
              <a:srgbClr val="C9C9C9"/>
            </a:solidFill>
            <a:prstDash val="solid"/>
            <a:tailEnd type="triangle"/>
          </a:ln>
        </p:spPr>
        <p:txBody>
          <a:bodyPr/>
          <a:lstStyle/>
          <a:p>
            <a:endParaRPr lang="en-US"/>
          </a:p>
        </p:txBody>
      </p:sp>
      <p:sp>
        <p:nvSpPr>
          <p:cNvPr id="17" name="Shape 15"/>
          <p:cNvSpPr/>
          <p:nvPr/>
        </p:nvSpPr>
        <p:spPr>
          <a:xfrm>
            <a:off x="749808" y="1243584"/>
            <a:ext cx="5394960" cy="5303520"/>
          </a:xfrm>
          <a:prstGeom prst="roundRect">
            <a:avLst>
              <a:gd name="adj" fmla="val 1527"/>
            </a:avLst>
          </a:prstGeom>
          <a:solidFill>
            <a:srgbClr val="F6F6F6"/>
          </a:solidFill>
          <a:ln w="12700">
            <a:solidFill>
              <a:srgbClr val="C9C9C9"/>
            </a:solidFill>
            <a:prstDash val="solid"/>
          </a:ln>
        </p:spPr>
        <p:txBody>
          <a:bodyPr/>
          <a:lstStyle/>
          <a:p>
            <a:endParaRPr lang="en-US"/>
          </a:p>
        </p:txBody>
      </p:sp>
      <p:sp>
        <p:nvSpPr>
          <p:cNvPr id="18" name="Text 16"/>
          <p:cNvSpPr/>
          <p:nvPr/>
        </p:nvSpPr>
        <p:spPr>
          <a:xfrm>
            <a:off x="4361688" y="1316736"/>
            <a:ext cx="4846320" cy="256032"/>
          </a:xfrm>
          <a:prstGeom prst="rect">
            <a:avLst/>
          </a:prstGeom>
          <a:noFill/>
          <a:ln/>
        </p:spPr>
        <p:txBody>
          <a:bodyPr wrap="square" lIns="0" tIns="0" rIns="0" bIns="0" rtlCol="0" anchor="ctr">
            <a:normAutofit/>
          </a:bodyPr>
          <a:lstStyle/>
          <a:p>
            <a:pPr marL="0" indent="0">
              <a:buNone/>
            </a:pPr>
            <a:r>
              <a:rPr lang="en-US" sz="1340" b="1" dirty="0">
                <a:solidFill>
                  <a:srgbClr val="222222"/>
                </a:solidFill>
                <a:latin typeface="Arial" pitchFamily="34" charset="0"/>
                <a:ea typeface="Arial" pitchFamily="34" charset="-122"/>
                <a:cs typeface="Arial" pitchFamily="34" charset="-120"/>
              </a:rPr>
              <a:t>TOPS lane (IW / EW)</a:t>
            </a:r>
            <a:endParaRPr lang="en-US" sz="1340" dirty="0"/>
          </a:p>
        </p:txBody>
      </p:sp>
      <p:sp>
        <p:nvSpPr>
          <p:cNvPr id="19" name="Shape 17"/>
          <p:cNvSpPr/>
          <p:nvPr/>
        </p:nvSpPr>
        <p:spPr>
          <a:xfrm>
            <a:off x="1755648" y="1426464"/>
            <a:ext cx="1828800" cy="402336"/>
          </a:xfrm>
          <a:prstGeom prst="roundRect">
            <a:avLst>
              <a:gd name="adj" fmla="val 18182"/>
            </a:avLst>
          </a:prstGeom>
          <a:solidFill>
            <a:srgbClr val="F6F6F6"/>
          </a:solidFill>
          <a:ln w="12700">
            <a:solidFill>
              <a:srgbClr val="C9C9C9"/>
            </a:solidFill>
            <a:prstDash val="solid"/>
          </a:ln>
        </p:spPr>
        <p:txBody>
          <a:bodyPr/>
          <a:lstStyle/>
          <a:p>
            <a:endParaRPr lang="en-US"/>
          </a:p>
        </p:txBody>
      </p:sp>
      <p:sp>
        <p:nvSpPr>
          <p:cNvPr id="20" name="Text 18"/>
          <p:cNvSpPr/>
          <p:nvPr/>
        </p:nvSpPr>
        <p:spPr>
          <a:xfrm>
            <a:off x="1901952" y="1554480"/>
            <a:ext cx="1536192" cy="237744"/>
          </a:xfrm>
          <a:prstGeom prst="rect">
            <a:avLst/>
          </a:prstGeom>
          <a:noFill/>
          <a:ln/>
        </p:spPr>
        <p:txBody>
          <a:bodyPr wrap="square" lIns="0" tIns="0" rIns="0" bIns="0" rtlCol="0" anchor="t">
            <a:normAutofit/>
          </a:bodyPr>
          <a:lstStyle/>
          <a:p>
            <a:pPr marL="0" indent="0" algn="l">
              <a:buNone/>
            </a:pPr>
            <a:r>
              <a:rPr lang="en-US" sz="1060" b="1" dirty="0">
                <a:solidFill>
                  <a:srgbClr val="222222"/>
                </a:solidFill>
                <a:latin typeface="Arial" pitchFamily="34" charset="0"/>
                <a:ea typeface="Arial" pitchFamily="34" charset="-122"/>
                <a:cs typeface="Arial" pitchFamily="34" charset="-120"/>
              </a:rPr>
              <a:t>SAFE input</a:t>
            </a:r>
            <a:endParaRPr lang="en-US" sz="1060" dirty="0"/>
          </a:p>
        </p:txBody>
      </p:sp>
      <p:sp>
        <p:nvSpPr>
          <p:cNvPr id="21" name="Shape 19"/>
          <p:cNvSpPr/>
          <p:nvPr/>
        </p:nvSpPr>
        <p:spPr>
          <a:xfrm>
            <a:off x="1755648" y="2176272"/>
            <a:ext cx="1828800" cy="402336"/>
          </a:xfrm>
          <a:prstGeom prst="roundRect">
            <a:avLst>
              <a:gd name="adj" fmla="val 18182"/>
            </a:avLst>
          </a:prstGeom>
          <a:solidFill>
            <a:srgbClr val="F6F6F6"/>
          </a:solidFill>
          <a:ln w="12700">
            <a:solidFill>
              <a:srgbClr val="C9C9C9"/>
            </a:solidFill>
            <a:prstDash val="solid"/>
          </a:ln>
        </p:spPr>
        <p:txBody>
          <a:bodyPr/>
          <a:lstStyle/>
          <a:p>
            <a:endParaRPr lang="en-US"/>
          </a:p>
        </p:txBody>
      </p:sp>
      <p:sp>
        <p:nvSpPr>
          <p:cNvPr id="22" name="Text 20"/>
          <p:cNvSpPr/>
          <p:nvPr/>
        </p:nvSpPr>
        <p:spPr>
          <a:xfrm>
            <a:off x="1901952" y="2212848"/>
            <a:ext cx="1536192" cy="329184"/>
          </a:xfrm>
          <a:prstGeom prst="rect">
            <a:avLst/>
          </a:prstGeom>
          <a:noFill/>
          <a:ln/>
        </p:spPr>
        <p:txBody>
          <a:bodyPr wrap="square" lIns="0" tIns="0" rIns="0" bIns="0" rtlCol="0" anchor="t">
            <a:normAutofit/>
          </a:bodyPr>
          <a:lstStyle/>
          <a:p>
            <a:pPr marL="0" indent="0" algn="l">
              <a:buNone/>
            </a:pPr>
            <a:r>
              <a:rPr lang="en-US" sz="1000" b="1" dirty="0">
                <a:solidFill>
                  <a:srgbClr val="222222"/>
                </a:solidFill>
                <a:latin typeface="Arial" pitchFamily="34" charset="0"/>
                <a:ea typeface="Arial" pitchFamily="34" charset="-122"/>
                <a:cs typeface="Arial" pitchFamily="34" charset="-120"/>
              </a:rPr>
              <a:t>TopsarSplit</a:t>
            </a:r>
            <a:endParaRPr lang="en-US" sz="1000" dirty="0"/>
          </a:p>
          <a:p>
            <a:pPr marL="0" indent="0" algn="l">
              <a:buNone/>
            </a:pPr>
            <a:r>
              <a:rPr lang="en-US" sz="1000" b="1" dirty="0">
                <a:solidFill>
                  <a:srgbClr val="222222"/>
                </a:solidFill>
                <a:latin typeface="Arial" pitchFamily="34" charset="0"/>
                <a:ea typeface="Arial" pitchFamily="34" charset="-122"/>
                <a:cs typeface="Arial" pitchFamily="34" charset="-120"/>
              </a:rPr>
              <a:t>IW1 · IW2 · IW3</a:t>
            </a:r>
            <a:endParaRPr lang="en-US" sz="1000" dirty="0"/>
          </a:p>
        </p:txBody>
      </p:sp>
      <p:sp>
        <p:nvSpPr>
          <p:cNvPr id="23" name="Shape 21"/>
          <p:cNvSpPr/>
          <p:nvPr/>
        </p:nvSpPr>
        <p:spPr>
          <a:xfrm>
            <a:off x="1755648" y="2926080"/>
            <a:ext cx="1828800" cy="402336"/>
          </a:xfrm>
          <a:prstGeom prst="roundRect">
            <a:avLst>
              <a:gd name="adj" fmla="val 18182"/>
            </a:avLst>
          </a:prstGeom>
          <a:solidFill>
            <a:srgbClr val="F6F6F6"/>
          </a:solidFill>
          <a:ln w="12700">
            <a:solidFill>
              <a:srgbClr val="C9C9C9"/>
            </a:solidFill>
            <a:prstDash val="solid"/>
          </a:ln>
        </p:spPr>
        <p:txBody>
          <a:bodyPr/>
          <a:lstStyle/>
          <a:p>
            <a:endParaRPr lang="en-US"/>
          </a:p>
        </p:txBody>
      </p:sp>
      <p:sp>
        <p:nvSpPr>
          <p:cNvPr id="24" name="Text 22"/>
          <p:cNvSpPr/>
          <p:nvPr/>
        </p:nvSpPr>
        <p:spPr>
          <a:xfrm>
            <a:off x="1901952" y="3035808"/>
            <a:ext cx="1536192" cy="237744"/>
          </a:xfrm>
          <a:prstGeom prst="rect">
            <a:avLst/>
          </a:prstGeom>
          <a:noFill/>
          <a:ln/>
        </p:spPr>
        <p:txBody>
          <a:bodyPr wrap="square" lIns="0" tIns="0" rIns="0" bIns="0" rtlCol="0" anchor="t">
            <a:normAutofit fontScale="85000" lnSpcReduction="20000"/>
          </a:bodyPr>
          <a:lstStyle/>
          <a:p>
            <a:pPr marL="0" indent="0" algn="l">
              <a:buNone/>
            </a:pPr>
            <a:r>
              <a:rPr lang="en-US" sz="1060" b="1" dirty="0">
                <a:solidFill>
                  <a:srgbClr val="222222"/>
                </a:solidFill>
                <a:latin typeface="Arial" pitchFamily="34" charset="0"/>
                <a:ea typeface="Arial" pitchFamily="34" charset="-122"/>
                <a:cs typeface="Arial" pitchFamily="34" charset="-120"/>
              </a:rPr>
              <a:t>ApplyOrbitFile</a:t>
            </a:r>
            <a:endParaRPr lang="en-US" sz="1060" dirty="0"/>
          </a:p>
          <a:p>
            <a:pPr marL="0" indent="0" algn="l">
              <a:buNone/>
            </a:pPr>
            <a:r>
              <a:rPr lang="en-US" sz="1060" b="1" dirty="0">
                <a:solidFill>
                  <a:srgbClr val="222222"/>
                </a:solidFill>
                <a:latin typeface="Arial" pitchFamily="34" charset="0"/>
                <a:ea typeface="Arial" pitchFamily="34" charset="-122"/>
                <a:cs typeface="Arial" pitchFamily="34" charset="-120"/>
              </a:rPr>
              <a:t>Calibration</a:t>
            </a:r>
            <a:endParaRPr lang="en-US" sz="1060" dirty="0"/>
          </a:p>
        </p:txBody>
      </p:sp>
      <p:sp>
        <p:nvSpPr>
          <p:cNvPr id="25" name="Shape 23"/>
          <p:cNvSpPr/>
          <p:nvPr/>
        </p:nvSpPr>
        <p:spPr>
          <a:xfrm>
            <a:off x="1755648" y="3675888"/>
            <a:ext cx="1828800" cy="402336"/>
          </a:xfrm>
          <a:prstGeom prst="roundRect">
            <a:avLst>
              <a:gd name="adj" fmla="val 18182"/>
            </a:avLst>
          </a:prstGeom>
          <a:solidFill>
            <a:srgbClr val="F6F6F6"/>
          </a:solidFill>
          <a:ln w="12700">
            <a:solidFill>
              <a:srgbClr val="C9C9C9"/>
            </a:solidFill>
            <a:prstDash val="solid"/>
          </a:ln>
        </p:spPr>
        <p:txBody>
          <a:bodyPr/>
          <a:lstStyle/>
          <a:p>
            <a:endParaRPr lang="en-US"/>
          </a:p>
        </p:txBody>
      </p:sp>
      <p:sp>
        <p:nvSpPr>
          <p:cNvPr id="26" name="Text 24"/>
          <p:cNvSpPr/>
          <p:nvPr/>
        </p:nvSpPr>
        <p:spPr>
          <a:xfrm>
            <a:off x="1892808" y="3759431"/>
            <a:ext cx="1536192" cy="237744"/>
          </a:xfrm>
          <a:prstGeom prst="rect">
            <a:avLst/>
          </a:prstGeom>
          <a:noFill/>
          <a:ln/>
        </p:spPr>
        <p:txBody>
          <a:bodyPr wrap="square" lIns="0" tIns="0" rIns="0" bIns="0" rtlCol="0" anchor="t">
            <a:normAutofit fontScale="85000" lnSpcReduction="20000"/>
          </a:bodyPr>
          <a:lstStyle/>
          <a:p>
            <a:pPr marL="0" indent="0" algn="l">
              <a:buNone/>
            </a:pPr>
            <a:r>
              <a:rPr lang="en-US" sz="1060" b="1" dirty="0">
                <a:solidFill>
                  <a:srgbClr val="222222"/>
                </a:solidFill>
                <a:latin typeface="Arial" pitchFamily="34" charset="0"/>
                <a:ea typeface="Arial" pitchFamily="34" charset="-122"/>
                <a:cs typeface="Arial" pitchFamily="34" charset="-120"/>
              </a:rPr>
              <a:t>Deramp / Demod</a:t>
            </a:r>
            <a:endParaRPr lang="en-US" sz="1060" dirty="0"/>
          </a:p>
          <a:p>
            <a:pPr marL="0" indent="0" algn="l">
              <a:buNone/>
            </a:pPr>
            <a:r>
              <a:rPr lang="en-US" sz="1060" b="1" dirty="0">
                <a:solidFill>
                  <a:srgbClr val="222222"/>
                </a:solidFill>
                <a:latin typeface="Arial" pitchFamily="34" charset="0"/>
                <a:ea typeface="Arial" pitchFamily="34" charset="-122"/>
                <a:cs typeface="Arial" pitchFamily="34" charset="-120"/>
              </a:rPr>
              <a:t>Deburst</a:t>
            </a:r>
            <a:endParaRPr lang="en-US" sz="1060" dirty="0"/>
          </a:p>
        </p:txBody>
      </p:sp>
      <p:sp>
        <p:nvSpPr>
          <p:cNvPr id="27" name="Shape 25"/>
          <p:cNvSpPr/>
          <p:nvPr/>
        </p:nvSpPr>
        <p:spPr>
          <a:xfrm>
            <a:off x="1755648" y="4425696"/>
            <a:ext cx="1828800" cy="402336"/>
          </a:xfrm>
          <a:prstGeom prst="roundRect">
            <a:avLst>
              <a:gd name="adj" fmla="val 18182"/>
            </a:avLst>
          </a:prstGeom>
          <a:solidFill>
            <a:srgbClr val="F6F6F6"/>
          </a:solidFill>
          <a:ln w="12700">
            <a:solidFill>
              <a:srgbClr val="C9C9C9"/>
            </a:solidFill>
            <a:prstDash val="solid"/>
          </a:ln>
        </p:spPr>
        <p:txBody>
          <a:bodyPr/>
          <a:lstStyle/>
          <a:p>
            <a:endParaRPr lang="en-US"/>
          </a:p>
        </p:txBody>
      </p:sp>
      <p:sp>
        <p:nvSpPr>
          <p:cNvPr id="28" name="Text 26"/>
          <p:cNvSpPr/>
          <p:nvPr/>
        </p:nvSpPr>
        <p:spPr>
          <a:xfrm>
            <a:off x="1901952" y="4509239"/>
            <a:ext cx="1536192" cy="237744"/>
          </a:xfrm>
          <a:prstGeom prst="rect">
            <a:avLst/>
          </a:prstGeom>
          <a:noFill/>
          <a:ln/>
        </p:spPr>
        <p:txBody>
          <a:bodyPr wrap="square" lIns="0" tIns="0" rIns="0" bIns="0" rtlCol="0" anchor="t">
            <a:normAutofit fontScale="85000" lnSpcReduction="20000"/>
          </a:bodyPr>
          <a:lstStyle/>
          <a:p>
            <a:pPr marL="0" indent="0" algn="l">
              <a:buNone/>
            </a:pPr>
            <a:r>
              <a:rPr lang="en-US" sz="1060" b="1" dirty="0">
                <a:solidFill>
                  <a:srgbClr val="222222"/>
                </a:solidFill>
                <a:latin typeface="Arial" pitchFamily="34" charset="0"/>
                <a:ea typeface="Arial" pitchFamily="34" charset="-122"/>
                <a:cs typeface="Arial" pitchFamily="34" charset="-120"/>
              </a:rPr>
              <a:t>Sub-apertures</a:t>
            </a:r>
            <a:endParaRPr lang="en-US" sz="1060" dirty="0"/>
          </a:p>
          <a:p>
            <a:pPr marL="0" indent="0" algn="l">
              <a:buNone/>
            </a:pPr>
            <a:r>
              <a:rPr lang="en-US" sz="1060" b="1" dirty="0">
                <a:solidFill>
                  <a:srgbClr val="222222"/>
                </a:solidFill>
                <a:latin typeface="Arial" pitchFamily="34" charset="0"/>
                <a:ea typeface="Arial" pitchFamily="34" charset="-122"/>
                <a:cs typeface="Arial" pitchFamily="34" charset="-120"/>
              </a:rPr>
              <a:t>H-Alpha dual-pol</a:t>
            </a:r>
            <a:endParaRPr lang="en-US" sz="1060" dirty="0"/>
          </a:p>
        </p:txBody>
      </p:sp>
      <p:sp>
        <p:nvSpPr>
          <p:cNvPr id="29" name="Shape 27"/>
          <p:cNvSpPr/>
          <p:nvPr/>
        </p:nvSpPr>
        <p:spPr>
          <a:xfrm>
            <a:off x="1755648" y="5175504"/>
            <a:ext cx="1828800" cy="402336"/>
          </a:xfrm>
          <a:prstGeom prst="roundRect">
            <a:avLst>
              <a:gd name="adj" fmla="val 18182"/>
            </a:avLst>
          </a:prstGeom>
          <a:solidFill>
            <a:srgbClr val="F6F6F6"/>
          </a:solidFill>
          <a:ln w="12700">
            <a:solidFill>
              <a:srgbClr val="C9C9C9"/>
            </a:solidFill>
            <a:prstDash val="solid"/>
          </a:ln>
        </p:spPr>
        <p:txBody>
          <a:bodyPr/>
          <a:lstStyle/>
          <a:p>
            <a:endParaRPr lang="en-US"/>
          </a:p>
        </p:txBody>
      </p:sp>
      <p:sp>
        <p:nvSpPr>
          <p:cNvPr id="30" name="Text 28"/>
          <p:cNvSpPr/>
          <p:nvPr/>
        </p:nvSpPr>
        <p:spPr>
          <a:xfrm>
            <a:off x="1901952" y="5259047"/>
            <a:ext cx="1536192" cy="237744"/>
          </a:xfrm>
          <a:prstGeom prst="rect">
            <a:avLst/>
          </a:prstGeom>
          <a:noFill/>
          <a:ln/>
        </p:spPr>
        <p:txBody>
          <a:bodyPr wrap="square" lIns="0" tIns="0" rIns="0" bIns="0" rtlCol="0" anchor="t">
            <a:normAutofit/>
          </a:bodyPr>
          <a:lstStyle/>
          <a:p>
            <a:pPr marL="0" indent="0" algn="l">
              <a:buNone/>
            </a:pPr>
            <a:r>
              <a:rPr lang="en-US" sz="1060" b="1" dirty="0">
                <a:solidFill>
                  <a:srgbClr val="222222"/>
                </a:solidFill>
                <a:latin typeface="Arial" pitchFamily="34" charset="0"/>
                <a:ea typeface="Arial" pitchFamily="34" charset="-122"/>
                <a:cs typeface="Arial" pitchFamily="34" charset="-120"/>
              </a:rPr>
              <a:t>TerrainCorrection</a:t>
            </a:r>
            <a:endParaRPr lang="en-US" sz="1060" dirty="0"/>
          </a:p>
        </p:txBody>
      </p:sp>
      <p:sp>
        <p:nvSpPr>
          <p:cNvPr id="31" name="Shape 29"/>
          <p:cNvSpPr/>
          <p:nvPr/>
        </p:nvSpPr>
        <p:spPr>
          <a:xfrm>
            <a:off x="1755648" y="5925312"/>
            <a:ext cx="1828800" cy="402336"/>
          </a:xfrm>
          <a:prstGeom prst="roundRect">
            <a:avLst>
              <a:gd name="adj" fmla="val 18182"/>
            </a:avLst>
          </a:prstGeom>
          <a:solidFill>
            <a:srgbClr val="F6F6F6"/>
          </a:solidFill>
          <a:ln w="12700">
            <a:solidFill>
              <a:srgbClr val="C9C9C9"/>
            </a:solidFill>
            <a:prstDash val="solid"/>
          </a:ln>
        </p:spPr>
        <p:txBody>
          <a:bodyPr/>
          <a:lstStyle/>
          <a:p>
            <a:endParaRPr lang="en-US"/>
          </a:p>
        </p:txBody>
      </p:sp>
      <p:sp>
        <p:nvSpPr>
          <p:cNvPr id="32" name="Text 30"/>
          <p:cNvSpPr/>
          <p:nvPr/>
        </p:nvSpPr>
        <p:spPr>
          <a:xfrm>
            <a:off x="1901952" y="6008855"/>
            <a:ext cx="1536192" cy="237744"/>
          </a:xfrm>
          <a:prstGeom prst="rect">
            <a:avLst/>
          </a:prstGeom>
          <a:noFill/>
          <a:ln/>
        </p:spPr>
        <p:txBody>
          <a:bodyPr wrap="square" lIns="0" tIns="0" rIns="0" bIns="0" rtlCol="0" anchor="t">
            <a:normAutofit fontScale="85000" lnSpcReduction="20000"/>
          </a:bodyPr>
          <a:lstStyle/>
          <a:p>
            <a:pPr marL="0" indent="0" algn="l">
              <a:buNone/>
            </a:pPr>
            <a:r>
              <a:rPr lang="en-US" sz="1060" b="1" dirty="0">
                <a:solidFill>
                  <a:srgbClr val="222222"/>
                </a:solidFill>
                <a:latin typeface="Arial" pitchFamily="34" charset="0"/>
                <a:ea typeface="Arial" pitchFamily="34" charset="-122"/>
                <a:cs typeface="Arial" pitchFamily="34" charset="-120"/>
              </a:rPr>
              <a:t>Per-swath BEAM-DIMAP</a:t>
            </a:r>
            <a:endParaRPr lang="en-US" sz="1060" dirty="0"/>
          </a:p>
          <a:p>
            <a:pPr marL="0" indent="0" algn="l">
              <a:buNone/>
            </a:pPr>
            <a:r>
              <a:rPr lang="en-US" sz="1060" b="1" dirty="0">
                <a:solidFill>
                  <a:srgbClr val="222222"/>
                </a:solidFill>
                <a:latin typeface="Arial" pitchFamily="34" charset="0"/>
                <a:ea typeface="Arial" pitchFamily="34" charset="-122"/>
                <a:cs typeface="Arial" pitchFamily="34" charset="-120"/>
              </a:rPr>
              <a:t>outputs</a:t>
            </a:r>
            <a:endParaRPr lang="en-US" sz="1060" dirty="0"/>
          </a:p>
        </p:txBody>
      </p:sp>
      <p:sp>
        <p:nvSpPr>
          <p:cNvPr id="33" name="Text 31"/>
          <p:cNvSpPr/>
          <p:nvPr/>
        </p:nvSpPr>
        <p:spPr>
          <a:xfrm>
            <a:off x="3895344" y="2834640"/>
            <a:ext cx="1901952" cy="786384"/>
          </a:xfrm>
          <a:prstGeom prst="rect">
            <a:avLst/>
          </a:prstGeom>
          <a:noFill/>
          <a:ln/>
        </p:spPr>
        <p:txBody>
          <a:bodyPr wrap="square" lIns="0" tIns="0" rIns="0" bIns="0" rtlCol="0" anchor="t">
            <a:normAutofit/>
          </a:bodyPr>
          <a:lstStyle/>
          <a:p>
            <a:pPr marL="0" indent="0" algn="l">
              <a:buNone/>
            </a:pPr>
            <a:r>
              <a:rPr lang="en-US" sz="1020" dirty="0">
                <a:solidFill>
                  <a:srgbClr val="444444"/>
                </a:solidFill>
                <a:latin typeface="Arial" pitchFamily="34" charset="0"/>
                <a:ea typeface="Arial" pitchFamily="34" charset="-122"/>
                <a:cs typeface="Arial" pitchFamily="34" charset="-120"/>
              </a:rPr>
              <a:t>Each subswath is processed independently so tiling can tolerate boundary effects and partial coverage.</a:t>
            </a:r>
            <a:endParaRPr lang="en-US" sz="1020" dirty="0"/>
          </a:p>
        </p:txBody>
      </p:sp>
      <p:sp>
        <p:nvSpPr>
          <p:cNvPr id="34" name="Text 32"/>
          <p:cNvSpPr/>
          <p:nvPr/>
        </p:nvSpPr>
        <p:spPr>
          <a:xfrm>
            <a:off x="3895344" y="4736592"/>
            <a:ext cx="1901952" cy="384048"/>
          </a:xfrm>
          <a:prstGeom prst="rect">
            <a:avLst/>
          </a:prstGeom>
          <a:noFill/>
          <a:ln/>
        </p:spPr>
        <p:txBody>
          <a:bodyPr wrap="square" lIns="0" tIns="0" rIns="0" bIns="0" rtlCol="0" anchor="t">
            <a:normAutofit/>
          </a:bodyPr>
          <a:lstStyle/>
          <a:p>
            <a:pPr marL="0" indent="0" algn="l">
              <a:buNone/>
            </a:pPr>
            <a:r>
              <a:rPr lang="en-US" sz="1030" b="1" dirty="0">
                <a:solidFill>
                  <a:srgbClr val="222222"/>
                </a:solidFill>
                <a:latin typeface="Arial" pitchFamily="34" charset="0"/>
                <a:ea typeface="Arial" pitchFamily="34" charset="-122"/>
                <a:cs typeface="Arial" pitchFamily="34" charset="-120"/>
              </a:rPr>
              <a:t>Result shape: { IW1: path, IW2: path, IW3: path }</a:t>
            </a:r>
            <a:endParaRPr lang="en-US" sz="1030" dirty="0"/>
          </a:p>
        </p:txBody>
      </p:sp>
      <p:sp>
        <p:nvSpPr>
          <p:cNvPr id="35" name="Shape 33"/>
          <p:cNvSpPr/>
          <p:nvPr/>
        </p:nvSpPr>
        <p:spPr>
          <a:xfrm>
            <a:off x="6437376" y="1243584"/>
            <a:ext cx="4992624" cy="5303520"/>
          </a:xfrm>
          <a:prstGeom prst="roundRect">
            <a:avLst>
              <a:gd name="adj" fmla="val 1527"/>
            </a:avLst>
          </a:prstGeom>
          <a:solidFill>
            <a:srgbClr val="F6F6F6"/>
          </a:solidFill>
          <a:ln w="12700">
            <a:solidFill>
              <a:srgbClr val="C9C9C9"/>
            </a:solidFill>
            <a:prstDash val="solid"/>
          </a:ln>
        </p:spPr>
        <p:txBody>
          <a:bodyPr/>
          <a:lstStyle/>
          <a:p>
            <a:endParaRPr lang="en-US"/>
          </a:p>
        </p:txBody>
      </p:sp>
      <p:sp>
        <p:nvSpPr>
          <p:cNvPr id="36" name="Text 34"/>
          <p:cNvSpPr/>
          <p:nvPr/>
        </p:nvSpPr>
        <p:spPr>
          <a:xfrm>
            <a:off x="6529648" y="1314243"/>
            <a:ext cx="4480560" cy="256032"/>
          </a:xfrm>
          <a:prstGeom prst="rect">
            <a:avLst/>
          </a:prstGeom>
          <a:noFill/>
          <a:ln/>
        </p:spPr>
        <p:txBody>
          <a:bodyPr wrap="square" lIns="0" tIns="0" rIns="0" bIns="0" rtlCol="0" anchor="ctr">
            <a:normAutofit/>
          </a:bodyPr>
          <a:lstStyle/>
          <a:p>
            <a:pPr marL="0" indent="0">
              <a:buNone/>
            </a:pPr>
            <a:r>
              <a:rPr lang="en-US" sz="1340" b="1" dirty="0">
                <a:solidFill>
                  <a:srgbClr val="222222"/>
                </a:solidFill>
                <a:latin typeface="Arial" pitchFamily="34" charset="0"/>
                <a:ea typeface="Arial" pitchFamily="34" charset="-122"/>
                <a:cs typeface="Arial" pitchFamily="34" charset="-120"/>
              </a:rPr>
              <a:t>STRIP lane (SM)</a:t>
            </a:r>
            <a:endParaRPr lang="en-US" sz="1340" dirty="0"/>
          </a:p>
        </p:txBody>
      </p:sp>
      <p:sp>
        <p:nvSpPr>
          <p:cNvPr id="37" name="Shape 35"/>
          <p:cNvSpPr/>
          <p:nvPr/>
        </p:nvSpPr>
        <p:spPr>
          <a:xfrm>
            <a:off x="8119872" y="1426464"/>
            <a:ext cx="1828800" cy="402336"/>
          </a:xfrm>
          <a:prstGeom prst="roundRect">
            <a:avLst>
              <a:gd name="adj" fmla="val 18182"/>
            </a:avLst>
          </a:prstGeom>
          <a:solidFill>
            <a:srgbClr val="F6F6F6"/>
          </a:solidFill>
          <a:ln w="12700">
            <a:solidFill>
              <a:srgbClr val="C9C9C9"/>
            </a:solidFill>
            <a:prstDash val="solid"/>
          </a:ln>
        </p:spPr>
        <p:txBody>
          <a:bodyPr/>
          <a:lstStyle/>
          <a:p>
            <a:endParaRPr lang="en-US"/>
          </a:p>
        </p:txBody>
      </p:sp>
      <p:sp>
        <p:nvSpPr>
          <p:cNvPr id="38" name="Text 36"/>
          <p:cNvSpPr/>
          <p:nvPr/>
        </p:nvSpPr>
        <p:spPr>
          <a:xfrm>
            <a:off x="8266176" y="1554480"/>
            <a:ext cx="1536192" cy="237744"/>
          </a:xfrm>
          <a:prstGeom prst="rect">
            <a:avLst/>
          </a:prstGeom>
          <a:noFill/>
          <a:ln/>
        </p:spPr>
        <p:txBody>
          <a:bodyPr wrap="square" lIns="0" tIns="0" rIns="0" bIns="0" rtlCol="0" anchor="t">
            <a:normAutofit/>
          </a:bodyPr>
          <a:lstStyle/>
          <a:p>
            <a:pPr marL="0" indent="0" algn="l">
              <a:buNone/>
            </a:pPr>
            <a:r>
              <a:rPr lang="en-US" sz="1060" b="1" dirty="0">
                <a:solidFill>
                  <a:srgbClr val="222222"/>
                </a:solidFill>
                <a:latin typeface="Arial" pitchFamily="34" charset="0"/>
                <a:ea typeface="Arial" pitchFamily="34" charset="-122"/>
                <a:cs typeface="Arial" pitchFamily="34" charset="-120"/>
              </a:rPr>
              <a:t>SAFE input</a:t>
            </a:r>
            <a:endParaRPr lang="en-US" sz="1060" dirty="0"/>
          </a:p>
        </p:txBody>
      </p:sp>
      <p:sp>
        <p:nvSpPr>
          <p:cNvPr id="39" name="Shape 37"/>
          <p:cNvSpPr/>
          <p:nvPr/>
        </p:nvSpPr>
        <p:spPr>
          <a:xfrm>
            <a:off x="8119872" y="2176272"/>
            <a:ext cx="1828800" cy="402336"/>
          </a:xfrm>
          <a:prstGeom prst="roundRect">
            <a:avLst>
              <a:gd name="adj" fmla="val 18182"/>
            </a:avLst>
          </a:prstGeom>
          <a:solidFill>
            <a:srgbClr val="F6F6F6"/>
          </a:solidFill>
          <a:ln w="12700">
            <a:solidFill>
              <a:srgbClr val="C9C9C9"/>
            </a:solidFill>
            <a:prstDash val="solid"/>
          </a:ln>
        </p:spPr>
        <p:txBody>
          <a:bodyPr/>
          <a:lstStyle/>
          <a:p>
            <a:endParaRPr lang="en-US"/>
          </a:p>
        </p:txBody>
      </p:sp>
      <p:sp>
        <p:nvSpPr>
          <p:cNvPr id="40" name="Text 38"/>
          <p:cNvSpPr/>
          <p:nvPr/>
        </p:nvSpPr>
        <p:spPr>
          <a:xfrm>
            <a:off x="8266176" y="2304288"/>
            <a:ext cx="1536192" cy="237744"/>
          </a:xfrm>
          <a:prstGeom prst="rect">
            <a:avLst/>
          </a:prstGeom>
          <a:noFill/>
          <a:ln/>
        </p:spPr>
        <p:txBody>
          <a:bodyPr wrap="square" lIns="0" tIns="0" rIns="0" bIns="0" rtlCol="0" anchor="t">
            <a:normAutofit/>
          </a:bodyPr>
          <a:lstStyle/>
          <a:p>
            <a:pPr marL="0" indent="0" algn="l">
              <a:buNone/>
            </a:pPr>
            <a:r>
              <a:rPr lang="en-US" sz="1060" b="1" dirty="0">
                <a:solidFill>
                  <a:srgbClr val="222222"/>
                </a:solidFill>
                <a:latin typeface="Arial" pitchFamily="34" charset="0"/>
                <a:ea typeface="Arial" pitchFamily="34" charset="-122"/>
                <a:cs typeface="Arial" pitchFamily="34" charset="-120"/>
              </a:rPr>
              <a:t>ApplyOrbitFile</a:t>
            </a:r>
            <a:endParaRPr lang="en-US" sz="1060" dirty="0"/>
          </a:p>
        </p:txBody>
      </p:sp>
      <p:sp>
        <p:nvSpPr>
          <p:cNvPr id="41" name="Shape 39"/>
          <p:cNvSpPr/>
          <p:nvPr/>
        </p:nvSpPr>
        <p:spPr>
          <a:xfrm>
            <a:off x="8119872" y="2926080"/>
            <a:ext cx="1828800" cy="402336"/>
          </a:xfrm>
          <a:prstGeom prst="roundRect">
            <a:avLst>
              <a:gd name="adj" fmla="val 18182"/>
            </a:avLst>
          </a:prstGeom>
          <a:solidFill>
            <a:srgbClr val="F6F6F6"/>
          </a:solidFill>
          <a:ln w="12700">
            <a:solidFill>
              <a:srgbClr val="C9C9C9"/>
            </a:solidFill>
            <a:prstDash val="solid"/>
          </a:ln>
        </p:spPr>
        <p:txBody>
          <a:bodyPr/>
          <a:lstStyle/>
          <a:p>
            <a:endParaRPr lang="en-US"/>
          </a:p>
        </p:txBody>
      </p:sp>
      <p:sp>
        <p:nvSpPr>
          <p:cNvPr id="42" name="Text 40"/>
          <p:cNvSpPr/>
          <p:nvPr/>
        </p:nvSpPr>
        <p:spPr>
          <a:xfrm>
            <a:off x="8266176" y="3054096"/>
            <a:ext cx="1536192" cy="237744"/>
          </a:xfrm>
          <a:prstGeom prst="rect">
            <a:avLst/>
          </a:prstGeom>
          <a:noFill/>
          <a:ln/>
        </p:spPr>
        <p:txBody>
          <a:bodyPr wrap="square" lIns="0" tIns="0" rIns="0" bIns="0" rtlCol="0" anchor="t">
            <a:normAutofit/>
          </a:bodyPr>
          <a:lstStyle/>
          <a:p>
            <a:pPr marL="0" indent="0" algn="l">
              <a:buNone/>
            </a:pPr>
            <a:r>
              <a:rPr lang="en-US" sz="1060" b="1" dirty="0">
                <a:solidFill>
                  <a:srgbClr val="222222"/>
                </a:solidFill>
                <a:latin typeface="Arial" pitchFamily="34" charset="0"/>
                <a:ea typeface="Arial" pitchFamily="34" charset="-122"/>
                <a:cs typeface="Arial" pitchFamily="34" charset="-120"/>
              </a:rPr>
              <a:t>Calibration</a:t>
            </a:r>
            <a:endParaRPr lang="en-US" sz="1060" dirty="0"/>
          </a:p>
        </p:txBody>
      </p:sp>
      <p:sp>
        <p:nvSpPr>
          <p:cNvPr id="43" name="Shape 41"/>
          <p:cNvSpPr/>
          <p:nvPr/>
        </p:nvSpPr>
        <p:spPr>
          <a:xfrm>
            <a:off x="8119872" y="3675888"/>
            <a:ext cx="1828800" cy="402336"/>
          </a:xfrm>
          <a:prstGeom prst="roundRect">
            <a:avLst>
              <a:gd name="adj" fmla="val 18182"/>
            </a:avLst>
          </a:prstGeom>
          <a:solidFill>
            <a:srgbClr val="F6F6F6"/>
          </a:solidFill>
          <a:ln w="12700">
            <a:solidFill>
              <a:srgbClr val="C9C9C9"/>
            </a:solidFill>
            <a:prstDash val="solid"/>
          </a:ln>
        </p:spPr>
        <p:txBody>
          <a:bodyPr/>
          <a:lstStyle/>
          <a:p>
            <a:endParaRPr lang="en-US"/>
          </a:p>
        </p:txBody>
      </p:sp>
      <p:sp>
        <p:nvSpPr>
          <p:cNvPr id="44" name="Text 42"/>
          <p:cNvSpPr/>
          <p:nvPr/>
        </p:nvSpPr>
        <p:spPr>
          <a:xfrm>
            <a:off x="8266176" y="3803904"/>
            <a:ext cx="1536192" cy="237744"/>
          </a:xfrm>
          <a:prstGeom prst="rect">
            <a:avLst/>
          </a:prstGeom>
          <a:noFill/>
          <a:ln/>
        </p:spPr>
        <p:txBody>
          <a:bodyPr wrap="square" lIns="0" tIns="0" rIns="0" bIns="0" rtlCol="0" anchor="t">
            <a:normAutofit/>
          </a:bodyPr>
          <a:lstStyle/>
          <a:p>
            <a:pPr marL="0" indent="0" algn="l">
              <a:buNone/>
            </a:pPr>
            <a:r>
              <a:rPr lang="en-US" sz="1060" b="1" dirty="0">
                <a:solidFill>
                  <a:srgbClr val="222222"/>
                </a:solidFill>
                <a:latin typeface="Arial" pitchFamily="34" charset="0"/>
                <a:ea typeface="Arial" pitchFamily="34" charset="-122"/>
                <a:cs typeface="Arial" pitchFamily="34" charset="-120"/>
              </a:rPr>
              <a:t>Sub-apertures</a:t>
            </a:r>
            <a:endParaRPr lang="en-US" sz="1060" dirty="0"/>
          </a:p>
        </p:txBody>
      </p:sp>
      <p:sp>
        <p:nvSpPr>
          <p:cNvPr id="45" name="Shape 43"/>
          <p:cNvSpPr/>
          <p:nvPr/>
        </p:nvSpPr>
        <p:spPr>
          <a:xfrm>
            <a:off x="8119872" y="4425696"/>
            <a:ext cx="1828800" cy="402336"/>
          </a:xfrm>
          <a:prstGeom prst="roundRect">
            <a:avLst>
              <a:gd name="adj" fmla="val 18182"/>
            </a:avLst>
          </a:prstGeom>
          <a:solidFill>
            <a:srgbClr val="F6F6F6"/>
          </a:solidFill>
          <a:ln w="12700">
            <a:solidFill>
              <a:srgbClr val="C9C9C9"/>
            </a:solidFill>
            <a:prstDash val="solid"/>
          </a:ln>
        </p:spPr>
        <p:txBody>
          <a:bodyPr/>
          <a:lstStyle/>
          <a:p>
            <a:endParaRPr lang="en-US"/>
          </a:p>
        </p:txBody>
      </p:sp>
      <p:sp>
        <p:nvSpPr>
          <p:cNvPr id="46" name="Text 44"/>
          <p:cNvSpPr/>
          <p:nvPr/>
        </p:nvSpPr>
        <p:spPr>
          <a:xfrm>
            <a:off x="8266176" y="4553712"/>
            <a:ext cx="1536192" cy="237744"/>
          </a:xfrm>
          <a:prstGeom prst="rect">
            <a:avLst/>
          </a:prstGeom>
          <a:noFill/>
          <a:ln/>
        </p:spPr>
        <p:txBody>
          <a:bodyPr wrap="square" lIns="0" tIns="0" rIns="0" bIns="0" rtlCol="0" anchor="t">
            <a:normAutofit fontScale="85000" lnSpcReduction="20000"/>
          </a:bodyPr>
          <a:lstStyle/>
          <a:p>
            <a:pPr marL="0" indent="0" algn="l">
              <a:buNone/>
            </a:pPr>
            <a:r>
              <a:rPr lang="en-US" sz="1060" b="1" dirty="0">
                <a:solidFill>
                  <a:srgbClr val="222222"/>
                </a:solidFill>
                <a:latin typeface="Arial" pitchFamily="34" charset="0"/>
                <a:ea typeface="Arial" pitchFamily="34" charset="-122"/>
                <a:cs typeface="Arial" pitchFamily="34" charset="-120"/>
              </a:rPr>
              <a:t>H-Alpha dual-pol</a:t>
            </a:r>
            <a:endParaRPr lang="en-US" sz="1060" dirty="0"/>
          </a:p>
          <a:p>
            <a:pPr marL="0" indent="0" algn="l">
              <a:buNone/>
            </a:pPr>
            <a:r>
              <a:rPr lang="en-US" sz="1060" b="1" dirty="0">
                <a:solidFill>
                  <a:srgbClr val="222222"/>
                </a:solidFill>
                <a:latin typeface="Arial" pitchFamily="34" charset="0"/>
                <a:ea typeface="Arial" pitchFamily="34" charset="-122"/>
                <a:cs typeface="Arial" pitchFamily="34" charset="-120"/>
              </a:rPr>
              <a:t>decomposition</a:t>
            </a:r>
            <a:endParaRPr lang="en-US" sz="1060" dirty="0"/>
          </a:p>
        </p:txBody>
      </p:sp>
      <p:sp>
        <p:nvSpPr>
          <p:cNvPr id="47" name="Shape 45"/>
          <p:cNvSpPr/>
          <p:nvPr/>
        </p:nvSpPr>
        <p:spPr>
          <a:xfrm>
            <a:off x="8119872" y="5175504"/>
            <a:ext cx="1828800" cy="402336"/>
          </a:xfrm>
          <a:prstGeom prst="roundRect">
            <a:avLst>
              <a:gd name="adj" fmla="val 18182"/>
            </a:avLst>
          </a:prstGeom>
          <a:solidFill>
            <a:srgbClr val="F6F6F6"/>
          </a:solidFill>
          <a:ln w="12700">
            <a:solidFill>
              <a:srgbClr val="C9C9C9"/>
            </a:solidFill>
            <a:prstDash val="solid"/>
          </a:ln>
        </p:spPr>
        <p:txBody>
          <a:bodyPr/>
          <a:lstStyle/>
          <a:p>
            <a:endParaRPr lang="en-US"/>
          </a:p>
        </p:txBody>
      </p:sp>
      <p:sp>
        <p:nvSpPr>
          <p:cNvPr id="48" name="Text 46"/>
          <p:cNvSpPr/>
          <p:nvPr/>
        </p:nvSpPr>
        <p:spPr>
          <a:xfrm>
            <a:off x="8266176" y="5303520"/>
            <a:ext cx="1536192" cy="237744"/>
          </a:xfrm>
          <a:prstGeom prst="rect">
            <a:avLst/>
          </a:prstGeom>
          <a:noFill/>
          <a:ln/>
        </p:spPr>
        <p:txBody>
          <a:bodyPr wrap="square" lIns="0" tIns="0" rIns="0" bIns="0" rtlCol="0" anchor="t">
            <a:normAutofit/>
          </a:bodyPr>
          <a:lstStyle/>
          <a:p>
            <a:pPr marL="0" indent="0" algn="l">
              <a:buNone/>
            </a:pPr>
            <a:r>
              <a:rPr lang="en-US" sz="1060" b="1" dirty="0">
                <a:solidFill>
                  <a:srgbClr val="222222"/>
                </a:solidFill>
                <a:latin typeface="Arial" pitchFamily="34" charset="0"/>
                <a:ea typeface="Arial" pitchFamily="34" charset="-122"/>
                <a:cs typeface="Arial" pitchFamily="34" charset="-120"/>
              </a:rPr>
              <a:t>TerrainCorrection</a:t>
            </a:r>
            <a:endParaRPr lang="en-US" sz="1060" dirty="0"/>
          </a:p>
        </p:txBody>
      </p:sp>
      <p:sp>
        <p:nvSpPr>
          <p:cNvPr id="49" name="Shape 47"/>
          <p:cNvSpPr/>
          <p:nvPr/>
        </p:nvSpPr>
        <p:spPr>
          <a:xfrm>
            <a:off x="8119872" y="5925312"/>
            <a:ext cx="1828800" cy="402336"/>
          </a:xfrm>
          <a:prstGeom prst="roundRect">
            <a:avLst>
              <a:gd name="adj" fmla="val 18182"/>
            </a:avLst>
          </a:prstGeom>
          <a:solidFill>
            <a:srgbClr val="F6F6F6"/>
          </a:solidFill>
          <a:ln w="12700">
            <a:solidFill>
              <a:srgbClr val="C9C9C9"/>
            </a:solidFill>
            <a:prstDash val="solid"/>
          </a:ln>
        </p:spPr>
        <p:txBody>
          <a:bodyPr/>
          <a:lstStyle/>
          <a:p>
            <a:endParaRPr lang="en-US"/>
          </a:p>
        </p:txBody>
      </p:sp>
      <p:sp>
        <p:nvSpPr>
          <p:cNvPr id="50" name="Text 48"/>
          <p:cNvSpPr/>
          <p:nvPr/>
        </p:nvSpPr>
        <p:spPr>
          <a:xfrm>
            <a:off x="8266176" y="6053328"/>
            <a:ext cx="1536192" cy="237744"/>
          </a:xfrm>
          <a:prstGeom prst="rect">
            <a:avLst/>
          </a:prstGeom>
          <a:noFill/>
          <a:ln/>
        </p:spPr>
        <p:txBody>
          <a:bodyPr wrap="square" lIns="0" tIns="0" rIns="0" bIns="0" rtlCol="0" anchor="t">
            <a:normAutofit fontScale="85000" lnSpcReduction="20000"/>
          </a:bodyPr>
          <a:lstStyle/>
          <a:p>
            <a:pPr marL="0" indent="0" algn="l">
              <a:buNone/>
            </a:pPr>
            <a:r>
              <a:rPr lang="en-US" sz="1060" b="1" dirty="0">
                <a:solidFill>
                  <a:srgbClr val="222222"/>
                </a:solidFill>
                <a:latin typeface="Arial" pitchFamily="34" charset="0"/>
                <a:ea typeface="Arial" pitchFamily="34" charset="-122"/>
                <a:cs typeface="Arial" pitchFamily="34" charset="-120"/>
              </a:rPr>
              <a:t>Single BEAM-DIMAP</a:t>
            </a:r>
            <a:endParaRPr lang="en-US" sz="1060" dirty="0"/>
          </a:p>
          <a:p>
            <a:pPr marL="0" indent="0" algn="l">
              <a:buNone/>
            </a:pPr>
            <a:r>
              <a:rPr lang="en-US" sz="1060" b="1" dirty="0">
                <a:solidFill>
                  <a:srgbClr val="222222"/>
                </a:solidFill>
                <a:latin typeface="Arial" pitchFamily="34" charset="0"/>
                <a:ea typeface="Arial" pitchFamily="34" charset="-122"/>
                <a:cs typeface="Arial" pitchFamily="34" charset="-120"/>
              </a:rPr>
              <a:t>output</a:t>
            </a:r>
            <a:endParaRPr lang="en-US" sz="1060" dirty="0"/>
          </a:p>
        </p:txBody>
      </p:sp>
      <p:sp>
        <p:nvSpPr>
          <p:cNvPr id="51" name="Text 49"/>
          <p:cNvSpPr/>
          <p:nvPr/>
        </p:nvSpPr>
        <p:spPr>
          <a:xfrm>
            <a:off x="6711696" y="2889504"/>
            <a:ext cx="1097280" cy="877824"/>
          </a:xfrm>
          <a:prstGeom prst="rect">
            <a:avLst/>
          </a:prstGeom>
          <a:noFill/>
          <a:ln/>
        </p:spPr>
        <p:txBody>
          <a:bodyPr wrap="square" lIns="0" tIns="0" rIns="0" bIns="0" rtlCol="0" anchor="t">
            <a:normAutofit lnSpcReduction="10000"/>
          </a:bodyPr>
          <a:lstStyle/>
          <a:p>
            <a:pPr marL="0" indent="0" algn="l">
              <a:buNone/>
            </a:pPr>
            <a:r>
              <a:rPr lang="en-US" sz="1000" dirty="0">
                <a:solidFill>
                  <a:srgbClr val="444444"/>
                </a:solidFill>
                <a:latin typeface="Arial" pitchFamily="34" charset="0"/>
                <a:ea typeface="Arial" pitchFamily="34" charset="-122"/>
                <a:cs typeface="Arial" pitchFamily="34" charset="-120"/>
              </a:rPr>
              <a:t>No split, deramp, or deburst is needed because the input geometry is already strip-oriented.</a:t>
            </a:r>
            <a:endParaRPr lang="en-US" sz="1000" dirty="0"/>
          </a:p>
        </p:txBody>
      </p:sp>
      <p:sp>
        <p:nvSpPr>
          <p:cNvPr id="52" name="Text 50"/>
          <p:cNvSpPr/>
          <p:nvPr/>
        </p:nvSpPr>
        <p:spPr>
          <a:xfrm>
            <a:off x="6711696" y="4974336"/>
            <a:ext cx="1097280" cy="219456"/>
          </a:xfrm>
          <a:prstGeom prst="rect">
            <a:avLst/>
          </a:prstGeom>
          <a:noFill/>
          <a:ln/>
        </p:spPr>
        <p:txBody>
          <a:bodyPr wrap="square" lIns="0" tIns="0" rIns="0" bIns="0" rtlCol="0" anchor="t">
            <a:normAutofit fontScale="92500"/>
          </a:bodyPr>
          <a:lstStyle/>
          <a:p>
            <a:pPr marL="0" indent="0" algn="l">
              <a:buNone/>
            </a:pPr>
            <a:r>
              <a:rPr lang="en-US" sz="1020" b="1" dirty="0">
                <a:solidFill>
                  <a:srgbClr val="222222"/>
                </a:solidFill>
                <a:latin typeface="Arial" pitchFamily="34" charset="0"/>
                <a:ea typeface="Arial" pitchFamily="34" charset="-122"/>
                <a:cs typeface="Arial" pitchFamily="34" charset="-120"/>
              </a:rPr>
              <a:t>Result shape: path</a:t>
            </a:r>
            <a:endParaRPr lang="en-US" sz="1020" dirty="0"/>
          </a:p>
        </p:txBody>
      </p:sp>
      <p:cxnSp>
        <p:nvCxnSpPr>
          <p:cNvPr id="54" name="Straight Arrow Connector 53">
            <a:extLst>
              <a:ext uri="{FF2B5EF4-FFF2-40B4-BE49-F238E27FC236}">
                <a16:creationId xmlns:a16="http://schemas.microsoft.com/office/drawing/2014/main" id="{CFE03DB7-1D63-1967-1624-AA00261B23D5}"/>
              </a:ext>
            </a:extLst>
          </p:cNvPr>
          <p:cNvCxnSpPr/>
          <p:nvPr/>
        </p:nvCxnSpPr>
        <p:spPr>
          <a:xfrm>
            <a:off x="3002973" y="1828800"/>
            <a:ext cx="0" cy="3108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369AFC6C-3F5C-1881-8090-FA0C4F967EDF}"/>
              </a:ext>
            </a:extLst>
          </p:cNvPr>
          <p:cNvCxnSpPr/>
          <p:nvPr/>
        </p:nvCxnSpPr>
        <p:spPr>
          <a:xfrm>
            <a:off x="3002973" y="2597727"/>
            <a:ext cx="0" cy="3108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B7BAE74E-1ADD-B78E-F119-FF2AF2F6C246}"/>
              </a:ext>
            </a:extLst>
          </p:cNvPr>
          <p:cNvCxnSpPr/>
          <p:nvPr/>
        </p:nvCxnSpPr>
        <p:spPr>
          <a:xfrm>
            <a:off x="3002973" y="3356263"/>
            <a:ext cx="0" cy="3108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DACD60D3-8EEF-B841-9A3C-51A098825451}"/>
              </a:ext>
            </a:extLst>
          </p:cNvPr>
          <p:cNvCxnSpPr/>
          <p:nvPr/>
        </p:nvCxnSpPr>
        <p:spPr>
          <a:xfrm>
            <a:off x="3002973" y="4073236"/>
            <a:ext cx="0" cy="3108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8566C8BC-E962-0C04-BF3F-FEF12BE77F55}"/>
              </a:ext>
            </a:extLst>
          </p:cNvPr>
          <p:cNvCxnSpPr/>
          <p:nvPr/>
        </p:nvCxnSpPr>
        <p:spPr>
          <a:xfrm>
            <a:off x="3002973" y="4842163"/>
            <a:ext cx="0" cy="3108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1D7CDE7C-263C-A36E-177D-EED270D85900}"/>
              </a:ext>
            </a:extLst>
          </p:cNvPr>
          <p:cNvCxnSpPr/>
          <p:nvPr/>
        </p:nvCxnSpPr>
        <p:spPr>
          <a:xfrm>
            <a:off x="3002973" y="5579918"/>
            <a:ext cx="0" cy="3108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D5A06079-0795-6EE9-FA0F-3B0CE7E55D1C}"/>
              </a:ext>
            </a:extLst>
          </p:cNvPr>
          <p:cNvCxnSpPr/>
          <p:nvPr/>
        </p:nvCxnSpPr>
        <p:spPr>
          <a:xfrm>
            <a:off x="9497291" y="1828800"/>
            <a:ext cx="0" cy="3108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C854889B-5F5C-34E8-E3C9-EF4F91D51E32}"/>
              </a:ext>
            </a:extLst>
          </p:cNvPr>
          <p:cNvCxnSpPr/>
          <p:nvPr/>
        </p:nvCxnSpPr>
        <p:spPr>
          <a:xfrm>
            <a:off x="9497291" y="2597727"/>
            <a:ext cx="0" cy="3108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15D34FE5-A3BE-0BF2-3577-3FAA4AAC9F3F}"/>
              </a:ext>
            </a:extLst>
          </p:cNvPr>
          <p:cNvCxnSpPr/>
          <p:nvPr/>
        </p:nvCxnSpPr>
        <p:spPr>
          <a:xfrm>
            <a:off x="9497291" y="3356263"/>
            <a:ext cx="0" cy="3108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E117B37F-ADF4-1A12-97FB-9534C511E9ED}"/>
              </a:ext>
            </a:extLst>
          </p:cNvPr>
          <p:cNvCxnSpPr/>
          <p:nvPr/>
        </p:nvCxnSpPr>
        <p:spPr>
          <a:xfrm>
            <a:off x="9497291" y="4073236"/>
            <a:ext cx="0" cy="3108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8943DC4D-CABE-2D4B-C07E-A454BC8CB45E}"/>
              </a:ext>
            </a:extLst>
          </p:cNvPr>
          <p:cNvCxnSpPr/>
          <p:nvPr/>
        </p:nvCxnSpPr>
        <p:spPr>
          <a:xfrm>
            <a:off x="9497291" y="4842163"/>
            <a:ext cx="0" cy="3108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12ADC1FD-1C39-CE32-4814-96E98A8CE1E5}"/>
              </a:ext>
            </a:extLst>
          </p:cNvPr>
          <p:cNvCxnSpPr/>
          <p:nvPr/>
        </p:nvCxnSpPr>
        <p:spPr>
          <a:xfrm>
            <a:off x="9497291" y="5579918"/>
            <a:ext cx="0" cy="3108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356616"/>
            <a:ext cx="11109960" cy="0"/>
          </a:xfrm>
          <a:prstGeom prst="line">
            <a:avLst/>
          </a:prstGeom>
          <a:noFill/>
          <a:ln w="19050">
            <a:solidFill>
              <a:srgbClr val="4A4A4A"/>
            </a:solidFill>
            <a:prstDash val="solid"/>
          </a:ln>
        </p:spPr>
        <p:txBody>
          <a:bodyPr/>
          <a:lstStyle/>
          <a:p>
            <a:endParaRPr lang="en-US"/>
          </a:p>
        </p:txBody>
      </p:sp>
      <p:sp>
        <p:nvSpPr>
          <p:cNvPr id="3" name="Text 1"/>
          <p:cNvSpPr/>
          <p:nvPr/>
        </p:nvSpPr>
        <p:spPr>
          <a:xfrm>
            <a:off x="694944" y="512064"/>
            <a:ext cx="7863840" cy="457200"/>
          </a:xfrm>
          <a:prstGeom prst="rect">
            <a:avLst/>
          </a:prstGeom>
          <a:noFill/>
          <a:ln/>
        </p:spPr>
        <p:txBody>
          <a:bodyPr wrap="square" lIns="0" tIns="0" rIns="0" bIns="0" rtlCol="0" anchor="ctr">
            <a:normAutofit fontScale="92500"/>
          </a:bodyPr>
          <a:lstStyle/>
          <a:p>
            <a:pPr marL="0" indent="0">
              <a:buNone/>
            </a:pPr>
            <a:r>
              <a:rPr lang="en-US" sz="2700" b="1" dirty="0">
                <a:solidFill>
                  <a:srgbClr val="222222"/>
                </a:solidFill>
                <a:latin typeface="Arial" pitchFamily="34" charset="0"/>
                <a:ea typeface="Arial" pitchFamily="34" charset="-122"/>
                <a:cs typeface="Arial" pitchFamily="34" charset="-120"/>
              </a:rPr>
              <a:t>Tiling, coverage validation, and parquet indexing</a:t>
            </a:r>
            <a:endParaRPr lang="en-US" sz="2700" dirty="0"/>
          </a:p>
        </p:txBody>
      </p:sp>
      <p:sp>
        <p:nvSpPr>
          <p:cNvPr id="4" name="Text 2"/>
          <p:cNvSpPr/>
          <p:nvPr/>
        </p:nvSpPr>
        <p:spPr>
          <a:xfrm>
            <a:off x="694944" y="987552"/>
            <a:ext cx="10424160" cy="256032"/>
          </a:xfrm>
          <a:prstGeom prst="rect">
            <a:avLst/>
          </a:prstGeom>
          <a:noFill/>
          <a:ln/>
        </p:spPr>
        <p:txBody>
          <a:bodyPr wrap="square" lIns="0" tIns="0" rIns="0" bIns="0" rtlCol="0" anchor="ctr">
            <a:normAutofit/>
          </a:bodyPr>
          <a:lstStyle/>
          <a:p>
            <a:pPr marL="0" indent="0">
              <a:buNone/>
            </a:pPr>
            <a:r>
              <a:rPr lang="en-US" sz="1150" dirty="0">
                <a:solidFill>
                  <a:srgbClr val="6E6E6E"/>
                </a:solidFill>
                <a:latin typeface="Arial" pitchFamily="34" charset="0"/>
                <a:ea typeface="Arial" pitchFamily="34" charset="-122"/>
                <a:cs typeface="Arial" pitchFamily="34" charset="-120"/>
              </a:rPr>
              <a:t>What happens after preprocessing once the intermediate product exists</a:t>
            </a:r>
            <a:endParaRPr lang="en-US" sz="1150" dirty="0"/>
          </a:p>
        </p:txBody>
      </p:sp>
      <p:sp>
        <p:nvSpPr>
          <p:cNvPr id="5" name="Text 3"/>
          <p:cNvSpPr/>
          <p:nvPr/>
        </p:nvSpPr>
        <p:spPr>
          <a:xfrm>
            <a:off x="749808" y="1426464"/>
            <a:ext cx="2743200" cy="219456"/>
          </a:xfrm>
          <a:prstGeom prst="rect">
            <a:avLst/>
          </a:prstGeom>
          <a:noFill/>
          <a:ln/>
        </p:spPr>
        <p:txBody>
          <a:bodyPr wrap="square" lIns="0" tIns="0" rIns="0" bIns="0" rtlCol="0" anchor="ctr">
            <a:normAutofit/>
          </a:bodyPr>
          <a:lstStyle/>
          <a:p>
            <a:pPr marL="0" indent="0">
              <a:buNone/>
            </a:pPr>
            <a:r>
              <a:rPr lang="en-US" sz="1080" b="1" dirty="0">
                <a:solidFill>
                  <a:srgbClr val="6E6E6E"/>
                </a:solidFill>
                <a:latin typeface="Arial" pitchFamily="34" charset="0"/>
                <a:ea typeface="Arial" pitchFamily="34" charset="-122"/>
                <a:cs typeface="Arial" pitchFamily="34" charset="-120"/>
              </a:rPr>
              <a:t>POST-PROCESSING FLOW</a:t>
            </a:r>
            <a:endParaRPr lang="en-US" sz="1080" dirty="0"/>
          </a:p>
        </p:txBody>
      </p:sp>
      <p:sp>
        <p:nvSpPr>
          <p:cNvPr id="6" name="Shape 4"/>
          <p:cNvSpPr/>
          <p:nvPr/>
        </p:nvSpPr>
        <p:spPr>
          <a:xfrm>
            <a:off x="2066544" y="2258568"/>
            <a:ext cx="365760" cy="0"/>
          </a:xfrm>
          <a:prstGeom prst="line">
            <a:avLst/>
          </a:prstGeom>
          <a:noFill/>
          <a:ln w="19050">
            <a:solidFill>
              <a:srgbClr val="C9C9C9"/>
            </a:solidFill>
            <a:prstDash val="solid"/>
            <a:tailEnd type="triangle"/>
          </a:ln>
        </p:spPr>
        <p:txBody>
          <a:bodyPr/>
          <a:lstStyle/>
          <a:p>
            <a:endParaRPr lang="en-US"/>
          </a:p>
        </p:txBody>
      </p:sp>
      <p:sp>
        <p:nvSpPr>
          <p:cNvPr id="7" name="Shape 5"/>
          <p:cNvSpPr/>
          <p:nvPr/>
        </p:nvSpPr>
        <p:spPr>
          <a:xfrm>
            <a:off x="3858768" y="2258568"/>
            <a:ext cx="365760" cy="0"/>
          </a:xfrm>
          <a:prstGeom prst="line">
            <a:avLst/>
          </a:prstGeom>
          <a:noFill/>
          <a:ln w="19050">
            <a:solidFill>
              <a:srgbClr val="C9C9C9"/>
            </a:solidFill>
            <a:prstDash val="solid"/>
            <a:tailEnd type="triangle"/>
          </a:ln>
        </p:spPr>
        <p:txBody>
          <a:bodyPr/>
          <a:lstStyle/>
          <a:p>
            <a:endParaRPr lang="en-US"/>
          </a:p>
        </p:txBody>
      </p:sp>
      <p:sp>
        <p:nvSpPr>
          <p:cNvPr id="8" name="Shape 6"/>
          <p:cNvSpPr/>
          <p:nvPr/>
        </p:nvSpPr>
        <p:spPr>
          <a:xfrm>
            <a:off x="5650992" y="2258568"/>
            <a:ext cx="365760" cy="0"/>
          </a:xfrm>
          <a:prstGeom prst="line">
            <a:avLst/>
          </a:prstGeom>
          <a:noFill/>
          <a:ln w="19050">
            <a:solidFill>
              <a:srgbClr val="C9C9C9"/>
            </a:solidFill>
            <a:prstDash val="solid"/>
            <a:tailEnd type="triangle"/>
          </a:ln>
        </p:spPr>
        <p:txBody>
          <a:bodyPr/>
          <a:lstStyle/>
          <a:p>
            <a:endParaRPr lang="en-US"/>
          </a:p>
        </p:txBody>
      </p:sp>
      <p:sp>
        <p:nvSpPr>
          <p:cNvPr id="9" name="Shape 7"/>
          <p:cNvSpPr/>
          <p:nvPr/>
        </p:nvSpPr>
        <p:spPr>
          <a:xfrm>
            <a:off x="7443216" y="2258568"/>
            <a:ext cx="365760" cy="0"/>
          </a:xfrm>
          <a:prstGeom prst="line">
            <a:avLst/>
          </a:prstGeom>
          <a:noFill/>
          <a:ln w="19050">
            <a:solidFill>
              <a:srgbClr val="C9C9C9"/>
            </a:solidFill>
            <a:prstDash val="solid"/>
            <a:tailEnd type="triangle"/>
          </a:ln>
        </p:spPr>
        <p:txBody>
          <a:bodyPr/>
          <a:lstStyle/>
          <a:p>
            <a:endParaRPr lang="en-US"/>
          </a:p>
        </p:txBody>
      </p:sp>
      <p:sp>
        <p:nvSpPr>
          <p:cNvPr id="10" name="Shape 8"/>
          <p:cNvSpPr/>
          <p:nvPr/>
        </p:nvSpPr>
        <p:spPr>
          <a:xfrm>
            <a:off x="9235440" y="2258568"/>
            <a:ext cx="365760" cy="0"/>
          </a:xfrm>
          <a:prstGeom prst="line">
            <a:avLst/>
          </a:prstGeom>
          <a:noFill/>
          <a:ln w="19050">
            <a:solidFill>
              <a:srgbClr val="C9C9C9"/>
            </a:solidFill>
            <a:prstDash val="solid"/>
            <a:tailEnd type="triangle"/>
          </a:ln>
        </p:spPr>
        <p:txBody>
          <a:bodyPr/>
          <a:lstStyle/>
          <a:p>
            <a:endParaRPr lang="en-US"/>
          </a:p>
        </p:txBody>
      </p:sp>
      <p:sp>
        <p:nvSpPr>
          <p:cNvPr id="11" name="Shape 9"/>
          <p:cNvSpPr/>
          <p:nvPr/>
        </p:nvSpPr>
        <p:spPr>
          <a:xfrm>
            <a:off x="749808" y="1847088"/>
            <a:ext cx="1316736" cy="822960"/>
          </a:xfrm>
          <a:prstGeom prst="roundRect">
            <a:avLst>
              <a:gd name="adj" fmla="val 8889"/>
            </a:avLst>
          </a:prstGeom>
          <a:solidFill>
            <a:srgbClr val="F6F6F6"/>
          </a:solidFill>
          <a:ln w="12700">
            <a:solidFill>
              <a:srgbClr val="C9C9C9"/>
            </a:solidFill>
            <a:prstDash val="solid"/>
          </a:ln>
        </p:spPr>
        <p:txBody>
          <a:bodyPr/>
          <a:lstStyle/>
          <a:p>
            <a:endParaRPr lang="en-US"/>
          </a:p>
        </p:txBody>
      </p:sp>
      <p:sp>
        <p:nvSpPr>
          <p:cNvPr id="12" name="Text 10"/>
          <p:cNvSpPr/>
          <p:nvPr/>
        </p:nvSpPr>
        <p:spPr>
          <a:xfrm>
            <a:off x="896112" y="1975104"/>
            <a:ext cx="1024128" cy="237744"/>
          </a:xfrm>
          <a:prstGeom prst="rect">
            <a:avLst/>
          </a:prstGeom>
          <a:noFill/>
          <a:ln/>
        </p:spPr>
        <p:txBody>
          <a:bodyPr wrap="square" lIns="0" tIns="0" rIns="0" bIns="0" rtlCol="0" anchor="t">
            <a:normAutofit/>
          </a:bodyPr>
          <a:lstStyle/>
          <a:p>
            <a:pPr marL="0" indent="0" algn="l">
              <a:buNone/>
            </a:pPr>
            <a:r>
              <a:rPr lang="en-US" sz="1230" b="1" dirty="0">
                <a:solidFill>
                  <a:srgbClr val="222222"/>
                </a:solidFill>
                <a:latin typeface="Arial" pitchFamily="34" charset="0"/>
                <a:ea typeface="Arial" pitchFamily="34" charset="-122"/>
                <a:cs typeface="Arial" pitchFamily="34" charset="-120"/>
              </a:rPr>
              <a:t>Product WKT</a:t>
            </a:r>
            <a:endParaRPr lang="en-US" sz="1230" dirty="0"/>
          </a:p>
        </p:txBody>
      </p:sp>
      <p:sp>
        <p:nvSpPr>
          <p:cNvPr id="13" name="Text 11"/>
          <p:cNvSpPr/>
          <p:nvPr/>
        </p:nvSpPr>
        <p:spPr>
          <a:xfrm>
            <a:off x="896112" y="2231136"/>
            <a:ext cx="1024128" cy="329184"/>
          </a:xfrm>
          <a:prstGeom prst="rect">
            <a:avLst/>
          </a:prstGeom>
          <a:noFill/>
          <a:ln/>
        </p:spPr>
        <p:txBody>
          <a:bodyPr wrap="square" lIns="0" tIns="0" rIns="0" bIns="0" rtlCol="0" anchor="t">
            <a:normAutofit/>
          </a:bodyPr>
          <a:lstStyle/>
          <a:p>
            <a:pPr marL="0" indent="0" algn="l">
              <a:buNone/>
            </a:pPr>
            <a:r>
              <a:rPr lang="en-US" sz="940" dirty="0">
                <a:solidFill>
                  <a:srgbClr val="444444"/>
                </a:solidFill>
                <a:latin typeface="Arial" pitchFamily="34" charset="0"/>
                <a:ea typeface="Arial" pitchFamily="34" charset="-122"/>
                <a:cs typeface="Arial" pitchFamily="34" charset="-120"/>
              </a:rPr>
              <a:t>manifest/CDSE footprint</a:t>
            </a:r>
            <a:endParaRPr lang="en-US" sz="940" dirty="0"/>
          </a:p>
        </p:txBody>
      </p:sp>
      <p:sp>
        <p:nvSpPr>
          <p:cNvPr id="14" name="Shape 12"/>
          <p:cNvSpPr/>
          <p:nvPr/>
        </p:nvSpPr>
        <p:spPr>
          <a:xfrm>
            <a:off x="2542032" y="1847088"/>
            <a:ext cx="1316736" cy="822960"/>
          </a:xfrm>
          <a:prstGeom prst="roundRect">
            <a:avLst>
              <a:gd name="adj" fmla="val 8889"/>
            </a:avLst>
          </a:prstGeom>
          <a:solidFill>
            <a:srgbClr val="F6F6F6"/>
          </a:solidFill>
          <a:ln w="12700">
            <a:solidFill>
              <a:srgbClr val="C9C9C9"/>
            </a:solidFill>
            <a:prstDash val="solid"/>
          </a:ln>
        </p:spPr>
        <p:txBody>
          <a:bodyPr/>
          <a:lstStyle/>
          <a:p>
            <a:endParaRPr lang="en-US"/>
          </a:p>
        </p:txBody>
      </p:sp>
      <p:sp>
        <p:nvSpPr>
          <p:cNvPr id="15" name="Text 13"/>
          <p:cNvSpPr/>
          <p:nvPr/>
        </p:nvSpPr>
        <p:spPr>
          <a:xfrm>
            <a:off x="2688336" y="1975104"/>
            <a:ext cx="1024128" cy="237744"/>
          </a:xfrm>
          <a:prstGeom prst="rect">
            <a:avLst/>
          </a:prstGeom>
          <a:noFill/>
          <a:ln/>
        </p:spPr>
        <p:txBody>
          <a:bodyPr wrap="square" lIns="0" tIns="0" rIns="0" bIns="0" rtlCol="0" anchor="t">
            <a:normAutofit/>
          </a:bodyPr>
          <a:lstStyle/>
          <a:p>
            <a:pPr marL="0" indent="0" algn="l">
              <a:buNone/>
            </a:pPr>
            <a:r>
              <a:rPr lang="en-US" sz="1230" b="1" dirty="0">
                <a:solidFill>
                  <a:srgbClr val="222222"/>
                </a:solidFill>
                <a:latin typeface="Arial" pitchFamily="34" charset="0"/>
                <a:ea typeface="Arial" pitchFamily="34" charset="-122"/>
                <a:cs typeface="Arial" pitchFamily="34" charset="-120"/>
              </a:rPr>
              <a:t>Grid lookup</a:t>
            </a:r>
            <a:endParaRPr lang="en-US" sz="1230" dirty="0"/>
          </a:p>
        </p:txBody>
      </p:sp>
      <p:sp>
        <p:nvSpPr>
          <p:cNvPr id="16" name="Text 14"/>
          <p:cNvSpPr/>
          <p:nvPr/>
        </p:nvSpPr>
        <p:spPr>
          <a:xfrm>
            <a:off x="2688336" y="2231136"/>
            <a:ext cx="1024128" cy="329184"/>
          </a:xfrm>
          <a:prstGeom prst="rect">
            <a:avLst/>
          </a:prstGeom>
          <a:noFill/>
          <a:ln/>
        </p:spPr>
        <p:txBody>
          <a:bodyPr wrap="square" lIns="0" tIns="0" rIns="0" bIns="0" rtlCol="0" anchor="t">
            <a:normAutofit/>
          </a:bodyPr>
          <a:lstStyle/>
          <a:p>
            <a:pPr marL="0" indent="0" algn="l">
              <a:buNone/>
            </a:pPr>
            <a:r>
              <a:rPr lang="en-US" sz="940" dirty="0">
                <a:solidFill>
                  <a:srgbClr val="444444"/>
                </a:solidFill>
                <a:latin typeface="Arial" pitchFamily="34" charset="0"/>
                <a:ea typeface="Arial" pitchFamily="34" charset="-122"/>
                <a:cs typeface="Arial" pitchFamily="34" charset="-120"/>
              </a:rPr>
              <a:t>check_points_in_polygon</a:t>
            </a:r>
            <a:endParaRPr lang="en-US" sz="940" dirty="0"/>
          </a:p>
        </p:txBody>
      </p:sp>
      <p:sp>
        <p:nvSpPr>
          <p:cNvPr id="17" name="Shape 15"/>
          <p:cNvSpPr/>
          <p:nvPr/>
        </p:nvSpPr>
        <p:spPr>
          <a:xfrm>
            <a:off x="4334256" y="1847088"/>
            <a:ext cx="1316736" cy="822960"/>
          </a:xfrm>
          <a:prstGeom prst="roundRect">
            <a:avLst>
              <a:gd name="adj" fmla="val 8889"/>
            </a:avLst>
          </a:prstGeom>
          <a:solidFill>
            <a:srgbClr val="F6F6F6"/>
          </a:solidFill>
          <a:ln w="12700">
            <a:solidFill>
              <a:srgbClr val="C9C9C9"/>
            </a:solidFill>
            <a:prstDash val="solid"/>
          </a:ln>
        </p:spPr>
        <p:txBody>
          <a:bodyPr/>
          <a:lstStyle/>
          <a:p>
            <a:endParaRPr lang="en-US"/>
          </a:p>
        </p:txBody>
      </p:sp>
      <p:sp>
        <p:nvSpPr>
          <p:cNvPr id="18" name="Text 16"/>
          <p:cNvSpPr/>
          <p:nvPr/>
        </p:nvSpPr>
        <p:spPr>
          <a:xfrm>
            <a:off x="4480560" y="1975104"/>
            <a:ext cx="1024128" cy="237744"/>
          </a:xfrm>
          <a:prstGeom prst="rect">
            <a:avLst/>
          </a:prstGeom>
          <a:noFill/>
          <a:ln/>
        </p:spPr>
        <p:txBody>
          <a:bodyPr wrap="square" lIns="0" tIns="0" rIns="0" bIns="0" rtlCol="0" anchor="t">
            <a:normAutofit/>
          </a:bodyPr>
          <a:lstStyle/>
          <a:p>
            <a:pPr marL="0" indent="0" algn="l">
              <a:buNone/>
            </a:pPr>
            <a:r>
              <a:rPr lang="en-US" sz="1230" b="1" dirty="0">
                <a:solidFill>
                  <a:srgbClr val="222222"/>
                </a:solidFill>
                <a:latin typeface="Arial" pitchFamily="34" charset="0"/>
                <a:ea typeface="Arial" pitchFamily="34" charset="-122"/>
                <a:cs typeface="Arial" pitchFamily="34" charset="-120"/>
              </a:rPr>
              <a:t>Rectangles</a:t>
            </a:r>
            <a:endParaRPr lang="en-US" sz="1230" dirty="0"/>
          </a:p>
        </p:txBody>
      </p:sp>
      <p:sp>
        <p:nvSpPr>
          <p:cNvPr id="19" name="Text 17"/>
          <p:cNvSpPr/>
          <p:nvPr/>
        </p:nvSpPr>
        <p:spPr>
          <a:xfrm>
            <a:off x="4480560" y="2231136"/>
            <a:ext cx="1024128" cy="329184"/>
          </a:xfrm>
          <a:prstGeom prst="rect">
            <a:avLst/>
          </a:prstGeom>
          <a:noFill/>
          <a:ln/>
        </p:spPr>
        <p:txBody>
          <a:bodyPr wrap="square" lIns="0" tIns="0" rIns="0" bIns="0" rtlCol="0" anchor="t">
            <a:normAutofit/>
          </a:bodyPr>
          <a:lstStyle/>
          <a:p>
            <a:pPr marL="0" indent="0" algn="l">
              <a:buNone/>
            </a:pPr>
            <a:r>
              <a:rPr lang="en-US" sz="940" dirty="0">
                <a:solidFill>
                  <a:srgbClr val="444444"/>
                </a:solidFill>
                <a:latin typeface="Arial" pitchFamily="34" charset="0"/>
                <a:ea typeface="Arial" pitchFamily="34" charset="-122"/>
                <a:cs typeface="Arial" pitchFamily="34" charset="-120"/>
              </a:rPr>
              <a:t>rectanglify</a:t>
            </a:r>
            <a:endParaRPr lang="en-US" sz="940" dirty="0"/>
          </a:p>
        </p:txBody>
      </p:sp>
      <p:sp>
        <p:nvSpPr>
          <p:cNvPr id="20" name="Shape 18"/>
          <p:cNvSpPr/>
          <p:nvPr/>
        </p:nvSpPr>
        <p:spPr>
          <a:xfrm>
            <a:off x="6126480" y="1847088"/>
            <a:ext cx="1316736" cy="822960"/>
          </a:xfrm>
          <a:prstGeom prst="roundRect">
            <a:avLst>
              <a:gd name="adj" fmla="val 8889"/>
            </a:avLst>
          </a:prstGeom>
          <a:solidFill>
            <a:srgbClr val="F6F6F6"/>
          </a:solidFill>
          <a:ln w="12700">
            <a:solidFill>
              <a:srgbClr val="C9C9C9"/>
            </a:solidFill>
            <a:prstDash val="solid"/>
          </a:ln>
        </p:spPr>
        <p:txBody>
          <a:bodyPr/>
          <a:lstStyle/>
          <a:p>
            <a:endParaRPr lang="en-US"/>
          </a:p>
        </p:txBody>
      </p:sp>
      <p:sp>
        <p:nvSpPr>
          <p:cNvPr id="21" name="Text 19"/>
          <p:cNvSpPr/>
          <p:nvPr/>
        </p:nvSpPr>
        <p:spPr>
          <a:xfrm>
            <a:off x="6272784" y="1975104"/>
            <a:ext cx="1024128" cy="237744"/>
          </a:xfrm>
          <a:prstGeom prst="rect">
            <a:avLst/>
          </a:prstGeom>
          <a:noFill/>
          <a:ln/>
        </p:spPr>
        <p:txBody>
          <a:bodyPr wrap="square" lIns="0" tIns="0" rIns="0" bIns="0" rtlCol="0" anchor="t">
            <a:normAutofit/>
          </a:bodyPr>
          <a:lstStyle/>
          <a:p>
            <a:pPr marL="0" indent="0" algn="l">
              <a:buNone/>
            </a:pPr>
            <a:r>
              <a:rPr lang="en-US" sz="1230" b="1" dirty="0">
                <a:solidFill>
                  <a:srgbClr val="222222"/>
                </a:solidFill>
                <a:latin typeface="Arial" pitchFamily="34" charset="0"/>
                <a:ea typeface="Arial" pitchFamily="34" charset="-122"/>
                <a:cs typeface="Arial" pitchFamily="34" charset="-120"/>
              </a:rPr>
              <a:t>Subset tiles</a:t>
            </a:r>
            <a:endParaRPr lang="en-US" sz="1230" dirty="0"/>
          </a:p>
        </p:txBody>
      </p:sp>
      <p:sp>
        <p:nvSpPr>
          <p:cNvPr id="22" name="Text 20"/>
          <p:cNvSpPr/>
          <p:nvPr/>
        </p:nvSpPr>
        <p:spPr>
          <a:xfrm>
            <a:off x="6272784" y="2231136"/>
            <a:ext cx="1024128" cy="329184"/>
          </a:xfrm>
          <a:prstGeom prst="rect">
            <a:avLst/>
          </a:prstGeom>
          <a:noFill/>
          <a:ln/>
        </p:spPr>
        <p:txBody>
          <a:bodyPr wrap="square" lIns="0" tIns="0" rIns="0" bIns="0" rtlCol="0" anchor="t">
            <a:normAutofit/>
          </a:bodyPr>
          <a:lstStyle/>
          <a:p>
            <a:pPr marL="0" indent="0" algn="l">
              <a:buNone/>
            </a:pPr>
            <a:r>
              <a:rPr lang="en-US" sz="940" dirty="0">
                <a:solidFill>
                  <a:srgbClr val="444444"/>
                </a:solidFill>
                <a:latin typeface="Arial" pitchFamily="34" charset="0"/>
                <a:ea typeface="Arial" pitchFamily="34" charset="-122"/>
                <a:cs typeface="Arial" pitchFamily="34" charset="-120"/>
              </a:rPr>
              <a:t>HDF5 + copy_metadata</a:t>
            </a:r>
            <a:endParaRPr lang="en-US" sz="940" dirty="0"/>
          </a:p>
        </p:txBody>
      </p:sp>
      <p:sp>
        <p:nvSpPr>
          <p:cNvPr id="23" name="Shape 21"/>
          <p:cNvSpPr/>
          <p:nvPr/>
        </p:nvSpPr>
        <p:spPr>
          <a:xfrm>
            <a:off x="7918704" y="1847088"/>
            <a:ext cx="1316736" cy="822960"/>
          </a:xfrm>
          <a:prstGeom prst="roundRect">
            <a:avLst>
              <a:gd name="adj" fmla="val 8889"/>
            </a:avLst>
          </a:prstGeom>
          <a:solidFill>
            <a:srgbClr val="F6F6F6"/>
          </a:solidFill>
          <a:ln w="12700">
            <a:solidFill>
              <a:srgbClr val="C9C9C9"/>
            </a:solidFill>
            <a:prstDash val="solid"/>
          </a:ln>
        </p:spPr>
        <p:txBody>
          <a:bodyPr/>
          <a:lstStyle/>
          <a:p>
            <a:endParaRPr lang="en-US"/>
          </a:p>
        </p:txBody>
      </p:sp>
      <p:sp>
        <p:nvSpPr>
          <p:cNvPr id="24" name="Text 22"/>
          <p:cNvSpPr/>
          <p:nvPr/>
        </p:nvSpPr>
        <p:spPr>
          <a:xfrm>
            <a:off x="8065008" y="1975104"/>
            <a:ext cx="1024128" cy="237744"/>
          </a:xfrm>
          <a:prstGeom prst="rect">
            <a:avLst/>
          </a:prstGeom>
          <a:noFill/>
          <a:ln/>
        </p:spPr>
        <p:txBody>
          <a:bodyPr wrap="square" lIns="0" tIns="0" rIns="0" bIns="0" rtlCol="0" anchor="t">
            <a:normAutofit/>
          </a:bodyPr>
          <a:lstStyle/>
          <a:p>
            <a:pPr marL="0" indent="0" algn="l">
              <a:buNone/>
            </a:pPr>
            <a:r>
              <a:rPr lang="en-US" sz="1230" b="1" dirty="0">
                <a:solidFill>
                  <a:srgbClr val="222222"/>
                </a:solidFill>
                <a:latin typeface="Arial" pitchFamily="34" charset="0"/>
                <a:ea typeface="Arial" pitchFamily="34" charset="-122"/>
                <a:cs typeface="Arial" pitchFamily="34" charset="-120"/>
              </a:rPr>
              <a:t>Cut report</a:t>
            </a:r>
            <a:endParaRPr lang="en-US" sz="1230" dirty="0"/>
          </a:p>
        </p:txBody>
      </p:sp>
      <p:sp>
        <p:nvSpPr>
          <p:cNvPr id="25" name="Text 23"/>
          <p:cNvSpPr/>
          <p:nvPr/>
        </p:nvSpPr>
        <p:spPr>
          <a:xfrm>
            <a:off x="8065008" y="2231136"/>
            <a:ext cx="1024128" cy="329184"/>
          </a:xfrm>
          <a:prstGeom prst="rect">
            <a:avLst/>
          </a:prstGeom>
          <a:noFill/>
          <a:ln/>
        </p:spPr>
        <p:txBody>
          <a:bodyPr wrap="square" lIns="0" tIns="0" rIns="0" bIns="0" rtlCol="0" anchor="t">
            <a:normAutofit/>
          </a:bodyPr>
          <a:lstStyle/>
          <a:p>
            <a:pPr marL="0" indent="0" algn="l">
              <a:buNone/>
            </a:pPr>
            <a:r>
              <a:rPr lang="en-US" sz="940" dirty="0">
                <a:solidFill>
                  <a:srgbClr val="444444"/>
                </a:solidFill>
                <a:latin typeface="Arial" pitchFamily="34" charset="0"/>
                <a:ea typeface="Arial" pitchFamily="34" charset="-122"/>
                <a:cs typeface="Arial" pitchFamily="34" charset="-120"/>
              </a:rPr>
              <a:t>SUCCESS / FAILURE txt</a:t>
            </a:r>
            <a:endParaRPr lang="en-US" sz="940" dirty="0"/>
          </a:p>
        </p:txBody>
      </p:sp>
      <p:sp>
        <p:nvSpPr>
          <p:cNvPr id="26" name="Shape 24"/>
          <p:cNvSpPr/>
          <p:nvPr/>
        </p:nvSpPr>
        <p:spPr>
          <a:xfrm>
            <a:off x="9710928" y="1847088"/>
            <a:ext cx="1316736" cy="822960"/>
          </a:xfrm>
          <a:prstGeom prst="roundRect">
            <a:avLst>
              <a:gd name="adj" fmla="val 8889"/>
            </a:avLst>
          </a:prstGeom>
          <a:solidFill>
            <a:srgbClr val="F6F6F6"/>
          </a:solidFill>
          <a:ln w="12700">
            <a:solidFill>
              <a:srgbClr val="C9C9C9"/>
            </a:solidFill>
            <a:prstDash val="solid"/>
          </a:ln>
        </p:spPr>
        <p:txBody>
          <a:bodyPr/>
          <a:lstStyle/>
          <a:p>
            <a:endParaRPr lang="en-US"/>
          </a:p>
        </p:txBody>
      </p:sp>
      <p:sp>
        <p:nvSpPr>
          <p:cNvPr id="27" name="Text 25"/>
          <p:cNvSpPr/>
          <p:nvPr/>
        </p:nvSpPr>
        <p:spPr>
          <a:xfrm>
            <a:off x="9857232" y="1975104"/>
            <a:ext cx="1024128" cy="237744"/>
          </a:xfrm>
          <a:prstGeom prst="rect">
            <a:avLst/>
          </a:prstGeom>
          <a:noFill/>
          <a:ln/>
        </p:spPr>
        <p:txBody>
          <a:bodyPr wrap="square" lIns="0" tIns="0" rIns="0" bIns="0" rtlCol="0" anchor="t">
            <a:normAutofit/>
          </a:bodyPr>
          <a:lstStyle/>
          <a:p>
            <a:pPr marL="0" indent="0" algn="l">
              <a:buNone/>
            </a:pPr>
            <a:r>
              <a:rPr lang="en-US" sz="1230" b="1" dirty="0">
                <a:solidFill>
                  <a:srgbClr val="222222"/>
                </a:solidFill>
                <a:latin typeface="Arial" pitchFamily="34" charset="0"/>
                <a:ea typeface="Arial" pitchFamily="34" charset="-122"/>
                <a:cs typeface="Arial" pitchFamily="34" charset="-120"/>
              </a:rPr>
              <a:t>Parquet DB</a:t>
            </a:r>
            <a:endParaRPr lang="en-US" sz="1230" dirty="0"/>
          </a:p>
        </p:txBody>
      </p:sp>
      <p:sp>
        <p:nvSpPr>
          <p:cNvPr id="28" name="Text 26"/>
          <p:cNvSpPr/>
          <p:nvPr/>
        </p:nvSpPr>
        <p:spPr>
          <a:xfrm>
            <a:off x="9805277" y="2231136"/>
            <a:ext cx="1170432" cy="329184"/>
          </a:xfrm>
          <a:prstGeom prst="rect">
            <a:avLst/>
          </a:prstGeom>
          <a:noFill/>
          <a:ln/>
        </p:spPr>
        <p:txBody>
          <a:bodyPr wrap="square" lIns="0" tIns="0" rIns="0" bIns="0" rtlCol="0" anchor="t">
            <a:normAutofit/>
          </a:bodyPr>
          <a:lstStyle/>
          <a:p>
            <a:pPr marL="0" indent="0" algn="l">
              <a:buNone/>
            </a:pPr>
            <a:r>
              <a:rPr lang="en-US" sz="940" dirty="0">
                <a:solidFill>
                  <a:srgbClr val="444444"/>
                </a:solidFill>
                <a:latin typeface="Arial" pitchFamily="34" charset="0"/>
                <a:ea typeface="Arial" pitchFamily="34" charset="-122"/>
                <a:cs typeface="Arial" pitchFamily="34" charset="-120"/>
              </a:rPr>
              <a:t>metadata[quickinfo]</a:t>
            </a:r>
            <a:endParaRPr lang="en-US" sz="940" dirty="0"/>
          </a:p>
        </p:txBody>
      </p:sp>
      <p:sp>
        <p:nvSpPr>
          <p:cNvPr id="29" name="Shape 27"/>
          <p:cNvSpPr/>
          <p:nvPr/>
        </p:nvSpPr>
        <p:spPr>
          <a:xfrm>
            <a:off x="749808" y="3127248"/>
            <a:ext cx="10680192" cy="0"/>
          </a:xfrm>
          <a:prstGeom prst="line">
            <a:avLst/>
          </a:prstGeom>
          <a:noFill/>
          <a:ln w="12700">
            <a:solidFill>
              <a:srgbClr val="D6D6D6"/>
            </a:solidFill>
            <a:prstDash val="solid"/>
          </a:ln>
        </p:spPr>
        <p:txBody>
          <a:bodyPr/>
          <a:lstStyle/>
          <a:p>
            <a:endParaRPr lang="en-US"/>
          </a:p>
        </p:txBody>
      </p:sp>
      <p:sp>
        <p:nvSpPr>
          <p:cNvPr id="30" name="Text 28"/>
          <p:cNvSpPr/>
          <p:nvPr/>
        </p:nvSpPr>
        <p:spPr>
          <a:xfrm>
            <a:off x="749808" y="3328416"/>
            <a:ext cx="2560320" cy="219456"/>
          </a:xfrm>
          <a:prstGeom prst="rect">
            <a:avLst/>
          </a:prstGeom>
          <a:noFill/>
          <a:ln/>
        </p:spPr>
        <p:txBody>
          <a:bodyPr wrap="square" lIns="0" tIns="0" rIns="0" bIns="0" rtlCol="0" anchor="ctr">
            <a:normAutofit/>
          </a:bodyPr>
          <a:lstStyle/>
          <a:p>
            <a:pPr marL="0" indent="0">
              <a:buNone/>
            </a:pPr>
            <a:r>
              <a:rPr lang="en-US" sz="1080" b="1" dirty="0">
                <a:solidFill>
                  <a:srgbClr val="6E6E6E"/>
                </a:solidFill>
                <a:latin typeface="Arial" pitchFamily="34" charset="0"/>
                <a:ea typeface="Arial" pitchFamily="34" charset="-122"/>
                <a:cs typeface="Arial" pitchFamily="34" charset="-120"/>
              </a:rPr>
              <a:t>IMPLEMENTATION NOTES</a:t>
            </a:r>
            <a:endParaRPr lang="en-US" sz="1080" dirty="0"/>
          </a:p>
        </p:txBody>
      </p:sp>
      <p:sp>
        <p:nvSpPr>
          <p:cNvPr id="31" name="Shape 29"/>
          <p:cNvSpPr/>
          <p:nvPr/>
        </p:nvSpPr>
        <p:spPr>
          <a:xfrm>
            <a:off x="749808" y="3657600"/>
            <a:ext cx="3310128" cy="2121408"/>
          </a:xfrm>
          <a:prstGeom prst="roundRect">
            <a:avLst>
              <a:gd name="adj" fmla="val 3448"/>
            </a:avLst>
          </a:prstGeom>
          <a:solidFill>
            <a:srgbClr val="F6F6F6"/>
          </a:solidFill>
          <a:ln w="12700">
            <a:solidFill>
              <a:srgbClr val="C9C9C9"/>
            </a:solidFill>
            <a:prstDash val="solid"/>
          </a:ln>
        </p:spPr>
        <p:txBody>
          <a:bodyPr/>
          <a:lstStyle/>
          <a:p>
            <a:endParaRPr lang="en-US"/>
          </a:p>
        </p:txBody>
      </p:sp>
      <p:sp>
        <p:nvSpPr>
          <p:cNvPr id="32" name="Text 30"/>
          <p:cNvSpPr/>
          <p:nvPr/>
        </p:nvSpPr>
        <p:spPr>
          <a:xfrm>
            <a:off x="950976" y="3803904"/>
            <a:ext cx="2834640" cy="256032"/>
          </a:xfrm>
          <a:prstGeom prst="rect">
            <a:avLst/>
          </a:prstGeom>
          <a:noFill/>
          <a:ln/>
        </p:spPr>
        <p:txBody>
          <a:bodyPr wrap="square" lIns="0" tIns="0" rIns="0" bIns="0" rtlCol="0" anchor="ctr">
            <a:normAutofit/>
          </a:bodyPr>
          <a:lstStyle/>
          <a:p>
            <a:pPr marL="0" indent="0">
              <a:buNone/>
            </a:pPr>
            <a:r>
              <a:rPr lang="en-US" sz="1280" b="1" dirty="0">
                <a:solidFill>
                  <a:srgbClr val="222222"/>
                </a:solidFill>
                <a:latin typeface="Arial" pitchFamily="34" charset="0"/>
                <a:ea typeface="Arial" pitchFamily="34" charset="-122"/>
                <a:cs typeface="Arial" pitchFamily="34" charset="-120"/>
              </a:rPr>
              <a:t>Geometry and grid selection</a:t>
            </a:r>
            <a:endParaRPr lang="en-US" sz="1280" dirty="0"/>
          </a:p>
        </p:txBody>
      </p:sp>
      <p:sp>
        <p:nvSpPr>
          <p:cNvPr id="33" name="Text 31"/>
          <p:cNvSpPr/>
          <p:nvPr/>
        </p:nvSpPr>
        <p:spPr>
          <a:xfrm>
            <a:off x="950976" y="4133088"/>
            <a:ext cx="2834640" cy="1243584"/>
          </a:xfrm>
          <a:prstGeom prst="rect">
            <a:avLst/>
          </a:prstGeom>
          <a:noFill/>
          <a:ln/>
        </p:spPr>
        <p:txBody>
          <a:bodyPr wrap="square" lIns="0" tIns="0" rIns="0" bIns="0" rtlCol="0" anchor="t">
            <a:normAutofit/>
          </a:bodyPr>
          <a:lstStyle/>
          <a:p>
            <a:pPr marL="0" indent="0" algn="l">
              <a:buNone/>
            </a:pPr>
            <a:r>
              <a:rPr lang="en-US" sz="1080" dirty="0">
                <a:solidFill>
                  <a:srgbClr val="444444"/>
                </a:solidFill>
                <a:latin typeface="Arial" pitchFamily="34" charset="0"/>
                <a:ea typeface="Arial" pitchFamily="34" charset="-122"/>
                <a:cs typeface="Arial" pitchFamily="34" charset="-120"/>
              </a:rPr>
              <a:t>If grid_10km.geojson is missing, the script can generate it via python -m sarpyx.utils.grid. Product coverage is intersected with grid points and then inflated into rectangles that become tile footprints.</a:t>
            </a:r>
            <a:endParaRPr lang="en-US" sz="1080" dirty="0"/>
          </a:p>
        </p:txBody>
      </p:sp>
      <p:sp>
        <p:nvSpPr>
          <p:cNvPr id="34" name="Shape 32"/>
          <p:cNvSpPr/>
          <p:nvPr/>
        </p:nvSpPr>
        <p:spPr>
          <a:xfrm>
            <a:off x="4443984" y="3657600"/>
            <a:ext cx="3310128" cy="2121408"/>
          </a:xfrm>
          <a:prstGeom prst="roundRect">
            <a:avLst>
              <a:gd name="adj" fmla="val 3448"/>
            </a:avLst>
          </a:prstGeom>
          <a:solidFill>
            <a:srgbClr val="F6F6F6"/>
          </a:solidFill>
          <a:ln w="12700">
            <a:solidFill>
              <a:srgbClr val="C9C9C9"/>
            </a:solidFill>
            <a:prstDash val="solid"/>
          </a:ln>
        </p:spPr>
        <p:txBody>
          <a:bodyPr/>
          <a:lstStyle/>
          <a:p>
            <a:endParaRPr lang="en-US"/>
          </a:p>
        </p:txBody>
      </p:sp>
      <p:sp>
        <p:nvSpPr>
          <p:cNvPr id="35" name="Text 33"/>
          <p:cNvSpPr/>
          <p:nvPr/>
        </p:nvSpPr>
        <p:spPr>
          <a:xfrm>
            <a:off x="4645152" y="3803904"/>
            <a:ext cx="2834640" cy="256032"/>
          </a:xfrm>
          <a:prstGeom prst="rect">
            <a:avLst/>
          </a:prstGeom>
          <a:noFill/>
          <a:ln/>
        </p:spPr>
        <p:txBody>
          <a:bodyPr wrap="square" lIns="0" tIns="0" rIns="0" bIns="0" rtlCol="0" anchor="ctr">
            <a:normAutofit/>
          </a:bodyPr>
          <a:lstStyle/>
          <a:p>
            <a:pPr marL="0" indent="0">
              <a:buNone/>
            </a:pPr>
            <a:r>
              <a:rPr lang="en-US" sz="1280" b="1" dirty="0">
                <a:solidFill>
                  <a:srgbClr val="222222"/>
                </a:solidFill>
                <a:latin typeface="Arial" pitchFamily="34" charset="0"/>
                <a:ea typeface="Arial" pitchFamily="34" charset="-122"/>
                <a:cs typeface="Arial" pitchFamily="34" charset="-120"/>
              </a:rPr>
              <a:t>Actual tile extraction</a:t>
            </a:r>
            <a:endParaRPr lang="en-US" sz="1280" dirty="0"/>
          </a:p>
        </p:txBody>
      </p:sp>
      <p:sp>
        <p:nvSpPr>
          <p:cNvPr id="36" name="Text 34"/>
          <p:cNvSpPr/>
          <p:nvPr/>
        </p:nvSpPr>
        <p:spPr>
          <a:xfrm>
            <a:off x="4645152" y="4133088"/>
            <a:ext cx="2834640" cy="1243584"/>
          </a:xfrm>
          <a:prstGeom prst="rect">
            <a:avLst/>
          </a:prstGeom>
          <a:noFill/>
          <a:ln/>
        </p:spPr>
        <p:txBody>
          <a:bodyPr wrap="square" lIns="0" tIns="0" rIns="0" bIns="0" rtlCol="0" anchor="t">
            <a:normAutofit/>
          </a:bodyPr>
          <a:lstStyle/>
          <a:p>
            <a:pPr marL="0" indent="0" algn="l">
              <a:buNone/>
            </a:pPr>
            <a:r>
              <a:rPr lang="en-US" sz="1080" dirty="0">
                <a:solidFill>
                  <a:srgbClr val="444444"/>
                </a:solidFill>
                <a:latin typeface="Arial" pitchFamily="34" charset="0"/>
                <a:ea typeface="Arial" pitchFamily="34" charset="-122"/>
                <a:cs typeface="Arial" pitchFamily="34" charset="-120"/>
              </a:rPr>
              <a:t>For non-NISAR products the subset() helper calls SNAP with HDF5 output, output_name=tile_name, geo_region=WKT, and copy_metadata=True. Each successful cut becomes &lt;tile&gt;.h5 in the cuts directory.</a:t>
            </a:r>
            <a:endParaRPr lang="en-US" sz="1080" dirty="0"/>
          </a:p>
        </p:txBody>
      </p:sp>
      <p:sp>
        <p:nvSpPr>
          <p:cNvPr id="37" name="Shape 35"/>
          <p:cNvSpPr/>
          <p:nvPr/>
        </p:nvSpPr>
        <p:spPr>
          <a:xfrm>
            <a:off x="8138160" y="3657600"/>
            <a:ext cx="3291840" cy="2121408"/>
          </a:xfrm>
          <a:prstGeom prst="roundRect">
            <a:avLst>
              <a:gd name="adj" fmla="val 3448"/>
            </a:avLst>
          </a:prstGeom>
          <a:solidFill>
            <a:srgbClr val="F6F6F6"/>
          </a:solidFill>
          <a:ln w="12700">
            <a:solidFill>
              <a:srgbClr val="C9C9C9"/>
            </a:solidFill>
            <a:prstDash val="solid"/>
          </a:ln>
        </p:spPr>
        <p:txBody>
          <a:bodyPr/>
          <a:lstStyle/>
          <a:p>
            <a:endParaRPr lang="en-US"/>
          </a:p>
        </p:txBody>
      </p:sp>
      <p:sp>
        <p:nvSpPr>
          <p:cNvPr id="38" name="Text 36"/>
          <p:cNvSpPr/>
          <p:nvPr/>
        </p:nvSpPr>
        <p:spPr>
          <a:xfrm>
            <a:off x="8339328" y="3803904"/>
            <a:ext cx="2798064" cy="256032"/>
          </a:xfrm>
          <a:prstGeom prst="rect">
            <a:avLst/>
          </a:prstGeom>
          <a:noFill/>
          <a:ln/>
        </p:spPr>
        <p:txBody>
          <a:bodyPr wrap="square" lIns="0" tIns="0" rIns="0" bIns="0" rtlCol="0" anchor="ctr">
            <a:normAutofit/>
          </a:bodyPr>
          <a:lstStyle/>
          <a:p>
            <a:pPr marL="0" indent="0">
              <a:buNone/>
            </a:pPr>
            <a:r>
              <a:rPr lang="en-US" sz="1280" b="1" dirty="0">
                <a:solidFill>
                  <a:srgbClr val="222222"/>
                </a:solidFill>
                <a:latin typeface="Arial" pitchFamily="34" charset="0"/>
                <a:ea typeface="Arial" pitchFamily="34" charset="-122"/>
                <a:cs typeface="Arial" pitchFamily="34" charset="-120"/>
              </a:rPr>
              <a:t>TOPS-specific validation logic</a:t>
            </a:r>
            <a:endParaRPr lang="en-US" sz="1280" dirty="0"/>
          </a:p>
        </p:txBody>
      </p:sp>
      <p:sp>
        <p:nvSpPr>
          <p:cNvPr id="39" name="Text 37"/>
          <p:cNvSpPr/>
          <p:nvPr/>
        </p:nvSpPr>
        <p:spPr>
          <a:xfrm>
            <a:off x="8339328" y="4133088"/>
            <a:ext cx="2761488" cy="1243584"/>
          </a:xfrm>
          <a:prstGeom prst="rect">
            <a:avLst/>
          </a:prstGeom>
          <a:noFill/>
          <a:ln/>
        </p:spPr>
        <p:txBody>
          <a:bodyPr wrap="square" lIns="0" tIns="0" rIns="0" bIns="0" rtlCol="0" anchor="t">
            <a:normAutofit/>
          </a:bodyPr>
          <a:lstStyle/>
          <a:p>
            <a:pPr marL="0" indent="0" algn="l">
              <a:buNone/>
            </a:pPr>
            <a:r>
              <a:rPr lang="en-US" sz="1080" dirty="0">
                <a:solidFill>
                  <a:srgbClr val="444444"/>
                </a:solidFill>
                <a:latin typeface="Arial" pitchFamily="34" charset="0"/>
                <a:ea typeface="Arial" pitchFamily="34" charset="-122"/>
                <a:cs typeface="Arial" pitchFamily="34" charset="-120"/>
              </a:rPr>
              <a:t>TOPS swaths are tiled independently, so some boundary tiles can legitimately fail on a single swath. The aggregate coverage check raises only when the combined TOPS run produces zero tiles at all.</a:t>
            </a:r>
            <a:endParaRPr lang="en-US" sz="1080" dirty="0"/>
          </a:p>
        </p:txBody>
      </p:sp>
      <p:sp>
        <p:nvSpPr>
          <p:cNvPr id="40" name="Text 38"/>
          <p:cNvSpPr/>
          <p:nvPr/>
        </p:nvSpPr>
        <p:spPr>
          <a:xfrm>
            <a:off x="749808" y="6053328"/>
            <a:ext cx="10698480" cy="329184"/>
          </a:xfrm>
          <a:prstGeom prst="rect">
            <a:avLst/>
          </a:prstGeom>
          <a:noFill/>
          <a:ln/>
        </p:spPr>
        <p:txBody>
          <a:bodyPr wrap="square" lIns="0" tIns="0" rIns="0" bIns="0" rtlCol="0" anchor="t">
            <a:normAutofit/>
          </a:bodyPr>
          <a:lstStyle/>
          <a:p>
            <a:pPr marL="0" indent="0" algn="l">
              <a:buNone/>
            </a:pPr>
            <a:r>
              <a:rPr lang="en-US" sz="1110" dirty="0">
                <a:solidFill>
                  <a:srgbClr val="444444"/>
                </a:solidFill>
                <a:latin typeface="Arial" pitchFamily="34" charset="0"/>
                <a:ea typeface="Arial" pitchFamily="34" charset="-122"/>
                <a:cs typeface="Arial" pitchFamily="34" charset="-120"/>
              </a:rPr>
              <a:t>After tile creation, create_tile_database() scans all HDF5 tiles, reads metadata[quickinfo], and writes &lt;tile-folder&gt;_core_metadata.parquet for lightweight cataloging.</a:t>
            </a:r>
            <a:endParaRPr lang="en-US" sz="111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D9F12AA9-C94C-DD8F-1DA7-60540580DCFD}"/>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588614D5-9C9E-15E4-F76C-513D7A69A9DD}"/>
              </a:ext>
            </a:extLst>
          </p:cNvPr>
          <p:cNvSpPr/>
          <p:nvPr/>
        </p:nvSpPr>
        <p:spPr>
          <a:xfrm>
            <a:off x="640080" y="356616"/>
            <a:ext cx="11109960" cy="0"/>
          </a:xfrm>
          <a:prstGeom prst="line">
            <a:avLst/>
          </a:prstGeom>
          <a:noFill/>
          <a:ln w="19050">
            <a:solidFill>
              <a:srgbClr val="4A4A4A"/>
            </a:solidFill>
            <a:prstDash val="solid"/>
          </a:ln>
        </p:spPr>
        <p:txBody>
          <a:bodyPr/>
          <a:lstStyle/>
          <a:p>
            <a:endParaRPr lang="en-US"/>
          </a:p>
        </p:txBody>
      </p:sp>
      <p:sp>
        <p:nvSpPr>
          <p:cNvPr id="3" name="Text 1">
            <a:extLst>
              <a:ext uri="{FF2B5EF4-FFF2-40B4-BE49-F238E27FC236}">
                <a16:creationId xmlns:a16="http://schemas.microsoft.com/office/drawing/2014/main" id="{B92F8B87-0DA9-88B6-E2DF-E3BBB9672DFA}"/>
              </a:ext>
            </a:extLst>
          </p:cNvPr>
          <p:cNvSpPr/>
          <p:nvPr/>
        </p:nvSpPr>
        <p:spPr>
          <a:xfrm>
            <a:off x="694944" y="512064"/>
            <a:ext cx="7863840" cy="457200"/>
          </a:xfrm>
          <a:prstGeom prst="rect">
            <a:avLst/>
          </a:prstGeom>
          <a:noFill/>
          <a:ln/>
        </p:spPr>
        <p:txBody>
          <a:bodyPr wrap="square" lIns="0" tIns="0" rIns="0" bIns="0" rtlCol="0" anchor="ctr">
            <a:normAutofit fontScale="92500"/>
          </a:bodyPr>
          <a:lstStyle/>
          <a:p>
            <a:pPr marL="0" indent="0">
              <a:buNone/>
            </a:pPr>
            <a:r>
              <a:rPr lang="en-US" sz="2700" b="1" dirty="0">
                <a:solidFill>
                  <a:srgbClr val="222222"/>
                </a:solidFill>
                <a:latin typeface="Arial" pitchFamily="34" charset="0"/>
                <a:ea typeface="Arial" pitchFamily="34" charset="-122"/>
                <a:cs typeface="Arial" pitchFamily="34" charset="-120"/>
              </a:rPr>
              <a:t>Tiling, coverage validation, and parquet indexing</a:t>
            </a:r>
            <a:endParaRPr lang="en-US" sz="2700" dirty="0"/>
          </a:p>
        </p:txBody>
      </p:sp>
      <p:sp>
        <p:nvSpPr>
          <p:cNvPr id="4" name="Text 2">
            <a:extLst>
              <a:ext uri="{FF2B5EF4-FFF2-40B4-BE49-F238E27FC236}">
                <a16:creationId xmlns:a16="http://schemas.microsoft.com/office/drawing/2014/main" id="{B815FA4E-D549-F25F-CEC6-A74F85C480CA}"/>
              </a:ext>
            </a:extLst>
          </p:cNvPr>
          <p:cNvSpPr/>
          <p:nvPr/>
        </p:nvSpPr>
        <p:spPr>
          <a:xfrm>
            <a:off x="694944" y="987552"/>
            <a:ext cx="10424160" cy="256032"/>
          </a:xfrm>
          <a:prstGeom prst="rect">
            <a:avLst/>
          </a:prstGeom>
          <a:noFill/>
          <a:ln/>
        </p:spPr>
        <p:txBody>
          <a:bodyPr wrap="square" lIns="0" tIns="0" rIns="0" bIns="0" rtlCol="0" anchor="ctr">
            <a:normAutofit/>
          </a:bodyPr>
          <a:lstStyle/>
          <a:p>
            <a:pPr marL="0" indent="0">
              <a:buNone/>
            </a:pPr>
            <a:r>
              <a:rPr lang="en-US" sz="1150" dirty="0">
                <a:solidFill>
                  <a:srgbClr val="6E6E6E"/>
                </a:solidFill>
                <a:latin typeface="Arial" pitchFamily="34" charset="0"/>
                <a:ea typeface="Arial" pitchFamily="34" charset="-122"/>
                <a:cs typeface="Arial" pitchFamily="34" charset="-120"/>
              </a:rPr>
              <a:t>What happens after preprocessing once the intermediate product exists</a:t>
            </a:r>
            <a:endParaRPr lang="en-US" sz="1150" dirty="0"/>
          </a:p>
        </p:txBody>
      </p:sp>
      <p:sp>
        <p:nvSpPr>
          <p:cNvPr id="5" name="Text 3">
            <a:extLst>
              <a:ext uri="{FF2B5EF4-FFF2-40B4-BE49-F238E27FC236}">
                <a16:creationId xmlns:a16="http://schemas.microsoft.com/office/drawing/2014/main" id="{E4842D32-8F81-A9D1-8E2F-BC8197212720}"/>
              </a:ext>
            </a:extLst>
          </p:cNvPr>
          <p:cNvSpPr/>
          <p:nvPr/>
        </p:nvSpPr>
        <p:spPr>
          <a:xfrm>
            <a:off x="749808" y="1426464"/>
            <a:ext cx="2743200" cy="219456"/>
          </a:xfrm>
          <a:prstGeom prst="rect">
            <a:avLst/>
          </a:prstGeom>
          <a:noFill/>
          <a:ln/>
        </p:spPr>
        <p:txBody>
          <a:bodyPr wrap="square" lIns="0" tIns="0" rIns="0" bIns="0" rtlCol="0" anchor="ctr">
            <a:normAutofit/>
          </a:bodyPr>
          <a:lstStyle/>
          <a:p>
            <a:pPr marL="0" indent="0">
              <a:buNone/>
            </a:pPr>
            <a:r>
              <a:rPr lang="en-US" sz="1080" b="1" dirty="0">
                <a:solidFill>
                  <a:srgbClr val="6E6E6E"/>
                </a:solidFill>
                <a:latin typeface="Arial" pitchFamily="34" charset="0"/>
                <a:ea typeface="Arial" pitchFamily="34" charset="-122"/>
                <a:cs typeface="Arial" pitchFamily="34" charset="-120"/>
              </a:rPr>
              <a:t>POST-PROCESSING FLOW</a:t>
            </a:r>
            <a:endParaRPr lang="en-US" sz="1080" dirty="0"/>
          </a:p>
        </p:txBody>
      </p:sp>
      <p:sp>
        <p:nvSpPr>
          <p:cNvPr id="6" name="Shape 4">
            <a:extLst>
              <a:ext uri="{FF2B5EF4-FFF2-40B4-BE49-F238E27FC236}">
                <a16:creationId xmlns:a16="http://schemas.microsoft.com/office/drawing/2014/main" id="{55E5B9BA-769A-6B7F-BCFF-C8C7281205C2}"/>
              </a:ext>
            </a:extLst>
          </p:cNvPr>
          <p:cNvSpPr/>
          <p:nvPr/>
        </p:nvSpPr>
        <p:spPr>
          <a:xfrm>
            <a:off x="2066544" y="2258568"/>
            <a:ext cx="365760" cy="0"/>
          </a:xfrm>
          <a:prstGeom prst="line">
            <a:avLst/>
          </a:prstGeom>
          <a:noFill/>
          <a:ln w="19050">
            <a:solidFill>
              <a:srgbClr val="C9C9C9"/>
            </a:solidFill>
            <a:prstDash val="solid"/>
            <a:tailEnd type="triangle"/>
          </a:ln>
        </p:spPr>
        <p:txBody>
          <a:bodyPr/>
          <a:lstStyle/>
          <a:p>
            <a:endParaRPr lang="en-US"/>
          </a:p>
        </p:txBody>
      </p:sp>
      <p:sp>
        <p:nvSpPr>
          <p:cNvPr id="7" name="Shape 5">
            <a:extLst>
              <a:ext uri="{FF2B5EF4-FFF2-40B4-BE49-F238E27FC236}">
                <a16:creationId xmlns:a16="http://schemas.microsoft.com/office/drawing/2014/main" id="{CF661FD1-835F-6372-5BA7-72BF0E8E19CF}"/>
              </a:ext>
            </a:extLst>
          </p:cNvPr>
          <p:cNvSpPr/>
          <p:nvPr/>
        </p:nvSpPr>
        <p:spPr>
          <a:xfrm>
            <a:off x="3858768" y="2258568"/>
            <a:ext cx="365760" cy="0"/>
          </a:xfrm>
          <a:prstGeom prst="line">
            <a:avLst/>
          </a:prstGeom>
          <a:noFill/>
          <a:ln w="19050">
            <a:solidFill>
              <a:srgbClr val="C9C9C9"/>
            </a:solidFill>
            <a:prstDash val="solid"/>
            <a:tailEnd type="triangle"/>
          </a:ln>
        </p:spPr>
        <p:txBody>
          <a:bodyPr/>
          <a:lstStyle/>
          <a:p>
            <a:endParaRPr lang="en-US"/>
          </a:p>
        </p:txBody>
      </p:sp>
      <p:sp>
        <p:nvSpPr>
          <p:cNvPr id="8" name="Shape 6">
            <a:extLst>
              <a:ext uri="{FF2B5EF4-FFF2-40B4-BE49-F238E27FC236}">
                <a16:creationId xmlns:a16="http://schemas.microsoft.com/office/drawing/2014/main" id="{6331B34D-F224-5301-8E49-4766B889C24C}"/>
              </a:ext>
            </a:extLst>
          </p:cNvPr>
          <p:cNvSpPr/>
          <p:nvPr/>
        </p:nvSpPr>
        <p:spPr>
          <a:xfrm>
            <a:off x="5650992" y="2258568"/>
            <a:ext cx="365760" cy="0"/>
          </a:xfrm>
          <a:prstGeom prst="line">
            <a:avLst/>
          </a:prstGeom>
          <a:noFill/>
          <a:ln w="19050">
            <a:solidFill>
              <a:srgbClr val="C9C9C9"/>
            </a:solidFill>
            <a:prstDash val="solid"/>
            <a:tailEnd type="triangle"/>
          </a:ln>
        </p:spPr>
        <p:txBody>
          <a:bodyPr/>
          <a:lstStyle/>
          <a:p>
            <a:endParaRPr lang="en-US"/>
          </a:p>
        </p:txBody>
      </p:sp>
      <p:sp>
        <p:nvSpPr>
          <p:cNvPr id="9" name="Shape 7">
            <a:extLst>
              <a:ext uri="{FF2B5EF4-FFF2-40B4-BE49-F238E27FC236}">
                <a16:creationId xmlns:a16="http://schemas.microsoft.com/office/drawing/2014/main" id="{D9AA9DBC-D6A5-8096-08C5-284DE6483EEC}"/>
              </a:ext>
            </a:extLst>
          </p:cNvPr>
          <p:cNvSpPr/>
          <p:nvPr/>
        </p:nvSpPr>
        <p:spPr>
          <a:xfrm>
            <a:off x="7443216" y="2258568"/>
            <a:ext cx="365760" cy="0"/>
          </a:xfrm>
          <a:prstGeom prst="line">
            <a:avLst/>
          </a:prstGeom>
          <a:noFill/>
          <a:ln w="19050">
            <a:solidFill>
              <a:srgbClr val="C9C9C9"/>
            </a:solidFill>
            <a:prstDash val="solid"/>
            <a:tailEnd type="triangle"/>
          </a:ln>
        </p:spPr>
        <p:txBody>
          <a:bodyPr/>
          <a:lstStyle/>
          <a:p>
            <a:endParaRPr lang="en-US"/>
          </a:p>
        </p:txBody>
      </p:sp>
      <p:sp>
        <p:nvSpPr>
          <p:cNvPr id="10" name="Shape 8">
            <a:extLst>
              <a:ext uri="{FF2B5EF4-FFF2-40B4-BE49-F238E27FC236}">
                <a16:creationId xmlns:a16="http://schemas.microsoft.com/office/drawing/2014/main" id="{34E9DCCB-9BE2-0024-E0A5-155E65A31C1C}"/>
              </a:ext>
            </a:extLst>
          </p:cNvPr>
          <p:cNvSpPr/>
          <p:nvPr/>
        </p:nvSpPr>
        <p:spPr>
          <a:xfrm>
            <a:off x="9235440" y="2258568"/>
            <a:ext cx="365760" cy="0"/>
          </a:xfrm>
          <a:prstGeom prst="line">
            <a:avLst/>
          </a:prstGeom>
          <a:noFill/>
          <a:ln w="19050">
            <a:solidFill>
              <a:srgbClr val="C9C9C9"/>
            </a:solidFill>
            <a:prstDash val="solid"/>
            <a:tailEnd type="triangle"/>
          </a:ln>
        </p:spPr>
        <p:txBody>
          <a:bodyPr/>
          <a:lstStyle/>
          <a:p>
            <a:endParaRPr lang="en-US"/>
          </a:p>
        </p:txBody>
      </p:sp>
      <p:sp>
        <p:nvSpPr>
          <p:cNvPr id="11" name="Shape 9">
            <a:extLst>
              <a:ext uri="{FF2B5EF4-FFF2-40B4-BE49-F238E27FC236}">
                <a16:creationId xmlns:a16="http://schemas.microsoft.com/office/drawing/2014/main" id="{D59ED5B4-1A7D-7659-E4E7-0CFC4C0D602C}"/>
              </a:ext>
            </a:extLst>
          </p:cNvPr>
          <p:cNvSpPr/>
          <p:nvPr/>
        </p:nvSpPr>
        <p:spPr>
          <a:xfrm>
            <a:off x="749808" y="1847088"/>
            <a:ext cx="1316736" cy="822960"/>
          </a:xfrm>
          <a:prstGeom prst="roundRect">
            <a:avLst>
              <a:gd name="adj" fmla="val 8889"/>
            </a:avLst>
          </a:prstGeom>
          <a:solidFill>
            <a:srgbClr val="F6F6F6"/>
          </a:solidFill>
          <a:ln w="12700">
            <a:solidFill>
              <a:srgbClr val="C9C9C9"/>
            </a:solidFill>
            <a:prstDash val="solid"/>
          </a:ln>
        </p:spPr>
        <p:txBody>
          <a:bodyPr/>
          <a:lstStyle/>
          <a:p>
            <a:endParaRPr lang="en-US"/>
          </a:p>
        </p:txBody>
      </p:sp>
      <p:sp>
        <p:nvSpPr>
          <p:cNvPr id="12" name="Text 10">
            <a:extLst>
              <a:ext uri="{FF2B5EF4-FFF2-40B4-BE49-F238E27FC236}">
                <a16:creationId xmlns:a16="http://schemas.microsoft.com/office/drawing/2014/main" id="{FD9CB2C0-1934-FC3F-1702-FB4C442E930F}"/>
              </a:ext>
            </a:extLst>
          </p:cNvPr>
          <p:cNvSpPr/>
          <p:nvPr/>
        </p:nvSpPr>
        <p:spPr>
          <a:xfrm>
            <a:off x="896112" y="1975104"/>
            <a:ext cx="1024128" cy="237744"/>
          </a:xfrm>
          <a:prstGeom prst="rect">
            <a:avLst/>
          </a:prstGeom>
          <a:noFill/>
          <a:ln/>
        </p:spPr>
        <p:txBody>
          <a:bodyPr wrap="square" lIns="0" tIns="0" rIns="0" bIns="0" rtlCol="0" anchor="t">
            <a:normAutofit/>
          </a:bodyPr>
          <a:lstStyle/>
          <a:p>
            <a:pPr marL="0" indent="0" algn="l">
              <a:buNone/>
            </a:pPr>
            <a:r>
              <a:rPr lang="en-US" sz="1230" b="1" dirty="0">
                <a:solidFill>
                  <a:srgbClr val="222222"/>
                </a:solidFill>
                <a:latin typeface="Arial" pitchFamily="34" charset="0"/>
                <a:ea typeface="Arial" pitchFamily="34" charset="-122"/>
                <a:cs typeface="Arial" pitchFamily="34" charset="-120"/>
              </a:rPr>
              <a:t>Product WKT</a:t>
            </a:r>
            <a:endParaRPr lang="en-US" sz="1230" dirty="0"/>
          </a:p>
        </p:txBody>
      </p:sp>
      <p:sp>
        <p:nvSpPr>
          <p:cNvPr id="13" name="Text 11">
            <a:extLst>
              <a:ext uri="{FF2B5EF4-FFF2-40B4-BE49-F238E27FC236}">
                <a16:creationId xmlns:a16="http://schemas.microsoft.com/office/drawing/2014/main" id="{BC0575BE-A880-38F3-89DB-C9990743DC20}"/>
              </a:ext>
            </a:extLst>
          </p:cNvPr>
          <p:cNvSpPr/>
          <p:nvPr/>
        </p:nvSpPr>
        <p:spPr>
          <a:xfrm>
            <a:off x="896112" y="2231136"/>
            <a:ext cx="1024128" cy="329184"/>
          </a:xfrm>
          <a:prstGeom prst="rect">
            <a:avLst/>
          </a:prstGeom>
          <a:noFill/>
          <a:ln/>
        </p:spPr>
        <p:txBody>
          <a:bodyPr wrap="square" lIns="0" tIns="0" rIns="0" bIns="0" rtlCol="0" anchor="t">
            <a:normAutofit/>
          </a:bodyPr>
          <a:lstStyle/>
          <a:p>
            <a:pPr marL="0" indent="0" algn="l">
              <a:buNone/>
            </a:pPr>
            <a:r>
              <a:rPr lang="en-US" sz="940" dirty="0">
                <a:solidFill>
                  <a:srgbClr val="444444"/>
                </a:solidFill>
                <a:latin typeface="Arial" pitchFamily="34" charset="0"/>
                <a:ea typeface="Arial" pitchFamily="34" charset="-122"/>
                <a:cs typeface="Arial" pitchFamily="34" charset="-120"/>
              </a:rPr>
              <a:t>manifest/CDSE footprint</a:t>
            </a:r>
            <a:endParaRPr lang="en-US" sz="940" dirty="0"/>
          </a:p>
        </p:txBody>
      </p:sp>
      <p:sp>
        <p:nvSpPr>
          <p:cNvPr id="14" name="Shape 12">
            <a:extLst>
              <a:ext uri="{FF2B5EF4-FFF2-40B4-BE49-F238E27FC236}">
                <a16:creationId xmlns:a16="http://schemas.microsoft.com/office/drawing/2014/main" id="{201EB4B0-ACD2-931A-667D-92F34E2AF09F}"/>
              </a:ext>
            </a:extLst>
          </p:cNvPr>
          <p:cNvSpPr/>
          <p:nvPr/>
        </p:nvSpPr>
        <p:spPr>
          <a:xfrm>
            <a:off x="2542032" y="1847088"/>
            <a:ext cx="1316736" cy="822960"/>
          </a:xfrm>
          <a:prstGeom prst="roundRect">
            <a:avLst>
              <a:gd name="adj" fmla="val 8889"/>
            </a:avLst>
          </a:prstGeom>
          <a:solidFill>
            <a:srgbClr val="00B050"/>
          </a:solidFill>
          <a:ln w="12700">
            <a:solidFill>
              <a:srgbClr val="C9C9C9"/>
            </a:solidFill>
            <a:prstDash val="solid"/>
          </a:ln>
        </p:spPr>
        <p:txBody>
          <a:bodyPr/>
          <a:lstStyle/>
          <a:p>
            <a:endParaRPr lang="en-US"/>
          </a:p>
        </p:txBody>
      </p:sp>
      <p:sp>
        <p:nvSpPr>
          <p:cNvPr id="15" name="Text 13">
            <a:extLst>
              <a:ext uri="{FF2B5EF4-FFF2-40B4-BE49-F238E27FC236}">
                <a16:creationId xmlns:a16="http://schemas.microsoft.com/office/drawing/2014/main" id="{5E51E472-86B7-A16B-5D21-2340ECFD6B43}"/>
              </a:ext>
            </a:extLst>
          </p:cNvPr>
          <p:cNvSpPr/>
          <p:nvPr/>
        </p:nvSpPr>
        <p:spPr>
          <a:xfrm>
            <a:off x="2688336" y="1975104"/>
            <a:ext cx="1024128" cy="237744"/>
          </a:xfrm>
          <a:prstGeom prst="rect">
            <a:avLst/>
          </a:prstGeom>
          <a:noFill/>
          <a:ln/>
        </p:spPr>
        <p:txBody>
          <a:bodyPr wrap="square" lIns="0" tIns="0" rIns="0" bIns="0" rtlCol="0" anchor="t">
            <a:normAutofit/>
          </a:bodyPr>
          <a:lstStyle/>
          <a:p>
            <a:pPr marL="0" indent="0" algn="l">
              <a:buNone/>
            </a:pPr>
            <a:r>
              <a:rPr lang="en-US" sz="1230" b="1" dirty="0">
                <a:solidFill>
                  <a:srgbClr val="222222"/>
                </a:solidFill>
                <a:latin typeface="Arial" pitchFamily="34" charset="0"/>
                <a:ea typeface="Arial" pitchFamily="34" charset="-122"/>
                <a:cs typeface="Arial" pitchFamily="34" charset="-120"/>
              </a:rPr>
              <a:t>Grid lookup</a:t>
            </a:r>
            <a:endParaRPr lang="en-US" sz="1230" dirty="0"/>
          </a:p>
        </p:txBody>
      </p:sp>
      <p:sp>
        <p:nvSpPr>
          <p:cNvPr id="16" name="Text 14">
            <a:extLst>
              <a:ext uri="{FF2B5EF4-FFF2-40B4-BE49-F238E27FC236}">
                <a16:creationId xmlns:a16="http://schemas.microsoft.com/office/drawing/2014/main" id="{EFB4047D-F481-8624-2905-3B608C112290}"/>
              </a:ext>
            </a:extLst>
          </p:cNvPr>
          <p:cNvSpPr/>
          <p:nvPr/>
        </p:nvSpPr>
        <p:spPr>
          <a:xfrm>
            <a:off x="2688336" y="2231136"/>
            <a:ext cx="1024128" cy="329184"/>
          </a:xfrm>
          <a:prstGeom prst="rect">
            <a:avLst/>
          </a:prstGeom>
          <a:noFill/>
          <a:ln/>
        </p:spPr>
        <p:txBody>
          <a:bodyPr wrap="square" lIns="0" tIns="0" rIns="0" bIns="0" rtlCol="0" anchor="t">
            <a:normAutofit/>
          </a:bodyPr>
          <a:lstStyle/>
          <a:p>
            <a:pPr marL="0" indent="0" algn="l">
              <a:buNone/>
            </a:pPr>
            <a:r>
              <a:rPr lang="en-US" sz="940" dirty="0">
                <a:solidFill>
                  <a:srgbClr val="444444"/>
                </a:solidFill>
                <a:latin typeface="Arial" pitchFamily="34" charset="0"/>
                <a:ea typeface="Arial" pitchFamily="34" charset="-122"/>
                <a:cs typeface="Arial" pitchFamily="34" charset="-120"/>
              </a:rPr>
              <a:t>check_points_in_polygon</a:t>
            </a:r>
            <a:endParaRPr lang="en-US" sz="940" dirty="0"/>
          </a:p>
        </p:txBody>
      </p:sp>
      <p:sp>
        <p:nvSpPr>
          <p:cNvPr id="17" name="Shape 15">
            <a:extLst>
              <a:ext uri="{FF2B5EF4-FFF2-40B4-BE49-F238E27FC236}">
                <a16:creationId xmlns:a16="http://schemas.microsoft.com/office/drawing/2014/main" id="{54525C7F-0719-2BC4-246C-FDD66E2C709B}"/>
              </a:ext>
            </a:extLst>
          </p:cNvPr>
          <p:cNvSpPr/>
          <p:nvPr/>
        </p:nvSpPr>
        <p:spPr>
          <a:xfrm>
            <a:off x="4334256" y="1847088"/>
            <a:ext cx="1316736" cy="822960"/>
          </a:xfrm>
          <a:prstGeom prst="roundRect">
            <a:avLst>
              <a:gd name="adj" fmla="val 8889"/>
            </a:avLst>
          </a:prstGeom>
          <a:solidFill>
            <a:srgbClr val="F6F6F6"/>
          </a:solidFill>
          <a:ln w="12700">
            <a:solidFill>
              <a:srgbClr val="C9C9C9"/>
            </a:solidFill>
            <a:prstDash val="solid"/>
          </a:ln>
        </p:spPr>
        <p:txBody>
          <a:bodyPr/>
          <a:lstStyle/>
          <a:p>
            <a:endParaRPr lang="en-US"/>
          </a:p>
        </p:txBody>
      </p:sp>
      <p:sp>
        <p:nvSpPr>
          <p:cNvPr id="18" name="Text 16">
            <a:extLst>
              <a:ext uri="{FF2B5EF4-FFF2-40B4-BE49-F238E27FC236}">
                <a16:creationId xmlns:a16="http://schemas.microsoft.com/office/drawing/2014/main" id="{C7C11168-5B8B-AF4A-848E-F2B9076D7A4D}"/>
              </a:ext>
            </a:extLst>
          </p:cNvPr>
          <p:cNvSpPr/>
          <p:nvPr/>
        </p:nvSpPr>
        <p:spPr>
          <a:xfrm>
            <a:off x="4480560" y="1975104"/>
            <a:ext cx="1024128" cy="237744"/>
          </a:xfrm>
          <a:prstGeom prst="rect">
            <a:avLst/>
          </a:prstGeom>
          <a:noFill/>
          <a:ln/>
        </p:spPr>
        <p:txBody>
          <a:bodyPr wrap="square" lIns="0" tIns="0" rIns="0" bIns="0" rtlCol="0" anchor="t">
            <a:normAutofit/>
          </a:bodyPr>
          <a:lstStyle/>
          <a:p>
            <a:pPr marL="0" indent="0" algn="l">
              <a:buNone/>
            </a:pPr>
            <a:r>
              <a:rPr lang="en-US" sz="1230" b="1" dirty="0">
                <a:solidFill>
                  <a:srgbClr val="222222"/>
                </a:solidFill>
                <a:latin typeface="Arial" pitchFamily="34" charset="0"/>
                <a:ea typeface="Arial" pitchFamily="34" charset="-122"/>
                <a:cs typeface="Arial" pitchFamily="34" charset="-120"/>
              </a:rPr>
              <a:t>Rectangles</a:t>
            </a:r>
            <a:endParaRPr lang="en-US" sz="1230" dirty="0"/>
          </a:p>
        </p:txBody>
      </p:sp>
      <p:sp>
        <p:nvSpPr>
          <p:cNvPr id="19" name="Text 17">
            <a:extLst>
              <a:ext uri="{FF2B5EF4-FFF2-40B4-BE49-F238E27FC236}">
                <a16:creationId xmlns:a16="http://schemas.microsoft.com/office/drawing/2014/main" id="{31E73E41-CEEB-8696-71F9-7D2AA31CE360}"/>
              </a:ext>
            </a:extLst>
          </p:cNvPr>
          <p:cNvSpPr/>
          <p:nvPr/>
        </p:nvSpPr>
        <p:spPr>
          <a:xfrm>
            <a:off x="4480560" y="2231136"/>
            <a:ext cx="1024128" cy="329184"/>
          </a:xfrm>
          <a:prstGeom prst="rect">
            <a:avLst/>
          </a:prstGeom>
          <a:noFill/>
          <a:ln/>
        </p:spPr>
        <p:txBody>
          <a:bodyPr wrap="square" lIns="0" tIns="0" rIns="0" bIns="0" rtlCol="0" anchor="t">
            <a:normAutofit/>
          </a:bodyPr>
          <a:lstStyle/>
          <a:p>
            <a:pPr marL="0" indent="0" algn="l">
              <a:buNone/>
            </a:pPr>
            <a:r>
              <a:rPr lang="en-US" sz="940" dirty="0">
                <a:solidFill>
                  <a:srgbClr val="444444"/>
                </a:solidFill>
                <a:latin typeface="Arial" pitchFamily="34" charset="0"/>
                <a:ea typeface="Arial" pitchFamily="34" charset="-122"/>
                <a:cs typeface="Arial" pitchFamily="34" charset="-120"/>
              </a:rPr>
              <a:t>rectanglify</a:t>
            </a:r>
            <a:endParaRPr lang="en-US" sz="940" dirty="0"/>
          </a:p>
        </p:txBody>
      </p:sp>
      <p:sp>
        <p:nvSpPr>
          <p:cNvPr id="20" name="Shape 18">
            <a:extLst>
              <a:ext uri="{FF2B5EF4-FFF2-40B4-BE49-F238E27FC236}">
                <a16:creationId xmlns:a16="http://schemas.microsoft.com/office/drawing/2014/main" id="{5CA7CEB0-E2B7-938B-BAE3-FA3A2DF6687A}"/>
              </a:ext>
            </a:extLst>
          </p:cNvPr>
          <p:cNvSpPr/>
          <p:nvPr/>
        </p:nvSpPr>
        <p:spPr>
          <a:xfrm>
            <a:off x="6126480" y="1847088"/>
            <a:ext cx="1316736" cy="822960"/>
          </a:xfrm>
          <a:prstGeom prst="roundRect">
            <a:avLst>
              <a:gd name="adj" fmla="val 8889"/>
            </a:avLst>
          </a:prstGeom>
          <a:solidFill>
            <a:srgbClr val="F6F6F6"/>
          </a:solidFill>
          <a:ln w="12700">
            <a:solidFill>
              <a:srgbClr val="C9C9C9"/>
            </a:solidFill>
            <a:prstDash val="solid"/>
          </a:ln>
        </p:spPr>
        <p:txBody>
          <a:bodyPr/>
          <a:lstStyle/>
          <a:p>
            <a:endParaRPr lang="en-US"/>
          </a:p>
        </p:txBody>
      </p:sp>
      <p:sp>
        <p:nvSpPr>
          <p:cNvPr id="21" name="Text 19">
            <a:extLst>
              <a:ext uri="{FF2B5EF4-FFF2-40B4-BE49-F238E27FC236}">
                <a16:creationId xmlns:a16="http://schemas.microsoft.com/office/drawing/2014/main" id="{BC7A705B-1BD6-35CC-A072-C3B73CFF6B54}"/>
              </a:ext>
            </a:extLst>
          </p:cNvPr>
          <p:cNvSpPr/>
          <p:nvPr/>
        </p:nvSpPr>
        <p:spPr>
          <a:xfrm>
            <a:off x="6272784" y="1975104"/>
            <a:ext cx="1024128" cy="237744"/>
          </a:xfrm>
          <a:prstGeom prst="rect">
            <a:avLst/>
          </a:prstGeom>
          <a:noFill/>
          <a:ln/>
        </p:spPr>
        <p:txBody>
          <a:bodyPr wrap="square" lIns="0" tIns="0" rIns="0" bIns="0" rtlCol="0" anchor="t">
            <a:normAutofit/>
          </a:bodyPr>
          <a:lstStyle/>
          <a:p>
            <a:pPr marL="0" indent="0" algn="l">
              <a:buNone/>
            </a:pPr>
            <a:r>
              <a:rPr lang="en-US" sz="1230" b="1" dirty="0">
                <a:solidFill>
                  <a:srgbClr val="222222"/>
                </a:solidFill>
                <a:latin typeface="Arial" pitchFamily="34" charset="0"/>
                <a:ea typeface="Arial" pitchFamily="34" charset="-122"/>
                <a:cs typeface="Arial" pitchFamily="34" charset="-120"/>
              </a:rPr>
              <a:t>Subset tiles</a:t>
            </a:r>
            <a:endParaRPr lang="en-US" sz="1230" dirty="0"/>
          </a:p>
        </p:txBody>
      </p:sp>
      <p:sp>
        <p:nvSpPr>
          <p:cNvPr id="22" name="Text 20">
            <a:extLst>
              <a:ext uri="{FF2B5EF4-FFF2-40B4-BE49-F238E27FC236}">
                <a16:creationId xmlns:a16="http://schemas.microsoft.com/office/drawing/2014/main" id="{0EE65CBE-B4AB-299F-2C84-219155E1AB15}"/>
              </a:ext>
            </a:extLst>
          </p:cNvPr>
          <p:cNvSpPr/>
          <p:nvPr/>
        </p:nvSpPr>
        <p:spPr>
          <a:xfrm>
            <a:off x="6272784" y="2231136"/>
            <a:ext cx="1024128" cy="329184"/>
          </a:xfrm>
          <a:prstGeom prst="rect">
            <a:avLst/>
          </a:prstGeom>
          <a:noFill/>
          <a:ln/>
        </p:spPr>
        <p:txBody>
          <a:bodyPr wrap="square" lIns="0" tIns="0" rIns="0" bIns="0" rtlCol="0" anchor="t">
            <a:normAutofit/>
          </a:bodyPr>
          <a:lstStyle/>
          <a:p>
            <a:pPr marL="0" indent="0" algn="l">
              <a:buNone/>
            </a:pPr>
            <a:r>
              <a:rPr lang="en-US" sz="940" dirty="0">
                <a:solidFill>
                  <a:srgbClr val="444444"/>
                </a:solidFill>
                <a:latin typeface="Arial" pitchFamily="34" charset="0"/>
                <a:ea typeface="Arial" pitchFamily="34" charset="-122"/>
                <a:cs typeface="Arial" pitchFamily="34" charset="-120"/>
              </a:rPr>
              <a:t>HDF5 + copy_metadata</a:t>
            </a:r>
            <a:endParaRPr lang="en-US" sz="940" dirty="0"/>
          </a:p>
        </p:txBody>
      </p:sp>
      <p:sp>
        <p:nvSpPr>
          <p:cNvPr id="23" name="Shape 21">
            <a:extLst>
              <a:ext uri="{FF2B5EF4-FFF2-40B4-BE49-F238E27FC236}">
                <a16:creationId xmlns:a16="http://schemas.microsoft.com/office/drawing/2014/main" id="{18D67FD7-5E7B-42F1-2A1D-3CE072CDBA58}"/>
              </a:ext>
            </a:extLst>
          </p:cNvPr>
          <p:cNvSpPr/>
          <p:nvPr/>
        </p:nvSpPr>
        <p:spPr>
          <a:xfrm>
            <a:off x="7918704" y="1847088"/>
            <a:ext cx="1316736" cy="822960"/>
          </a:xfrm>
          <a:prstGeom prst="roundRect">
            <a:avLst>
              <a:gd name="adj" fmla="val 8889"/>
            </a:avLst>
          </a:prstGeom>
          <a:solidFill>
            <a:srgbClr val="F6F6F6"/>
          </a:solidFill>
          <a:ln w="12700">
            <a:solidFill>
              <a:srgbClr val="C9C9C9"/>
            </a:solidFill>
            <a:prstDash val="solid"/>
          </a:ln>
        </p:spPr>
        <p:txBody>
          <a:bodyPr/>
          <a:lstStyle/>
          <a:p>
            <a:endParaRPr lang="en-US"/>
          </a:p>
        </p:txBody>
      </p:sp>
      <p:sp>
        <p:nvSpPr>
          <p:cNvPr id="24" name="Text 22">
            <a:extLst>
              <a:ext uri="{FF2B5EF4-FFF2-40B4-BE49-F238E27FC236}">
                <a16:creationId xmlns:a16="http://schemas.microsoft.com/office/drawing/2014/main" id="{AFB7B9B5-D0B9-865E-7E78-C8520A3E02AF}"/>
              </a:ext>
            </a:extLst>
          </p:cNvPr>
          <p:cNvSpPr/>
          <p:nvPr/>
        </p:nvSpPr>
        <p:spPr>
          <a:xfrm>
            <a:off x="8065008" y="1975104"/>
            <a:ext cx="1024128" cy="237744"/>
          </a:xfrm>
          <a:prstGeom prst="rect">
            <a:avLst/>
          </a:prstGeom>
          <a:noFill/>
          <a:ln/>
        </p:spPr>
        <p:txBody>
          <a:bodyPr wrap="square" lIns="0" tIns="0" rIns="0" bIns="0" rtlCol="0" anchor="t">
            <a:normAutofit/>
          </a:bodyPr>
          <a:lstStyle/>
          <a:p>
            <a:pPr marL="0" indent="0" algn="l">
              <a:buNone/>
            </a:pPr>
            <a:r>
              <a:rPr lang="en-US" sz="1230" b="1" dirty="0">
                <a:solidFill>
                  <a:srgbClr val="222222"/>
                </a:solidFill>
                <a:latin typeface="Arial" pitchFamily="34" charset="0"/>
                <a:ea typeface="Arial" pitchFamily="34" charset="-122"/>
                <a:cs typeface="Arial" pitchFamily="34" charset="-120"/>
              </a:rPr>
              <a:t>Cut report</a:t>
            </a:r>
            <a:endParaRPr lang="en-US" sz="1230" dirty="0"/>
          </a:p>
        </p:txBody>
      </p:sp>
      <p:sp>
        <p:nvSpPr>
          <p:cNvPr id="25" name="Text 23">
            <a:extLst>
              <a:ext uri="{FF2B5EF4-FFF2-40B4-BE49-F238E27FC236}">
                <a16:creationId xmlns:a16="http://schemas.microsoft.com/office/drawing/2014/main" id="{A81AE29F-96EF-CC79-BEEA-B21DAF935B6F}"/>
              </a:ext>
            </a:extLst>
          </p:cNvPr>
          <p:cNvSpPr/>
          <p:nvPr/>
        </p:nvSpPr>
        <p:spPr>
          <a:xfrm>
            <a:off x="8065008" y="2231136"/>
            <a:ext cx="1024128" cy="329184"/>
          </a:xfrm>
          <a:prstGeom prst="rect">
            <a:avLst/>
          </a:prstGeom>
          <a:noFill/>
          <a:ln/>
        </p:spPr>
        <p:txBody>
          <a:bodyPr wrap="square" lIns="0" tIns="0" rIns="0" bIns="0" rtlCol="0" anchor="t">
            <a:normAutofit/>
          </a:bodyPr>
          <a:lstStyle/>
          <a:p>
            <a:pPr marL="0" indent="0" algn="l">
              <a:buNone/>
            </a:pPr>
            <a:r>
              <a:rPr lang="en-US" sz="940" dirty="0">
                <a:solidFill>
                  <a:srgbClr val="444444"/>
                </a:solidFill>
                <a:latin typeface="Arial" pitchFamily="34" charset="0"/>
                <a:ea typeface="Arial" pitchFamily="34" charset="-122"/>
                <a:cs typeface="Arial" pitchFamily="34" charset="-120"/>
              </a:rPr>
              <a:t>SUCCESS / FAILURE txt</a:t>
            </a:r>
            <a:endParaRPr lang="en-US" sz="940" dirty="0"/>
          </a:p>
        </p:txBody>
      </p:sp>
      <p:sp>
        <p:nvSpPr>
          <p:cNvPr id="26" name="Shape 24">
            <a:extLst>
              <a:ext uri="{FF2B5EF4-FFF2-40B4-BE49-F238E27FC236}">
                <a16:creationId xmlns:a16="http://schemas.microsoft.com/office/drawing/2014/main" id="{387F0928-FB9C-D888-16D7-0E26FE8F6AA7}"/>
              </a:ext>
            </a:extLst>
          </p:cNvPr>
          <p:cNvSpPr/>
          <p:nvPr/>
        </p:nvSpPr>
        <p:spPr>
          <a:xfrm>
            <a:off x="9710928" y="1847088"/>
            <a:ext cx="1316736" cy="822960"/>
          </a:xfrm>
          <a:prstGeom prst="roundRect">
            <a:avLst>
              <a:gd name="adj" fmla="val 8889"/>
            </a:avLst>
          </a:prstGeom>
          <a:solidFill>
            <a:srgbClr val="F6F6F6"/>
          </a:solidFill>
          <a:ln w="12700">
            <a:solidFill>
              <a:srgbClr val="C9C9C9"/>
            </a:solidFill>
            <a:prstDash val="solid"/>
          </a:ln>
        </p:spPr>
        <p:txBody>
          <a:bodyPr/>
          <a:lstStyle/>
          <a:p>
            <a:endParaRPr lang="en-US"/>
          </a:p>
        </p:txBody>
      </p:sp>
      <p:sp>
        <p:nvSpPr>
          <p:cNvPr id="27" name="Text 25">
            <a:extLst>
              <a:ext uri="{FF2B5EF4-FFF2-40B4-BE49-F238E27FC236}">
                <a16:creationId xmlns:a16="http://schemas.microsoft.com/office/drawing/2014/main" id="{C7EBFB5A-37D6-FAD5-7117-9F74F10E9FAB}"/>
              </a:ext>
            </a:extLst>
          </p:cNvPr>
          <p:cNvSpPr/>
          <p:nvPr/>
        </p:nvSpPr>
        <p:spPr>
          <a:xfrm>
            <a:off x="9857232" y="1975104"/>
            <a:ext cx="1024128" cy="237744"/>
          </a:xfrm>
          <a:prstGeom prst="rect">
            <a:avLst/>
          </a:prstGeom>
          <a:noFill/>
          <a:ln/>
        </p:spPr>
        <p:txBody>
          <a:bodyPr wrap="square" lIns="0" tIns="0" rIns="0" bIns="0" rtlCol="0" anchor="t">
            <a:normAutofit/>
          </a:bodyPr>
          <a:lstStyle/>
          <a:p>
            <a:pPr marL="0" indent="0" algn="l">
              <a:buNone/>
            </a:pPr>
            <a:r>
              <a:rPr lang="en-US" sz="1230" b="1" dirty="0">
                <a:solidFill>
                  <a:srgbClr val="222222"/>
                </a:solidFill>
                <a:latin typeface="Arial" pitchFamily="34" charset="0"/>
                <a:ea typeface="Arial" pitchFamily="34" charset="-122"/>
                <a:cs typeface="Arial" pitchFamily="34" charset="-120"/>
              </a:rPr>
              <a:t>Parquet DB</a:t>
            </a:r>
            <a:endParaRPr lang="en-US" sz="1230" dirty="0"/>
          </a:p>
        </p:txBody>
      </p:sp>
      <p:sp>
        <p:nvSpPr>
          <p:cNvPr id="28" name="Text 26">
            <a:extLst>
              <a:ext uri="{FF2B5EF4-FFF2-40B4-BE49-F238E27FC236}">
                <a16:creationId xmlns:a16="http://schemas.microsoft.com/office/drawing/2014/main" id="{BBEFBBD6-C47F-AD86-B4EA-0BB95F4B9F0F}"/>
              </a:ext>
            </a:extLst>
          </p:cNvPr>
          <p:cNvSpPr/>
          <p:nvPr/>
        </p:nvSpPr>
        <p:spPr>
          <a:xfrm>
            <a:off x="9805277" y="2231136"/>
            <a:ext cx="1170432" cy="329184"/>
          </a:xfrm>
          <a:prstGeom prst="rect">
            <a:avLst/>
          </a:prstGeom>
          <a:noFill/>
          <a:ln/>
        </p:spPr>
        <p:txBody>
          <a:bodyPr wrap="square" lIns="0" tIns="0" rIns="0" bIns="0" rtlCol="0" anchor="t">
            <a:normAutofit/>
          </a:bodyPr>
          <a:lstStyle/>
          <a:p>
            <a:pPr marL="0" indent="0" algn="l">
              <a:buNone/>
            </a:pPr>
            <a:r>
              <a:rPr lang="en-US" sz="940" dirty="0">
                <a:solidFill>
                  <a:srgbClr val="444444"/>
                </a:solidFill>
                <a:latin typeface="Arial" pitchFamily="34" charset="0"/>
                <a:ea typeface="Arial" pitchFamily="34" charset="-122"/>
                <a:cs typeface="Arial" pitchFamily="34" charset="-120"/>
              </a:rPr>
              <a:t>metadata[quickinfo]</a:t>
            </a:r>
            <a:endParaRPr lang="en-US" sz="940" dirty="0"/>
          </a:p>
        </p:txBody>
      </p:sp>
      <p:sp>
        <p:nvSpPr>
          <p:cNvPr id="29" name="Shape 27">
            <a:extLst>
              <a:ext uri="{FF2B5EF4-FFF2-40B4-BE49-F238E27FC236}">
                <a16:creationId xmlns:a16="http://schemas.microsoft.com/office/drawing/2014/main" id="{3A652CD1-6CD5-2297-1B84-B30D6BB18FC4}"/>
              </a:ext>
            </a:extLst>
          </p:cNvPr>
          <p:cNvSpPr/>
          <p:nvPr/>
        </p:nvSpPr>
        <p:spPr>
          <a:xfrm>
            <a:off x="749808" y="3127248"/>
            <a:ext cx="10680192" cy="0"/>
          </a:xfrm>
          <a:prstGeom prst="line">
            <a:avLst/>
          </a:prstGeom>
          <a:noFill/>
          <a:ln w="12700">
            <a:solidFill>
              <a:srgbClr val="D6D6D6"/>
            </a:solidFill>
            <a:prstDash val="solid"/>
          </a:ln>
        </p:spPr>
        <p:txBody>
          <a:bodyPr/>
          <a:lstStyle/>
          <a:p>
            <a:endParaRPr lang="en-US"/>
          </a:p>
        </p:txBody>
      </p:sp>
      <p:sp>
        <p:nvSpPr>
          <p:cNvPr id="30" name="Text 28">
            <a:extLst>
              <a:ext uri="{FF2B5EF4-FFF2-40B4-BE49-F238E27FC236}">
                <a16:creationId xmlns:a16="http://schemas.microsoft.com/office/drawing/2014/main" id="{B0738D45-1033-BB47-CCAA-FFD3C186BDEC}"/>
              </a:ext>
            </a:extLst>
          </p:cNvPr>
          <p:cNvSpPr/>
          <p:nvPr/>
        </p:nvSpPr>
        <p:spPr>
          <a:xfrm>
            <a:off x="749808" y="3328416"/>
            <a:ext cx="2560320" cy="219456"/>
          </a:xfrm>
          <a:prstGeom prst="rect">
            <a:avLst/>
          </a:prstGeom>
          <a:noFill/>
          <a:ln/>
        </p:spPr>
        <p:txBody>
          <a:bodyPr wrap="square" lIns="0" tIns="0" rIns="0" bIns="0" rtlCol="0" anchor="ctr">
            <a:normAutofit/>
          </a:bodyPr>
          <a:lstStyle/>
          <a:p>
            <a:pPr marL="0" indent="0">
              <a:buNone/>
            </a:pPr>
            <a:r>
              <a:rPr lang="en-US" sz="1080" b="1" dirty="0">
                <a:solidFill>
                  <a:srgbClr val="6E6E6E"/>
                </a:solidFill>
                <a:latin typeface="Arial" pitchFamily="34" charset="0"/>
                <a:ea typeface="Arial" pitchFamily="34" charset="-122"/>
                <a:cs typeface="Arial" pitchFamily="34" charset="-120"/>
              </a:rPr>
              <a:t>IMPLEMENTATION NOTES</a:t>
            </a:r>
            <a:endParaRPr lang="en-US" sz="1080" dirty="0"/>
          </a:p>
        </p:txBody>
      </p:sp>
      <p:sp>
        <p:nvSpPr>
          <p:cNvPr id="31" name="Shape 29">
            <a:extLst>
              <a:ext uri="{FF2B5EF4-FFF2-40B4-BE49-F238E27FC236}">
                <a16:creationId xmlns:a16="http://schemas.microsoft.com/office/drawing/2014/main" id="{3D5637E5-3C2D-535C-ADD8-CBB2A3F2270E}"/>
              </a:ext>
            </a:extLst>
          </p:cNvPr>
          <p:cNvSpPr/>
          <p:nvPr/>
        </p:nvSpPr>
        <p:spPr>
          <a:xfrm>
            <a:off x="749808" y="3657600"/>
            <a:ext cx="10277856" cy="2121408"/>
          </a:xfrm>
          <a:prstGeom prst="roundRect">
            <a:avLst>
              <a:gd name="adj" fmla="val 3448"/>
            </a:avLst>
          </a:prstGeom>
          <a:solidFill>
            <a:srgbClr val="F6F6F6"/>
          </a:solidFill>
          <a:ln w="12700">
            <a:solidFill>
              <a:srgbClr val="C9C9C9"/>
            </a:solidFill>
            <a:prstDash val="solid"/>
          </a:ln>
        </p:spPr>
        <p:txBody>
          <a:bodyPr/>
          <a:lstStyle/>
          <a:p>
            <a:endParaRPr lang="en-US"/>
          </a:p>
        </p:txBody>
      </p:sp>
      <p:sp>
        <p:nvSpPr>
          <p:cNvPr id="32" name="Text 30">
            <a:extLst>
              <a:ext uri="{FF2B5EF4-FFF2-40B4-BE49-F238E27FC236}">
                <a16:creationId xmlns:a16="http://schemas.microsoft.com/office/drawing/2014/main" id="{0FD60777-F5B0-FB6C-3CCA-CA79F9F1B736}"/>
              </a:ext>
            </a:extLst>
          </p:cNvPr>
          <p:cNvSpPr/>
          <p:nvPr/>
        </p:nvSpPr>
        <p:spPr>
          <a:xfrm>
            <a:off x="950976" y="3803904"/>
            <a:ext cx="2834640" cy="256032"/>
          </a:xfrm>
          <a:prstGeom prst="rect">
            <a:avLst/>
          </a:prstGeom>
          <a:noFill/>
          <a:ln/>
        </p:spPr>
        <p:txBody>
          <a:bodyPr wrap="square" lIns="0" tIns="0" rIns="0" bIns="0" rtlCol="0" anchor="ctr">
            <a:normAutofit/>
          </a:bodyPr>
          <a:lstStyle/>
          <a:p>
            <a:pPr marL="0" indent="0">
              <a:buNone/>
            </a:pPr>
            <a:r>
              <a:rPr lang="en-US" sz="1280" b="1" dirty="0">
                <a:solidFill>
                  <a:srgbClr val="222222"/>
                </a:solidFill>
                <a:latin typeface="Arial" pitchFamily="34" charset="0"/>
                <a:ea typeface="Arial" pitchFamily="34" charset="-122"/>
                <a:cs typeface="Arial" pitchFamily="34" charset="-120"/>
              </a:rPr>
              <a:t>Geometry and grid selection</a:t>
            </a:r>
            <a:endParaRPr lang="en-US" sz="1280" dirty="0"/>
          </a:p>
        </p:txBody>
      </p:sp>
      <p:sp>
        <p:nvSpPr>
          <p:cNvPr id="33" name="Text 31">
            <a:extLst>
              <a:ext uri="{FF2B5EF4-FFF2-40B4-BE49-F238E27FC236}">
                <a16:creationId xmlns:a16="http://schemas.microsoft.com/office/drawing/2014/main" id="{1ED103E2-8C49-FAE0-0337-AC0D2FB53722}"/>
              </a:ext>
            </a:extLst>
          </p:cNvPr>
          <p:cNvSpPr/>
          <p:nvPr/>
        </p:nvSpPr>
        <p:spPr>
          <a:xfrm>
            <a:off x="950976" y="4133088"/>
            <a:ext cx="2834640" cy="1243584"/>
          </a:xfrm>
          <a:prstGeom prst="rect">
            <a:avLst/>
          </a:prstGeom>
          <a:noFill/>
          <a:ln/>
        </p:spPr>
        <p:txBody>
          <a:bodyPr wrap="square" lIns="0" tIns="0" rIns="0" bIns="0" rtlCol="0" anchor="t">
            <a:normAutofit/>
          </a:bodyPr>
          <a:lstStyle/>
          <a:p>
            <a:pPr marL="0" indent="0" algn="l">
              <a:buNone/>
            </a:pPr>
            <a:r>
              <a:rPr lang="en-US" sz="1080" dirty="0">
                <a:solidFill>
                  <a:srgbClr val="444444"/>
                </a:solidFill>
                <a:latin typeface="Arial" pitchFamily="34" charset="0"/>
                <a:ea typeface="Arial" pitchFamily="34" charset="-122"/>
                <a:cs typeface="Arial" pitchFamily="34" charset="-120"/>
              </a:rPr>
              <a:t>If grid_10km.geojson is missing, the script can generate it via python -m sarpyx.utils.grid. Product coverage is intersected with grid points and then inflated into rectangles that become tile footprints.</a:t>
            </a:r>
            <a:endParaRPr lang="en-US" sz="1080" dirty="0"/>
          </a:p>
        </p:txBody>
      </p:sp>
      <p:sp>
        <p:nvSpPr>
          <p:cNvPr id="40" name="Text 38">
            <a:extLst>
              <a:ext uri="{FF2B5EF4-FFF2-40B4-BE49-F238E27FC236}">
                <a16:creationId xmlns:a16="http://schemas.microsoft.com/office/drawing/2014/main" id="{39E52F26-46DE-EC9C-40AB-A9606D11EE22}"/>
              </a:ext>
            </a:extLst>
          </p:cNvPr>
          <p:cNvSpPr/>
          <p:nvPr/>
        </p:nvSpPr>
        <p:spPr>
          <a:xfrm>
            <a:off x="749808" y="6053328"/>
            <a:ext cx="10698480" cy="329184"/>
          </a:xfrm>
          <a:prstGeom prst="rect">
            <a:avLst/>
          </a:prstGeom>
          <a:noFill/>
          <a:ln/>
        </p:spPr>
        <p:txBody>
          <a:bodyPr wrap="square" lIns="0" tIns="0" rIns="0" bIns="0" rtlCol="0" anchor="t">
            <a:normAutofit/>
          </a:bodyPr>
          <a:lstStyle/>
          <a:p>
            <a:pPr marL="0" indent="0" algn="l">
              <a:buNone/>
            </a:pPr>
            <a:r>
              <a:rPr lang="en-US" sz="1110" dirty="0">
                <a:solidFill>
                  <a:srgbClr val="444444"/>
                </a:solidFill>
                <a:latin typeface="Arial" pitchFamily="34" charset="0"/>
                <a:ea typeface="Arial" pitchFamily="34" charset="-122"/>
                <a:cs typeface="Arial" pitchFamily="34" charset="-120"/>
              </a:rPr>
              <a:t>After tile creation, create_tile_database() scans all HDF5 tiles, reads metadata[quickinfo], and writes &lt;tile-folder&gt;_core_metadata.parquet for lightweight cataloging.</a:t>
            </a:r>
            <a:endParaRPr lang="en-US" sz="1110" dirty="0"/>
          </a:p>
        </p:txBody>
      </p:sp>
      <p:sp>
        <p:nvSpPr>
          <p:cNvPr id="41" name="Rounded Rectangle 40">
            <a:extLst>
              <a:ext uri="{FF2B5EF4-FFF2-40B4-BE49-F238E27FC236}">
                <a16:creationId xmlns:a16="http://schemas.microsoft.com/office/drawing/2014/main" id="{4F845777-7A68-46C7-F529-CB067DADCA01}"/>
              </a:ext>
            </a:extLst>
          </p:cNvPr>
          <p:cNvSpPr/>
          <p:nvPr/>
        </p:nvSpPr>
        <p:spPr>
          <a:xfrm>
            <a:off x="4334256" y="3931920"/>
            <a:ext cx="1499616" cy="1508759"/>
          </a:xfrm>
          <a:prstGeom prst="roundRect">
            <a:avLst>
              <a:gd name="adj" fmla="val 6504"/>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1026" name="Picture 2" descr="Earth With Grid Lines Europe And Africa Stock Illustration - Download Image  Now - Globe - Navigational Equipment, Grid Pattern, Africa - iStock">
            <a:extLst>
              <a:ext uri="{FF2B5EF4-FFF2-40B4-BE49-F238E27FC236}">
                <a16:creationId xmlns:a16="http://schemas.microsoft.com/office/drawing/2014/main" id="{A5052D5A-9167-8B20-B328-78517BBBA4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80560" y="4096512"/>
            <a:ext cx="1190806" cy="1190806"/>
          </a:xfrm>
          <a:prstGeom prst="rect">
            <a:avLst/>
          </a:prstGeom>
          <a:noFill/>
          <a:extLst>
            <a:ext uri="{909E8E84-426E-40DD-AFC4-6F175D3DCCD1}">
              <a14:hiddenFill xmlns:a14="http://schemas.microsoft.com/office/drawing/2010/main">
                <a:solidFill>
                  <a:srgbClr val="FFFFFF"/>
                </a:solidFill>
              </a14:hiddenFill>
            </a:ext>
          </a:extLst>
        </p:spPr>
      </p:pic>
      <p:sp>
        <p:nvSpPr>
          <p:cNvPr id="42" name="Rounded Rectangle 41">
            <a:extLst>
              <a:ext uri="{FF2B5EF4-FFF2-40B4-BE49-F238E27FC236}">
                <a16:creationId xmlns:a16="http://schemas.microsoft.com/office/drawing/2014/main" id="{75DA3994-35CC-CFE3-91CA-6BF95CE54ACC}"/>
              </a:ext>
            </a:extLst>
          </p:cNvPr>
          <p:cNvSpPr/>
          <p:nvPr/>
        </p:nvSpPr>
        <p:spPr>
          <a:xfrm>
            <a:off x="6103701" y="3931920"/>
            <a:ext cx="4676594" cy="1458467"/>
          </a:xfrm>
          <a:prstGeom prst="roundRect">
            <a:avLst>
              <a:gd name="adj" fmla="val 6504"/>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pic>
        <p:nvPicPr>
          <p:cNvPr id="1028" name="Picture 4" descr="Mesh Immagini - Sfoglia 5,285,321 foto, vettoriali e video Stock | Adobe  Stock">
            <a:extLst>
              <a:ext uri="{FF2B5EF4-FFF2-40B4-BE49-F238E27FC236}">
                <a16:creationId xmlns:a16="http://schemas.microsoft.com/office/drawing/2014/main" id="{21D6E9E0-8CAD-9D58-57E7-B18FAF2AD7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81926" y="4005974"/>
            <a:ext cx="2623125" cy="1311563"/>
          </a:xfrm>
          <a:prstGeom prst="rect">
            <a:avLst/>
          </a:prstGeom>
          <a:noFill/>
          <a:extLst>
            <a:ext uri="{909E8E84-426E-40DD-AFC4-6F175D3DCCD1}">
              <a14:hiddenFill xmlns:a14="http://schemas.microsoft.com/office/drawing/2010/main">
                <a:solidFill>
                  <a:srgbClr val="FFFFFF"/>
                </a:solidFill>
              </a14:hiddenFill>
            </a:ext>
          </a:extLst>
        </p:spPr>
      </p:pic>
      <p:cxnSp>
        <p:nvCxnSpPr>
          <p:cNvPr id="44" name="Straight Arrow Connector 43">
            <a:extLst>
              <a:ext uri="{FF2B5EF4-FFF2-40B4-BE49-F238E27FC236}">
                <a16:creationId xmlns:a16="http://schemas.microsoft.com/office/drawing/2014/main" id="{51F3AD1D-8E32-F5BA-5174-3609D900D187}"/>
              </a:ext>
            </a:extLst>
          </p:cNvPr>
          <p:cNvCxnSpPr>
            <a:stCxn id="41" idx="3"/>
          </p:cNvCxnSpPr>
          <p:nvPr/>
        </p:nvCxnSpPr>
        <p:spPr>
          <a:xfrm flipV="1">
            <a:off x="5833872" y="4686299"/>
            <a:ext cx="607033"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5" name="Rectangle 44">
            <a:extLst>
              <a:ext uri="{FF2B5EF4-FFF2-40B4-BE49-F238E27FC236}">
                <a16:creationId xmlns:a16="http://schemas.microsoft.com/office/drawing/2014/main" id="{C86D0D93-2942-F78A-FDEC-16B8E00D8EE6}"/>
              </a:ext>
            </a:extLst>
          </p:cNvPr>
          <p:cNvSpPr/>
          <p:nvPr/>
        </p:nvSpPr>
        <p:spPr>
          <a:xfrm rot="20435858">
            <a:off x="7275068" y="4268790"/>
            <a:ext cx="1883553" cy="726293"/>
          </a:xfrm>
          <a:prstGeom prst="rect">
            <a:avLst/>
          </a:prstGeom>
          <a:solidFill>
            <a:srgbClr val="4472C4">
              <a:alpha val="25882"/>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 23">
            <a:extLst>
              <a:ext uri="{FF2B5EF4-FFF2-40B4-BE49-F238E27FC236}">
                <a16:creationId xmlns:a16="http://schemas.microsoft.com/office/drawing/2014/main" id="{66BBAAE0-9B0A-2433-3868-E8BC0C416562}"/>
              </a:ext>
            </a:extLst>
          </p:cNvPr>
          <p:cNvSpPr/>
          <p:nvPr/>
        </p:nvSpPr>
        <p:spPr>
          <a:xfrm>
            <a:off x="9710928" y="4169663"/>
            <a:ext cx="1024128" cy="329184"/>
          </a:xfrm>
          <a:prstGeom prst="rect">
            <a:avLst/>
          </a:prstGeom>
          <a:noFill/>
          <a:ln/>
        </p:spPr>
        <p:txBody>
          <a:bodyPr wrap="square" lIns="0" tIns="0" rIns="0" bIns="0" rtlCol="0" anchor="t">
            <a:normAutofit/>
          </a:bodyPr>
          <a:lstStyle/>
          <a:p>
            <a:pPr marL="0" indent="0" algn="l">
              <a:buNone/>
            </a:pPr>
            <a:r>
              <a:rPr lang="en-US" sz="940" dirty="0">
                <a:solidFill>
                  <a:srgbClr val="444444"/>
                </a:solidFill>
                <a:latin typeface="Arial" pitchFamily="34" charset="0"/>
                <a:ea typeface="Arial" pitchFamily="34" charset="-122"/>
                <a:cs typeface="Arial" pitchFamily="34" charset="-120"/>
              </a:rPr>
              <a:t>Points in polygon</a:t>
            </a:r>
            <a:endParaRPr lang="en-US" sz="940" dirty="0"/>
          </a:p>
        </p:txBody>
      </p:sp>
    </p:spTree>
    <p:extLst>
      <p:ext uri="{BB962C8B-B14F-4D97-AF65-F5344CB8AC3E}">
        <p14:creationId xmlns:p14="http://schemas.microsoft.com/office/powerpoint/2010/main" val="24075877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356616"/>
            <a:ext cx="11109960" cy="0"/>
          </a:xfrm>
          <a:prstGeom prst="line">
            <a:avLst/>
          </a:prstGeom>
          <a:noFill/>
          <a:ln w="19050">
            <a:solidFill>
              <a:srgbClr val="4A4A4A"/>
            </a:solidFill>
            <a:prstDash val="solid"/>
          </a:ln>
        </p:spPr>
        <p:txBody>
          <a:bodyPr/>
          <a:lstStyle/>
          <a:p>
            <a:endParaRPr lang="en-US"/>
          </a:p>
        </p:txBody>
      </p:sp>
      <p:sp>
        <p:nvSpPr>
          <p:cNvPr id="3" name="Text 1"/>
          <p:cNvSpPr/>
          <p:nvPr/>
        </p:nvSpPr>
        <p:spPr>
          <a:xfrm>
            <a:off x="694944" y="512064"/>
            <a:ext cx="7863840" cy="457200"/>
          </a:xfrm>
          <a:prstGeom prst="rect">
            <a:avLst/>
          </a:prstGeom>
          <a:noFill/>
          <a:ln/>
        </p:spPr>
        <p:txBody>
          <a:bodyPr wrap="square" lIns="0" tIns="0" rIns="0" bIns="0" rtlCol="0" anchor="ctr">
            <a:normAutofit/>
          </a:bodyPr>
          <a:lstStyle/>
          <a:p>
            <a:pPr marL="0" indent="0">
              <a:buNone/>
            </a:pPr>
            <a:r>
              <a:rPr lang="en-US" sz="2700" b="1" dirty="0">
                <a:solidFill>
                  <a:srgbClr val="222222"/>
                </a:solidFill>
                <a:latin typeface="Arial" pitchFamily="34" charset="0"/>
                <a:ea typeface="Arial" pitchFamily="34" charset="-122"/>
                <a:cs typeface="Arial" pitchFamily="34" charset="-120"/>
              </a:rPr>
              <a:t>Demo outputs: files, metadata, and lineage</a:t>
            </a:r>
            <a:endParaRPr lang="en-US" sz="2700" dirty="0"/>
          </a:p>
        </p:txBody>
      </p:sp>
      <p:sp>
        <p:nvSpPr>
          <p:cNvPr id="4" name="Text 2"/>
          <p:cNvSpPr/>
          <p:nvPr/>
        </p:nvSpPr>
        <p:spPr>
          <a:xfrm>
            <a:off x="694944" y="987552"/>
            <a:ext cx="10424160" cy="256032"/>
          </a:xfrm>
          <a:prstGeom prst="rect">
            <a:avLst/>
          </a:prstGeom>
          <a:noFill/>
          <a:ln/>
        </p:spPr>
        <p:txBody>
          <a:bodyPr wrap="square" lIns="0" tIns="0" rIns="0" bIns="0" rtlCol="0" anchor="ctr">
            <a:normAutofit/>
          </a:bodyPr>
          <a:lstStyle/>
          <a:p>
            <a:pPr marL="0" indent="0">
              <a:buNone/>
            </a:pPr>
            <a:r>
              <a:rPr lang="en-US" sz="1150" dirty="0">
                <a:solidFill>
                  <a:srgbClr val="6E6E6E"/>
                </a:solidFill>
                <a:latin typeface="Arial" pitchFamily="34" charset="0"/>
                <a:ea typeface="Arial" pitchFamily="34" charset="-122"/>
                <a:cs typeface="Arial" pitchFamily="34" charset="-120"/>
              </a:rPr>
              <a:t>What a successful Sentinel run leaves behind and why those artifacts matter</a:t>
            </a:r>
            <a:endParaRPr lang="en-US" sz="1150" dirty="0"/>
          </a:p>
        </p:txBody>
      </p:sp>
      <p:sp>
        <p:nvSpPr>
          <p:cNvPr id="5" name="Text 3"/>
          <p:cNvSpPr/>
          <p:nvPr/>
        </p:nvSpPr>
        <p:spPr>
          <a:xfrm>
            <a:off x="749808" y="1426464"/>
            <a:ext cx="2194560" cy="219456"/>
          </a:xfrm>
          <a:prstGeom prst="rect">
            <a:avLst/>
          </a:prstGeom>
          <a:noFill/>
          <a:ln/>
        </p:spPr>
        <p:txBody>
          <a:bodyPr wrap="square" lIns="0" tIns="0" rIns="0" bIns="0" rtlCol="0" anchor="ctr">
            <a:normAutofit/>
          </a:bodyPr>
          <a:lstStyle/>
          <a:p>
            <a:pPr marL="0" indent="0">
              <a:buNone/>
            </a:pPr>
            <a:r>
              <a:rPr lang="en-US" sz="1080" b="1" dirty="0">
                <a:solidFill>
                  <a:srgbClr val="6E6E6E"/>
                </a:solidFill>
                <a:latin typeface="Arial" pitchFamily="34" charset="0"/>
                <a:ea typeface="Arial" pitchFamily="34" charset="-122"/>
                <a:cs typeface="Arial" pitchFamily="34" charset="-120"/>
              </a:rPr>
              <a:t>OUTPUT ARTIFACTS</a:t>
            </a:r>
            <a:endParaRPr lang="en-US" sz="1080" dirty="0"/>
          </a:p>
        </p:txBody>
      </p:sp>
      <p:sp>
        <p:nvSpPr>
          <p:cNvPr id="6" name="Shape 4"/>
          <p:cNvSpPr/>
          <p:nvPr/>
        </p:nvSpPr>
        <p:spPr>
          <a:xfrm>
            <a:off x="749808" y="1792224"/>
            <a:ext cx="3529584" cy="4480560"/>
          </a:xfrm>
          <a:prstGeom prst="roundRect">
            <a:avLst>
              <a:gd name="adj" fmla="val 2073"/>
            </a:avLst>
          </a:prstGeom>
          <a:solidFill>
            <a:srgbClr val="F6F6F6"/>
          </a:solidFill>
          <a:ln w="12700">
            <a:solidFill>
              <a:srgbClr val="C9C9C9"/>
            </a:solidFill>
            <a:prstDash val="solid"/>
          </a:ln>
        </p:spPr>
        <p:txBody>
          <a:bodyPr/>
          <a:lstStyle/>
          <a:p>
            <a:endParaRPr lang="en-US"/>
          </a:p>
        </p:txBody>
      </p:sp>
      <p:sp>
        <p:nvSpPr>
          <p:cNvPr id="7" name="Shape 5"/>
          <p:cNvSpPr/>
          <p:nvPr/>
        </p:nvSpPr>
        <p:spPr>
          <a:xfrm>
            <a:off x="777240" y="1819656"/>
            <a:ext cx="3474720" cy="54864"/>
          </a:xfrm>
          <a:prstGeom prst="rect">
            <a:avLst/>
          </a:prstGeom>
          <a:solidFill>
            <a:srgbClr val="474747"/>
          </a:solidFill>
          <a:ln w="6350">
            <a:solidFill>
              <a:srgbClr val="474747"/>
            </a:solidFill>
            <a:prstDash val="solid"/>
          </a:ln>
        </p:spPr>
        <p:txBody>
          <a:bodyPr/>
          <a:lstStyle/>
          <a:p>
            <a:endParaRPr lang="en-US"/>
          </a:p>
        </p:txBody>
      </p:sp>
      <p:sp>
        <p:nvSpPr>
          <p:cNvPr id="8" name="Text 6"/>
          <p:cNvSpPr/>
          <p:nvPr/>
        </p:nvSpPr>
        <p:spPr>
          <a:xfrm>
            <a:off x="969264" y="1938528"/>
            <a:ext cx="3017520" cy="256032"/>
          </a:xfrm>
          <a:prstGeom prst="rect">
            <a:avLst/>
          </a:prstGeom>
          <a:noFill/>
          <a:ln/>
        </p:spPr>
        <p:txBody>
          <a:bodyPr wrap="square" lIns="0" tIns="0" rIns="0" bIns="0" rtlCol="0" anchor="ctr">
            <a:normAutofit/>
          </a:bodyPr>
          <a:lstStyle/>
          <a:p>
            <a:pPr marL="0" indent="0">
              <a:buNone/>
            </a:pPr>
            <a:r>
              <a:rPr lang="en-US" sz="1320" b="1" dirty="0">
                <a:solidFill>
                  <a:srgbClr val="222222"/>
                </a:solidFill>
                <a:latin typeface="Arial" pitchFamily="34" charset="0"/>
                <a:ea typeface="Arial" pitchFamily="34" charset="-122"/>
                <a:cs typeface="Arial" pitchFamily="34" charset="-120"/>
              </a:rPr>
              <a:t>Filesystem view</a:t>
            </a:r>
            <a:endParaRPr lang="en-US" sz="1320" dirty="0"/>
          </a:p>
        </p:txBody>
      </p:sp>
      <p:sp>
        <p:nvSpPr>
          <p:cNvPr id="9" name="Text 7"/>
          <p:cNvSpPr/>
          <p:nvPr/>
        </p:nvSpPr>
        <p:spPr>
          <a:xfrm>
            <a:off x="969264" y="2267712"/>
            <a:ext cx="3035808" cy="3547872"/>
          </a:xfrm>
          <a:prstGeom prst="rect">
            <a:avLst/>
          </a:prstGeom>
          <a:noFill/>
          <a:ln/>
        </p:spPr>
        <p:txBody>
          <a:bodyPr wrap="square" lIns="0" tIns="0" rIns="0" bIns="0" rtlCol="0" anchor="t">
            <a:normAutofit/>
          </a:bodyPr>
          <a:lstStyle/>
          <a:p>
            <a:pPr marL="0" indent="0" algn="l">
              <a:buNone/>
            </a:pPr>
            <a:r>
              <a:rPr lang="en-US" sz="1060" dirty="0">
                <a:solidFill>
                  <a:srgbClr val="222222"/>
                </a:solidFill>
                <a:latin typeface="Courier New" pitchFamily="34" charset="0"/>
                <a:ea typeface="Courier New" pitchFamily="34" charset="-122"/>
                <a:cs typeface="Courier New" pitchFamily="34" charset="-120"/>
              </a:rPr>
              <a:t>OUT/</a:t>
            </a:r>
            <a:endParaRPr lang="en-US" sz="1060" dirty="0"/>
          </a:p>
          <a:p>
            <a:pPr marL="0" indent="0" algn="l">
              <a:buNone/>
            </a:pPr>
            <a:r>
              <a:rPr lang="en-US" sz="1060" dirty="0">
                <a:solidFill>
                  <a:srgbClr val="222222"/>
                </a:solidFill>
                <a:latin typeface="Courier New" pitchFamily="34" charset="0"/>
                <a:ea typeface="Courier New" pitchFamily="34" charset="-122"/>
                <a:cs typeface="Courier New" pitchFamily="34" charset="-120"/>
              </a:rPr>
              <a:t>  worldsar_output/</a:t>
            </a:r>
            <a:endParaRPr lang="en-US" sz="1060" dirty="0"/>
          </a:p>
          <a:p>
            <a:pPr marL="0" indent="0" algn="l">
              <a:buNone/>
            </a:pPr>
            <a:r>
              <a:rPr lang="en-US" sz="1060" dirty="0">
                <a:solidFill>
                  <a:srgbClr val="222222"/>
                </a:solidFill>
                <a:latin typeface="Courier New" pitchFamily="34" charset="0"/>
                <a:ea typeface="Courier New" pitchFamily="34" charset="-122"/>
                <a:cs typeface="Courier New" pitchFamily="34" charset="-120"/>
              </a:rPr>
              <a:t>    IW1/ ... or &lt;strip&gt;.dim</a:t>
            </a:r>
            <a:endParaRPr lang="en-US" sz="1060" dirty="0"/>
          </a:p>
          <a:p>
            <a:pPr marL="0" indent="0" algn="l">
              <a:buNone/>
            </a:pPr>
            <a:r>
              <a:rPr lang="en-US" sz="1060" dirty="0">
                <a:solidFill>
                  <a:srgbClr val="222222"/>
                </a:solidFill>
                <a:latin typeface="Courier New" pitchFamily="34" charset="0"/>
                <a:ea typeface="Courier New" pitchFamily="34" charset="-122"/>
                <a:cs typeface="Courier New" pitchFamily="34" charset="-120"/>
              </a:rPr>
              <a:t>    IW2/ ...</a:t>
            </a:r>
            <a:endParaRPr lang="en-US" sz="1060" dirty="0"/>
          </a:p>
          <a:p>
            <a:pPr marL="0" indent="0" algn="l">
              <a:buNone/>
            </a:pPr>
            <a:r>
              <a:rPr lang="en-US" sz="1060" dirty="0">
                <a:solidFill>
                  <a:srgbClr val="222222"/>
                </a:solidFill>
                <a:latin typeface="Courier New" pitchFamily="34" charset="0"/>
                <a:ea typeface="Courier New" pitchFamily="34" charset="-122"/>
                <a:cs typeface="Courier New" pitchFamily="34" charset="-120"/>
              </a:rPr>
              <a:t>    IW3/ ...</a:t>
            </a:r>
            <a:endParaRPr lang="en-US" sz="1060" dirty="0"/>
          </a:p>
          <a:p>
            <a:pPr marL="0" indent="0" algn="l">
              <a:buNone/>
            </a:pPr>
            <a:r>
              <a:rPr lang="en-US" sz="1060" dirty="0">
                <a:solidFill>
                  <a:srgbClr val="222222"/>
                </a:solidFill>
                <a:latin typeface="Courier New" pitchFamily="34" charset="0"/>
                <a:ea typeface="Courier New" pitchFamily="34" charset="-122"/>
                <a:cs typeface="Courier New" pitchFamily="34" charset="-120"/>
              </a:rPr>
              <a:t>  tiles/</a:t>
            </a:r>
            <a:endParaRPr lang="en-US" sz="1060" dirty="0"/>
          </a:p>
          <a:p>
            <a:pPr marL="0" indent="0" algn="l">
              <a:buNone/>
            </a:pPr>
            <a:r>
              <a:rPr lang="en-US" sz="1060" dirty="0">
                <a:solidFill>
                  <a:srgbClr val="222222"/>
                </a:solidFill>
                <a:latin typeface="Courier New" pitchFamily="34" charset="0"/>
                <a:ea typeface="Courier New" pitchFamily="34" charset="-122"/>
                <a:cs typeface="Courier New" pitchFamily="34" charset="-120"/>
              </a:rPr>
              <a:t>    IW1/&lt;product&gt;/&lt;tile&gt;.h5</a:t>
            </a:r>
            <a:endParaRPr lang="en-US" sz="1060" dirty="0"/>
          </a:p>
          <a:p>
            <a:pPr marL="0" indent="0" algn="l">
              <a:buNone/>
            </a:pPr>
            <a:r>
              <a:rPr lang="en-US" sz="1060" dirty="0">
                <a:solidFill>
                  <a:srgbClr val="222222"/>
                </a:solidFill>
                <a:latin typeface="Courier New" pitchFamily="34" charset="0"/>
                <a:ea typeface="Courier New" pitchFamily="34" charset="-122"/>
                <a:cs typeface="Courier New" pitchFamily="34" charset="-120"/>
              </a:rPr>
              <a:t>    IW2/&lt;product&gt;/&lt;tile&gt;.h5</a:t>
            </a:r>
            <a:endParaRPr lang="en-US" sz="1060" dirty="0"/>
          </a:p>
          <a:p>
            <a:pPr marL="0" indent="0" algn="l">
              <a:buNone/>
            </a:pPr>
            <a:r>
              <a:rPr lang="en-US" sz="1060" dirty="0">
                <a:solidFill>
                  <a:srgbClr val="222222"/>
                </a:solidFill>
                <a:latin typeface="Courier New" pitchFamily="34" charset="0"/>
                <a:ea typeface="Courier New" pitchFamily="34" charset="-122"/>
                <a:cs typeface="Courier New" pitchFamily="34" charset="-120"/>
              </a:rPr>
              <a:t>    IW3/&lt;product&gt;/&lt;tile&gt;.h5</a:t>
            </a:r>
            <a:endParaRPr lang="en-US" sz="1060" dirty="0"/>
          </a:p>
          <a:p>
            <a:pPr marL="0" indent="0" algn="l">
              <a:buNone/>
            </a:pPr>
            <a:r>
              <a:rPr lang="en-US" sz="1060" dirty="0">
                <a:solidFill>
                  <a:srgbClr val="222222"/>
                </a:solidFill>
                <a:latin typeface="Courier New" pitchFamily="34" charset="0"/>
                <a:ea typeface="Courier New" pitchFamily="34" charset="-122"/>
                <a:cs typeface="Courier New" pitchFamily="34" charset="-120"/>
              </a:rPr>
              <a:t>  DB/&lt;product&gt;_core_metadata.parquet</a:t>
            </a:r>
            <a:endParaRPr lang="en-US" sz="1060" dirty="0"/>
          </a:p>
          <a:p>
            <a:pPr marL="0" indent="0" algn="l">
              <a:buNone/>
            </a:pPr>
            <a:r>
              <a:rPr lang="en-US" sz="1060" dirty="0">
                <a:solidFill>
                  <a:srgbClr val="222222"/>
                </a:solidFill>
                <a:latin typeface="Courier New" pitchFamily="34" charset="0"/>
                <a:ea typeface="Courier New" pitchFamily="34" charset="-122"/>
                <a:cs typeface="Courier New" pitchFamily="34" charset="-120"/>
              </a:rPr>
              <a:t>logs/*.stdout.log | *.stderr.log</a:t>
            </a:r>
            <a:endParaRPr lang="en-US" sz="1060" dirty="0"/>
          </a:p>
        </p:txBody>
      </p:sp>
      <p:sp>
        <p:nvSpPr>
          <p:cNvPr id="10" name="Shape 8"/>
          <p:cNvSpPr/>
          <p:nvPr/>
        </p:nvSpPr>
        <p:spPr>
          <a:xfrm>
            <a:off x="4535424" y="1792224"/>
            <a:ext cx="3529584" cy="4480560"/>
          </a:xfrm>
          <a:prstGeom prst="roundRect">
            <a:avLst>
              <a:gd name="adj" fmla="val 2073"/>
            </a:avLst>
          </a:prstGeom>
          <a:solidFill>
            <a:srgbClr val="F6F6F6"/>
          </a:solidFill>
          <a:ln w="12700">
            <a:solidFill>
              <a:srgbClr val="C9C9C9"/>
            </a:solidFill>
            <a:prstDash val="solid"/>
          </a:ln>
        </p:spPr>
        <p:txBody>
          <a:bodyPr/>
          <a:lstStyle/>
          <a:p>
            <a:endParaRPr lang="en-US"/>
          </a:p>
        </p:txBody>
      </p:sp>
      <p:sp>
        <p:nvSpPr>
          <p:cNvPr id="11" name="Shape 9"/>
          <p:cNvSpPr/>
          <p:nvPr/>
        </p:nvSpPr>
        <p:spPr>
          <a:xfrm>
            <a:off x="4562856" y="1819656"/>
            <a:ext cx="3474720" cy="54864"/>
          </a:xfrm>
          <a:prstGeom prst="rect">
            <a:avLst/>
          </a:prstGeom>
          <a:solidFill>
            <a:srgbClr val="474747"/>
          </a:solidFill>
          <a:ln w="6350">
            <a:solidFill>
              <a:srgbClr val="474747"/>
            </a:solidFill>
            <a:prstDash val="solid"/>
          </a:ln>
        </p:spPr>
        <p:txBody>
          <a:bodyPr/>
          <a:lstStyle/>
          <a:p>
            <a:endParaRPr lang="en-US"/>
          </a:p>
        </p:txBody>
      </p:sp>
      <p:sp>
        <p:nvSpPr>
          <p:cNvPr id="12" name="Text 10"/>
          <p:cNvSpPr/>
          <p:nvPr/>
        </p:nvSpPr>
        <p:spPr>
          <a:xfrm>
            <a:off x="4754880" y="1938528"/>
            <a:ext cx="3017520" cy="256032"/>
          </a:xfrm>
          <a:prstGeom prst="rect">
            <a:avLst/>
          </a:prstGeom>
          <a:noFill/>
          <a:ln/>
        </p:spPr>
        <p:txBody>
          <a:bodyPr wrap="square" lIns="0" tIns="0" rIns="0" bIns="0" rtlCol="0" anchor="ctr">
            <a:normAutofit/>
          </a:bodyPr>
          <a:lstStyle/>
          <a:p>
            <a:pPr marL="0" indent="0">
              <a:buNone/>
            </a:pPr>
            <a:r>
              <a:rPr lang="en-US" sz="1320" b="1" dirty="0">
                <a:solidFill>
                  <a:srgbClr val="222222"/>
                </a:solidFill>
                <a:latin typeface="Arial" pitchFamily="34" charset="0"/>
                <a:ea typeface="Arial" pitchFamily="34" charset="-122"/>
                <a:cs typeface="Arial" pitchFamily="34" charset="-120"/>
              </a:rPr>
              <a:t>Representative HDF5 tile content</a:t>
            </a:r>
            <a:endParaRPr lang="en-US" sz="1320" dirty="0"/>
          </a:p>
        </p:txBody>
      </p:sp>
      <p:sp>
        <p:nvSpPr>
          <p:cNvPr id="13" name="Shape 11"/>
          <p:cNvSpPr/>
          <p:nvPr/>
        </p:nvSpPr>
        <p:spPr>
          <a:xfrm>
            <a:off x="4754880" y="2304288"/>
            <a:ext cx="310896" cy="310896"/>
          </a:xfrm>
          <a:prstGeom prst="ellipse">
            <a:avLst/>
          </a:prstGeom>
          <a:solidFill>
            <a:srgbClr val="474747"/>
          </a:solidFill>
          <a:ln w="6350">
            <a:solidFill>
              <a:srgbClr val="474747"/>
            </a:solidFill>
            <a:prstDash val="solid"/>
          </a:ln>
        </p:spPr>
        <p:txBody>
          <a:bodyPr/>
          <a:lstStyle/>
          <a:p>
            <a:endParaRPr lang="en-US"/>
          </a:p>
        </p:txBody>
      </p:sp>
      <p:sp>
        <p:nvSpPr>
          <p:cNvPr id="14" name="Text 12"/>
          <p:cNvSpPr/>
          <p:nvPr/>
        </p:nvSpPr>
        <p:spPr>
          <a:xfrm>
            <a:off x="4754880" y="2322576"/>
            <a:ext cx="310896" cy="21945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5" name="Text 13"/>
          <p:cNvSpPr/>
          <p:nvPr/>
        </p:nvSpPr>
        <p:spPr>
          <a:xfrm>
            <a:off x="5120640" y="2286000"/>
            <a:ext cx="2560320" cy="219456"/>
          </a:xfrm>
          <a:prstGeom prst="rect">
            <a:avLst/>
          </a:prstGeom>
          <a:noFill/>
          <a:ln/>
        </p:spPr>
        <p:txBody>
          <a:bodyPr wrap="square" lIns="0" tIns="0" rIns="0" bIns="0" rtlCol="0" anchor="t">
            <a:normAutofit/>
          </a:bodyPr>
          <a:lstStyle/>
          <a:p>
            <a:pPr marL="0" indent="0" algn="l">
              <a:buNone/>
            </a:pPr>
            <a:r>
              <a:rPr lang="en-US" sz="1090" dirty="0">
                <a:solidFill>
                  <a:srgbClr val="444444"/>
                </a:solidFill>
                <a:latin typeface="Arial" pitchFamily="34" charset="0"/>
                <a:ea typeface="Arial" pitchFamily="34" charset="-122"/>
                <a:cs typeface="Arial" pitchFamily="34" charset="-120"/>
              </a:rPr>
              <a:t>Top-level groups: bands and metadata</a:t>
            </a:r>
            <a:endParaRPr lang="en-US" sz="1090" dirty="0"/>
          </a:p>
        </p:txBody>
      </p:sp>
      <p:sp>
        <p:nvSpPr>
          <p:cNvPr id="16" name="Shape 14"/>
          <p:cNvSpPr/>
          <p:nvPr/>
        </p:nvSpPr>
        <p:spPr>
          <a:xfrm>
            <a:off x="4754880" y="2724912"/>
            <a:ext cx="310896" cy="310896"/>
          </a:xfrm>
          <a:prstGeom prst="ellipse">
            <a:avLst/>
          </a:prstGeom>
          <a:solidFill>
            <a:srgbClr val="474747"/>
          </a:solidFill>
          <a:ln w="6350">
            <a:solidFill>
              <a:srgbClr val="474747"/>
            </a:solidFill>
            <a:prstDash val="solid"/>
          </a:ln>
        </p:spPr>
        <p:txBody>
          <a:bodyPr/>
          <a:lstStyle/>
          <a:p>
            <a:endParaRPr lang="en-US"/>
          </a:p>
        </p:txBody>
      </p:sp>
      <p:sp>
        <p:nvSpPr>
          <p:cNvPr id="17" name="Text 15"/>
          <p:cNvSpPr/>
          <p:nvPr/>
        </p:nvSpPr>
        <p:spPr>
          <a:xfrm>
            <a:off x="4754880" y="2743200"/>
            <a:ext cx="310896" cy="21945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8" name="Text 16"/>
          <p:cNvSpPr/>
          <p:nvPr/>
        </p:nvSpPr>
        <p:spPr>
          <a:xfrm>
            <a:off x="5120640" y="2706624"/>
            <a:ext cx="2651760" cy="420624"/>
          </a:xfrm>
          <a:prstGeom prst="rect">
            <a:avLst/>
          </a:prstGeom>
          <a:noFill/>
          <a:ln/>
        </p:spPr>
        <p:txBody>
          <a:bodyPr wrap="square" lIns="0" tIns="0" rIns="0" bIns="0" rtlCol="0" anchor="t">
            <a:normAutofit fontScale="92500"/>
          </a:bodyPr>
          <a:lstStyle/>
          <a:p>
            <a:pPr marL="0" indent="0" algn="l">
              <a:buNone/>
            </a:pPr>
            <a:r>
              <a:rPr lang="en-US" sz="1090" dirty="0">
                <a:solidFill>
                  <a:srgbClr val="444444"/>
                </a:solidFill>
                <a:latin typeface="Arial" pitchFamily="34" charset="0"/>
                <a:ea typeface="Arial" pitchFamily="34" charset="-122"/>
                <a:cs typeface="Arial" pitchFamily="34" charset="-120"/>
              </a:rPr>
              <a:t>Bands observed in the docs: Alpha, Anisotropy, Entropy, elevation, localIncidenceAngle</a:t>
            </a:r>
            <a:endParaRPr lang="en-US" sz="1090" dirty="0"/>
          </a:p>
        </p:txBody>
      </p:sp>
      <p:sp>
        <p:nvSpPr>
          <p:cNvPr id="19" name="Shape 17"/>
          <p:cNvSpPr/>
          <p:nvPr/>
        </p:nvSpPr>
        <p:spPr>
          <a:xfrm>
            <a:off x="4754880" y="3236976"/>
            <a:ext cx="310896" cy="310896"/>
          </a:xfrm>
          <a:prstGeom prst="ellipse">
            <a:avLst/>
          </a:prstGeom>
          <a:solidFill>
            <a:srgbClr val="474747"/>
          </a:solidFill>
          <a:ln w="6350">
            <a:solidFill>
              <a:srgbClr val="474747"/>
            </a:solidFill>
            <a:prstDash val="solid"/>
          </a:ln>
        </p:spPr>
        <p:txBody>
          <a:bodyPr/>
          <a:lstStyle/>
          <a:p>
            <a:endParaRPr lang="en-US"/>
          </a:p>
        </p:txBody>
      </p:sp>
      <p:sp>
        <p:nvSpPr>
          <p:cNvPr id="20" name="Text 18"/>
          <p:cNvSpPr/>
          <p:nvPr/>
        </p:nvSpPr>
        <p:spPr>
          <a:xfrm>
            <a:off x="4754880" y="3255264"/>
            <a:ext cx="310896" cy="21945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21" name="Text 19"/>
          <p:cNvSpPr/>
          <p:nvPr/>
        </p:nvSpPr>
        <p:spPr>
          <a:xfrm>
            <a:off x="5120640" y="3218688"/>
            <a:ext cx="2560320" cy="237744"/>
          </a:xfrm>
          <a:prstGeom prst="rect">
            <a:avLst/>
          </a:prstGeom>
          <a:noFill/>
          <a:ln/>
        </p:spPr>
        <p:txBody>
          <a:bodyPr wrap="square" lIns="0" tIns="0" rIns="0" bIns="0" rtlCol="0" anchor="t">
            <a:normAutofit fontScale="85000" lnSpcReduction="20000"/>
          </a:bodyPr>
          <a:lstStyle/>
          <a:p>
            <a:pPr marL="0" indent="0" algn="l">
              <a:buNone/>
            </a:pPr>
            <a:r>
              <a:rPr lang="en-US" sz="1090" dirty="0">
                <a:solidFill>
                  <a:srgbClr val="444444"/>
                </a:solidFill>
                <a:latin typeface="Arial" pitchFamily="34" charset="0"/>
                <a:ea typeface="Arial" pitchFamily="34" charset="-122"/>
                <a:cs typeface="Arial" pitchFamily="34" charset="-120"/>
              </a:rPr>
              <a:t>Example tile shape in the docs: 1000 × 1127 float32</a:t>
            </a:r>
            <a:endParaRPr lang="en-US" sz="1090" dirty="0"/>
          </a:p>
        </p:txBody>
      </p:sp>
      <p:sp>
        <p:nvSpPr>
          <p:cNvPr id="22" name="Shape 20"/>
          <p:cNvSpPr/>
          <p:nvPr/>
        </p:nvSpPr>
        <p:spPr>
          <a:xfrm>
            <a:off x="4754880" y="3657600"/>
            <a:ext cx="310896" cy="310896"/>
          </a:xfrm>
          <a:prstGeom prst="ellipse">
            <a:avLst/>
          </a:prstGeom>
          <a:solidFill>
            <a:srgbClr val="474747"/>
          </a:solidFill>
          <a:ln w="6350">
            <a:solidFill>
              <a:srgbClr val="474747"/>
            </a:solidFill>
            <a:prstDash val="solid"/>
          </a:ln>
        </p:spPr>
        <p:txBody>
          <a:bodyPr/>
          <a:lstStyle/>
          <a:p>
            <a:endParaRPr lang="en-US"/>
          </a:p>
        </p:txBody>
      </p:sp>
      <p:sp>
        <p:nvSpPr>
          <p:cNvPr id="23" name="Text 21"/>
          <p:cNvSpPr/>
          <p:nvPr/>
        </p:nvSpPr>
        <p:spPr>
          <a:xfrm>
            <a:off x="4754880" y="3675888"/>
            <a:ext cx="310896" cy="21945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24" name="Text 22"/>
          <p:cNvSpPr/>
          <p:nvPr/>
        </p:nvSpPr>
        <p:spPr>
          <a:xfrm>
            <a:off x="5120640" y="3639312"/>
            <a:ext cx="2651760" cy="384048"/>
          </a:xfrm>
          <a:prstGeom prst="rect">
            <a:avLst/>
          </a:prstGeom>
          <a:noFill/>
          <a:ln/>
        </p:spPr>
        <p:txBody>
          <a:bodyPr wrap="square" lIns="0" tIns="0" rIns="0" bIns="0" rtlCol="0" anchor="t">
            <a:normAutofit/>
          </a:bodyPr>
          <a:lstStyle/>
          <a:p>
            <a:pPr marL="0" indent="0" algn="l">
              <a:buNone/>
            </a:pPr>
            <a:r>
              <a:rPr lang="en-US" sz="1090" dirty="0">
                <a:solidFill>
                  <a:srgbClr val="444444"/>
                </a:solidFill>
                <a:latin typeface="Arial" pitchFamily="34" charset="0"/>
                <a:ea typeface="Arial" pitchFamily="34" charset="-122"/>
                <a:cs typeface="Arial" pitchFamily="34" charset="-120"/>
              </a:rPr>
              <a:t>Tile metadata preserves geospatial context and product quickinfo for later indexing.</a:t>
            </a:r>
            <a:endParaRPr lang="en-US" sz="1090" dirty="0"/>
          </a:p>
        </p:txBody>
      </p:sp>
      <p:sp>
        <p:nvSpPr>
          <p:cNvPr id="25" name="Shape 23"/>
          <p:cNvSpPr/>
          <p:nvPr/>
        </p:nvSpPr>
        <p:spPr>
          <a:xfrm>
            <a:off x="8321040" y="1792224"/>
            <a:ext cx="3108960" cy="4480560"/>
          </a:xfrm>
          <a:prstGeom prst="roundRect">
            <a:avLst>
              <a:gd name="adj" fmla="val 2353"/>
            </a:avLst>
          </a:prstGeom>
          <a:solidFill>
            <a:srgbClr val="F6F6F6"/>
          </a:solidFill>
          <a:ln w="12700">
            <a:solidFill>
              <a:srgbClr val="C9C9C9"/>
            </a:solidFill>
            <a:prstDash val="solid"/>
          </a:ln>
        </p:spPr>
        <p:txBody>
          <a:bodyPr/>
          <a:lstStyle/>
          <a:p>
            <a:endParaRPr lang="en-US"/>
          </a:p>
        </p:txBody>
      </p:sp>
      <p:sp>
        <p:nvSpPr>
          <p:cNvPr id="26" name="Shape 24"/>
          <p:cNvSpPr/>
          <p:nvPr/>
        </p:nvSpPr>
        <p:spPr>
          <a:xfrm>
            <a:off x="8348472" y="1819656"/>
            <a:ext cx="3054096" cy="54864"/>
          </a:xfrm>
          <a:prstGeom prst="rect">
            <a:avLst/>
          </a:prstGeom>
          <a:solidFill>
            <a:srgbClr val="474747"/>
          </a:solidFill>
          <a:ln w="6350">
            <a:solidFill>
              <a:srgbClr val="474747"/>
            </a:solidFill>
            <a:prstDash val="solid"/>
          </a:ln>
        </p:spPr>
        <p:txBody>
          <a:bodyPr/>
          <a:lstStyle/>
          <a:p>
            <a:endParaRPr lang="en-US"/>
          </a:p>
        </p:txBody>
      </p:sp>
      <p:sp>
        <p:nvSpPr>
          <p:cNvPr id="27" name="Text 25"/>
          <p:cNvSpPr/>
          <p:nvPr/>
        </p:nvSpPr>
        <p:spPr>
          <a:xfrm>
            <a:off x="8540496" y="1938528"/>
            <a:ext cx="2615184" cy="256032"/>
          </a:xfrm>
          <a:prstGeom prst="rect">
            <a:avLst/>
          </a:prstGeom>
          <a:noFill/>
          <a:ln/>
        </p:spPr>
        <p:txBody>
          <a:bodyPr wrap="square" lIns="0" tIns="0" rIns="0" bIns="0" rtlCol="0" anchor="ctr">
            <a:normAutofit/>
          </a:bodyPr>
          <a:lstStyle/>
          <a:p>
            <a:pPr marL="0" indent="0">
              <a:buNone/>
            </a:pPr>
            <a:r>
              <a:rPr lang="en-US" sz="1320" b="1" dirty="0">
                <a:solidFill>
                  <a:srgbClr val="222222"/>
                </a:solidFill>
                <a:latin typeface="Arial" pitchFamily="34" charset="0"/>
                <a:ea typeface="Arial" pitchFamily="34" charset="-122"/>
                <a:cs typeface="Arial" pitchFamily="34" charset="-120"/>
              </a:rPr>
              <a:t>Lineage captured in metadata</a:t>
            </a:r>
            <a:endParaRPr lang="en-US" sz="1320" dirty="0"/>
          </a:p>
        </p:txBody>
      </p:sp>
      <p:sp>
        <p:nvSpPr>
          <p:cNvPr id="28" name="Text 26"/>
          <p:cNvSpPr/>
          <p:nvPr/>
        </p:nvSpPr>
        <p:spPr>
          <a:xfrm>
            <a:off x="8540496" y="2304288"/>
            <a:ext cx="2596896" cy="2048256"/>
          </a:xfrm>
          <a:prstGeom prst="rect">
            <a:avLst/>
          </a:prstGeom>
          <a:noFill/>
          <a:ln/>
        </p:spPr>
        <p:txBody>
          <a:bodyPr wrap="square" lIns="0" tIns="0" rIns="0" bIns="0" rtlCol="0" anchor="t">
            <a:normAutofit/>
          </a:bodyPr>
          <a:lstStyle/>
          <a:p>
            <a:pPr marL="0" indent="0" algn="l">
              <a:buNone/>
            </a:pPr>
            <a:r>
              <a:rPr lang="en-US" sz="1070" dirty="0">
                <a:solidFill>
                  <a:srgbClr val="444444"/>
                </a:solidFill>
                <a:latin typeface="Arial" pitchFamily="34" charset="0"/>
                <a:ea typeface="Arial" pitchFamily="34" charset="-122"/>
                <a:cs typeface="Arial" pitchFamily="34" charset="-120"/>
              </a:rPr>
              <a:t>Mission: SENTINEL-1A</a:t>
            </a:r>
            <a:endParaRPr lang="en-US" sz="1070" dirty="0"/>
          </a:p>
          <a:p>
            <a:pPr marL="0" indent="0" algn="l">
              <a:buNone/>
            </a:pPr>
            <a:r>
              <a:rPr lang="en-US" sz="1070" dirty="0">
                <a:solidFill>
                  <a:srgbClr val="444444"/>
                </a:solidFill>
                <a:latin typeface="Arial" pitchFamily="34" charset="0"/>
                <a:ea typeface="Arial" pitchFamily="34" charset="-122"/>
                <a:cs typeface="Arial" pitchFamily="34" charset="-120"/>
              </a:rPr>
              <a:t>Product type: SLC</a:t>
            </a:r>
            <a:endParaRPr lang="en-US" sz="1070" dirty="0"/>
          </a:p>
          <a:p>
            <a:pPr marL="0" indent="0" algn="l">
              <a:buNone/>
            </a:pPr>
            <a:r>
              <a:rPr lang="en-US" sz="1070" dirty="0">
                <a:solidFill>
                  <a:srgbClr val="444444"/>
                </a:solidFill>
                <a:latin typeface="Arial" pitchFamily="34" charset="0"/>
                <a:ea typeface="Arial" pitchFamily="34" charset="-122"/>
                <a:cs typeface="Arial" pitchFamily="34" charset="-120"/>
              </a:rPr>
              <a:t>Acquisition mode: SM</a:t>
            </a:r>
            <a:endParaRPr lang="en-US" sz="1070" dirty="0"/>
          </a:p>
          <a:p>
            <a:pPr marL="0" indent="0" algn="l">
              <a:buNone/>
            </a:pPr>
            <a:r>
              <a:rPr lang="en-US" sz="1070" dirty="0">
                <a:solidFill>
                  <a:srgbClr val="444444"/>
                </a:solidFill>
                <a:latin typeface="Arial" pitchFamily="34" charset="0"/>
                <a:ea typeface="Arial" pitchFamily="34" charset="-122"/>
                <a:cs typeface="Arial" pitchFamily="34" charset="-120"/>
              </a:rPr>
              <a:t>Pass: ASCENDING</a:t>
            </a:r>
            <a:endParaRPr lang="en-US" sz="1070" dirty="0"/>
          </a:p>
          <a:p>
            <a:pPr marL="0" indent="0" algn="l">
              <a:buNone/>
            </a:pPr>
            <a:r>
              <a:rPr lang="en-US" sz="1070" dirty="0">
                <a:solidFill>
                  <a:srgbClr val="444444"/>
                </a:solidFill>
                <a:latin typeface="Arial" pitchFamily="34" charset="0"/>
                <a:ea typeface="Arial" pitchFamily="34" charset="-122"/>
                <a:cs typeface="Arial" pitchFamily="34" charset="-120"/>
              </a:rPr>
              <a:t>Polarizations: VH, VV</a:t>
            </a:r>
            <a:endParaRPr lang="en-US" sz="1070" dirty="0"/>
          </a:p>
          <a:p>
            <a:pPr marL="0" indent="0" algn="l">
              <a:buNone/>
            </a:pPr>
            <a:r>
              <a:rPr lang="en-US" sz="1070" dirty="0">
                <a:solidFill>
                  <a:srgbClr val="444444"/>
                </a:solidFill>
                <a:latin typeface="Arial" pitchFamily="34" charset="0"/>
                <a:ea typeface="Arial" pitchFamily="34" charset="-122"/>
                <a:cs typeface="Arial" pitchFamily="34" charset="-120"/>
              </a:rPr>
              <a:t>Terrain-corrected flag: 1</a:t>
            </a:r>
            <a:endParaRPr lang="en-US" sz="1070" dirty="0"/>
          </a:p>
          <a:p>
            <a:pPr marL="0" indent="0" algn="l">
              <a:buNone/>
            </a:pPr>
            <a:r>
              <a:rPr lang="en-US" sz="1070" dirty="0">
                <a:solidFill>
                  <a:srgbClr val="444444"/>
                </a:solidFill>
                <a:latin typeface="Arial" pitchFamily="34" charset="0"/>
                <a:ea typeface="Arial" pitchFamily="34" charset="-122"/>
                <a:cs typeface="Arial" pitchFamily="34" charset="-120"/>
              </a:rPr>
              <a:t>CRS: WGS84 / Auto UTM</a:t>
            </a:r>
            <a:endParaRPr lang="en-US" sz="1070" dirty="0"/>
          </a:p>
          <a:p>
            <a:pPr marL="0" indent="0" algn="l">
              <a:buNone/>
            </a:pPr>
            <a:r>
              <a:rPr lang="en-US" sz="1070" dirty="0">
                <a:solidFill>
                  <a:srgbClr val="444444"/>
                </a:solidFill>
                <a:latin typeface="Arial" pitchFamily="34" charset="0"/>
                <a:ea typeface="Arial" pitchFamily="34" charset="-122"/>
                <a:cs typeface="Arial" pitchFamily="34" charset="-120"/>
              </a:rPr>
              <a:t>Pixel spacing: 10.0 m range, 10.0 m azimuth</a:t>
            </a:r>
            <a:endParaRPr lang="en-US" sz="1070" dirty="0"/>
          </a:p>
        </p:txBody>
      </p:sp>
      <p:sp>
        <p:nvSpPr>
          <p:cNvPr id="29" name="Shape 27"/>
          <p:cNvSpPr/>
          <p:nvPr/>
        </p:nvSpPr>
        <p:spPr>
          <a:xfrm>
            <a:off x="8540496" y="4517136"/>
            <a:ext cx="2523744" cy="0"/>
          </a:xfrm>
          <a:prstGeom prst="line">
            <a:avLst/>
          </a:prstGeom>
          <a:noFill/>
          <a:ln w="12700">
            <a:solidFill>
              <a:srgbClr val="D6D6D6"/>
            </a:solidFill>
            <a:prstDash val="solid"/>
          </a:ln>
        </p:spPr>
        <p:txBody>
          <a:bodyPr/>
          <a:lstStyle/>
          <a:p>
            <a:endParaRPr lang="en-US"/>
          </a:p>
        </p:txBody>
      </p:sp>
      <p:sp>
        <p:nvSpPr>
          <p:cNvPr id="30" name="Text 28"/>
          <p:cNvSpPr/>
          <p:nvPr/>
        </p:nvSpPr>
        <p:spPr>
          <a:xfrm>
            <a:off x="8540496" y="4718304"/>
            <a:ext cx="2596896" cy="841248"/>
          </a:xfrm>
          <a:prstGeom prst="rect">
            <a:avLst/>
          </a:prstGeom>
          <a:noFill/>
          <a:ln/>
        </p:spPr>
        <p:txBody>
          <a:bodyPr wrap="square" lIns="0" tIns="0" rIns="0" bIns="0" rtlCol="0" anchor="t">
            <a:normAutofit/>
          </a:bodyPr>
          <a:lstStyle/>
          <a:p>
            <a:pPr marL="0" indent="0" algn="l">
              <a:buNone/>
            </a:pPr>
            <a:r>
              <a:rPr lang="en-US" sz="1050" b="1" dirty="0">
                <a:solidFill>
                  <a:srgbClr val="222222"/>
                </a:solidFill>
                <a:latin typeface="Arial" pitchFamily="34" charset="0"/>
                <a:ea typeface="Arial" pitchFamily="34" charset="-122"/>
                <a:cs typeface="Arial" pitchFamily="34" charset="-120"/>
              </a:rPr>
              <a:t>Recorded processing graph in the docs: Apply-Orbit-File → Calibration → Polarimetric-Decomposition → Terrain-Correction → Subset → Write</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356616"/>
            <a:ext cx="11109960" cy="0"/>
          </a:xfrm>
          <a:prstGeom prst="line">
            <a:avLst/>
          </a:prstGeom>
          <a:noFill/>
          <a:ln w="19050">
            <a:solidFill>
              <a:srgbClr val="4A4A4A"/>
            </a:solidFill>
            <a:prstDash val="solid"/>
          </a:ln>
        </p:spPr>
        <p:txBody>
          <a:bodyPr/>
          <a:lstStyle/>
          <a:p>
            <a:endParaRPr lang="en-US"/>
          </a:p>
        </p:txBody>
      </p:sp>
      <p:sp>
        <p:nvSpPr>
          <p:cNvPr id="3" name="Text 1"/>
          <p:cNvSpPr/>
          <p:nvPr/>
        </p:nvSpPr>
        <p:spPr>
          <a:xfrm>
            <a:off x="694944" y="512064"/>
            <a:ext cx="7863840" cy="457200"/>
          </a:xfrm>
          <a:prstGeom prst="rect">
            <a:avLst/>
          </a:prstGeom>
          <a:noFill/>
          <a:ln/>
        </p:spPr>
        <p:txBody>
          <a:bodyPr wrap="square" lIns="0" tIns="0" rIns="0" bIns="0" rtlCol="0" anchor="ctr">
            <a:normAutofit fontScale="85000" lnSpcReduction="10000"/>
          </a:bodyPr>
          <a:lstStyle/>
          <a:p>
            <a:pPr marL="0" indent="0">
              <a:buNone/>
            </a:pPr>
            <a:r>
              <a:rPr lang="en-US" sz="2700" b="1" dirty="0">
                <a:solidFill>
                  <a:srgbClr val="222222"/>
                </a:solidFill>
                <a:latin typeface="Arial" pitchFamily="34" charset="0"/>
                <a:ea typeface="Arial" pitchFamily="34" charset="-122"/>
                <a:cs typeface="Arial" pitchFamily="34" charset="-120"/>
              </a:rPr>
              <a:t>Runtime tuning, monitoring, and deployment sequence</a:t>
            </a:r>
            <a:endParaRPr lang="en-US" sz="2700" dirty="0"/>
          </a:p>
        </p:txBody>
      </p:sp>
      <p:sp>
        <p:nvSpPr>
          <p:cNvPr id="4" name="Text 2"/>
          <p:cNvSpPr/>
          <p:nvPr/>
        </p:nvSpPr>
        <p:spPr>
          <a:xfrm>
            <a:off x="694944" y="987552"/>
            <a:ext cx="10424160" cy="256032"/>
          </a:xfrm>
          <a:prstGeom prst="rect">
            <a:avLst/>
          </a:prstGeom>
          <a:noFill/>
          <a:ln/>
        </p:spPr>
        <p:txBody>
          <a:bodyPr wrap="square" lIns="0" tIns="0" rIns="0" bIns="0" rtlCol="0" anchor="ctr">
            <a:normAutofit/>
          </a:bodyPr>
          <a:lstStyle/>
          <a:p>
            <a:pPr marL="0" indent="0">
              <a:buNone/>
            </a:pPr>
            <a:r>
              <a:rPr lang="en-US" sz="1150" dirty="0">
                <a:solidFill>
                  <a:srgbClr val="6E6E6E"/>
                </a:solidFill>
                <a:latin typeface="Arial" pitchFamily="34" charset="0"/>
                <a:ea typeface="Arial" pitchFamily="34" charset="-122"/>
                <a:cs typeface="Arial" pitchFamily="34" charset="-120"/>
              </a:rPr>
              <a:t>Use local VM mode to prove correctness, then move the unchanged recipe to PBS/HPC</a:t>
            </a:r>
            <a:endParaRPr lang="en-US" sz="1150" dirty="0"/>
          </a:p>
        </p:txBody>
      </p:sp>
      <p:sp>
        <p:nvSpPr>
          <p:cNvPr id="5" name="Text 3"/>
          <p:cNvSpPr/>
          <p:nvPr/>
        </p:nvSpPr>
        <p:spPr>
          <a:xfrm>
            <a:off x="749808" y="1426464"/>
            <a:ext cx="2011680" cy="219456"/>
          </a:xfrm>
          <a:prstGeom prst="rect">
            <a:avLst/>
          </a:prstGeom>
          <a:noFill/>
          <a:ln/>
        </p:spPr>
        <p:txBody>
          <a:bodyPr wrap="square" lIns="0" tIns="0" rIns="0" bIns="0" rtlCol="0" anchor="ctr">
            <a:normAutofit/>
          </a:bodyPr>
          <a:lstStyle/>
          <a:p>
            <a:pPr marL="0" indent="0">
              <a:buNone/>
            </a:pPr>
            <a:r>
              <a:rPr lang="en-US" sz="1080" b="1" dirty="0">
                <a:solidFill>
                  <a:srgbClr val="6E6E6E"/>
                </a:solidFill>
                <a:latin typeface="Arial" pitchFamily="34" charset="0"/>
                <a:ea typeface="Arial" pitchFamily="34" charset="-122"/>
                <a:cs typeface="Arial" pitchFamily="34" charset="-120"/>
              </a:rPr>
              <a:t>MODE DEFAULTS</a:t>
            </a:r>
            <a:endParaRPr lang="en-US" sz="1080" dirty="0"/>
          </a:p>
        </p:txBody>
      </p:sp>
      <p:sp>
        <p:nvSpPr>
          <p:cNvPr id="6" name="Shape 4"/>
          <p:cNvSpPr/>
          <p:nvPr/>
        </p:nvSpPr>
        <p:spPr>
          <a:xfrm>
            <a:off x="749808" y="1755648"/>
            <a:ext cx="676656" cy="384048"/>
          </a:xfrm>
          <a:prstGeom prst="rect">
            <a:avLst/>
          </a:prstGeom>
          <a:solidFill>
            <a:srgbClr val="EFEFEF"/>
          </a:solidFill>
          <a:ln w="10160">
            <a:solidFill>
              <a:srgbClr val="C9C9C9"/>
            </a:solidFill>
            <a:prstDash val="solid"/>
          </a:ln>
        </p:spPr>
        <p:txBody>
          <a:bodyPr/>
          <a:lstStyle/>
          <a:p>
            <a:endParaRPr lang="en-US"/>
          </a:p>
        </p:txBody>
      </p:sp>
      <p:sp>
        <p:nvSpPr>
          <p:cNvPr id="7" name="Text 5"/>
          <p:cNvSpPr/>
          <p:nvPr/>
        </p:nvSpPr>
        <p:spPr>
          <a:xfrm>
            <a:off x="804672" y="1801368"/>
            <a:ext cx="566928" cy="292608"/>
          </a:xfrm>
          <a:prstGeom prst="rect">
            <a:avLst/>
          </a:prstGeom>
          <a:noFill/>
          <a:ln/>
        </p:spPr>
        <p:txBody>
          <a:bodyPr wrap="square" lIns="0" tIns="0" rIns="0" bIns="0" rtlCol="0" anchor="ctr">
            <a:normAutofit/>
          </a:bodyPr>
          <a:lstStyle/>
          <a:p>
            <a:pPr marL="0" indent="0">
              <a:buNone/>
            </a:pPr>
            <a:r>
              <a:rPr lang="en-US" sz="1060" b="1" dirty="0">
                <a:solidFill>
                  <a:srgbClr val="222222"/>
                </a:solidFill>
                <a:latin typeface="Arial" pitchFamily="34" charset="0"/>
                <a:ea typeface="Arial" pitchFamily="34" charset="-122"/>
                <a:cs typeface="Arial" pitchFamily="34" charset="-120"/>
              </a:rPr>
              <a:t>Mode</a:t>
            </a:r>
            <a:endParaRPr lang="en-US" sz="1060" dirty="0"/>
          </a:p>
        </p:txBody>
      </p:sp>
      <p:sp>
        <p:nvSpPr>
          <p:cNvPr id="8" name="Shape 6"/>
          <p:cNvSpPr/>
          <p:nvPr/>
        </p:nvSpPr>
        <p:spPr>
          <a:xfrm>
            <a:off x="1426464" y="1755648"/>
            <a:ext cx="950976" cy="384048"/>
          </a:xfrm>
          <a:prstGeom prst="rect">
            <a:avLst/>
          </a:prstGeom>
          <a:solidFill>
            <a:srgbClr val="EFEFEF"/>
          </a:solidFill>
          <a:ln w="10160">
            <a:solidFill>
              <a:srgbClr val="C9C9C9"/>
            </a:solidFill>
            <a:prstDash val="solid"/>
          </a:ln>
        </p:spPr>
        <p:txBody>
          <a:bodyPr/>
          <a:lstStyle/>
          <a:p>
            <a:endParaRPr lang="en-US"/>
          </a:p>
        </p:txBody>
      </p:sp>
      <p:sp>
        <p:nvSpPr>
          <p:cNvPr id="9" name="Text 7"/>
          <p:cNvSpPr/>
          <p:nvPr/>
        </p:nvSpPr>
        <p:spPr>
          <a:xfrm>
            <a:off x="1481328" y="1801368"/>
            <a:ext cx="841248" cy="292608"/>
          </a:xfrm>
          <a:prstGeom prst="rect">
            <a:avLst/>
          </a:prstGeom>
          <a:noFill/>
          <a:ln/>
        </p:spPr>
        <p:txBody>
          <a:bodyPr wrap="square" lIns="0" tIns="0" rIns="0" bIns="0" rtlCol="0" anchor="ctr">
            <a:normAutofit/>
          </a:bodyPr>
          <a:lstStyle/>
          <a:p>
            <a:pPr marL="0" indent="0">
              <a:buNone/>
            </a:pPr>
            <a:r>
              <a:rPr lang="en-US" sz="1060" b="1" dirty="0">
                <a:solidFill>
                  <a:srgbClr val="222222"/>
                </a:solidFill>
                <a:latin typeface="Arial" pitchFamily="34" charset="0"/>
                <a:ea typeface="Arial" pitchFamily="34" charset="-122"/>
                <a:cs typeface="Arial" pitchFamily="34" charset="-120"/>
              </a:rPr>
              <a:t>GPT memory</a:t>
            </a:r>
            <a:endParaRPr lang="en-US" sz="1060" dirty="0"/>
          </a:p>
        </p:txBody>
      </p:sp>
      <p:sp>
        <p:nvSpPr>
          <p:cNvPr id="10" name="Shape 8"/>
          <p:cNvSpPr/>
          <p:nvPr/>
        </p:nvSpPr>
        <p:spPr>
          <a:xfrm>
            <a:off x="2377440" y="1755648"/>
            <a:ext cx="1078992" cy="384048"/>
          </a:xfrm>
          <a:prstGeom prst="rect">
            <a:avLst/>
          </a:prstGeom>
          <a:solidFill>
            <a:srgbClr val="EFEFEF"/>
          </a:solidFill>
          <a:ln w="10160">
            <a:solidFill>
              <a:srgbClr val="C9C9C9"/>
            </a:solidFill>
            <a:prstDash val="solid"/>
          </a:ln>
        </p:spPr>
        <p:txBody>
          <a:bodyPr/>
          <a:lstStyle/>
          <a:p>
            <a:endParaRPr lang="en-US"/>
          </a:p>
        </p:txBody>
      </p:sp>
      <p:sp>
        <p:nvSpPr>
          <p:cNvPr id="11" name="Text 9"/>
          <p:cNvSpPr/>
          <p:nvPr/>
        </p:nvSpPr>
        <p:spPr>
          <a:xfrm>
            <a:off x="2432304" y="1801368"/>
            <a:ext cx="969264" cy="292608"/>
          </a:xfrm>
          <a:prstGeom prst="rect">
            <a:avLst/>
          </a:prstGeom>
          <a:noFill/>
          <a:ln/>
        </p:spPr>
        <p:txBody>
          <a:bodyPr wrap="square" lIns="0" tIns="0" rIns="0" bIns="0" rtlCol="0" anchor="ctr">
            <a:normAutofit lnSpcReduction="10000"/>
          </a:bodyPr>
          <a:lstStyle/>
          <a:p>
            <a:pPr marL="0" indent="0">
              <a:buNone/>
            </a:pPr>
            <a:r>
              <a:rPr lang="en-US" sz="1060" b="1" dirty="0">
                <a:solidFill>
                  <a:srgbClr val="222222"/>
                </a:solidFill>
                <a:latin typeface="Arial" pitchFamily="34" charset="0"/>
                <a:ea typeface="Arial" pitchFamily="34" charset="-122"/>
                <a:cs typeface="Arial" pitchFamily="34" charset="-120"/>
              </a:rPr>
              <a:t>GPT parallelism</a:t>
            </a:r>
            <a:endParaRPr lang="en-US" sz="1060" dirty="0"/>
          </a:p>
        </p:txBody>
      </p:sp>
      <p:sp>
        <p:nvSpPr>
          <p:cNvPr id="12" name="Shape 10"/>
          <p:cNvSpPr/>
          <p:nvPr/>
        </p:nvSpPr>
        <p:spPr>
          <a:xfrm>
            <a:off x="3456432" y="1755648"/>
            <a:ext cx="987552" cy="384048"/>
          </a:xfrm>
          <a:prstGeom prst="rect">
            <a:avLst/>
          </a:prstGeom>
          <a:solidFill>
            <a:srgbClr val="EFEFEF"/>
          </a:solidFill>
          <a:ln w="10160">
            <a:solidFill>
              <a:srgbClr val="C9C9C9"/>
            </a:solidFill>
            <a:prstDash val="solid"/>
          </a:ln>
        </p:spPr>
        <p:txBody>
          <a:bodyPr/>
          <a:lstStyle/>
          <a:p>
            <a:endParaRPr lang="en-US"/>
          </a:p>
        </p:txBody>
      </p:sp>
      <p:sp>
        <p:nvSpPr>
          <p:cNvPr id="13" name="Text 11"/>
          <p:cNvSpPr/>
          <p:nvPr/>
        </p:nvSpPr>
        <p:spPr>
          <a:xfrm>
            <a:off x="3511296" y="1801368"/>
            <a:ext cx="877824" cy="292608"/>
          </a:xfrm>
          <a:prstGeom prst="rect">
            <a:avLst/>
          </a:prstGeom>
          <a:noFill/>
          <a:ln/>
        </p:spPr>
        <p:txBody>
          <a:bodyPr wrap="square" lIns="0" tIns="0" rIns="0" bIns="0" rtlCol="0" anchor="ctr">
            <a:normAutofit/>
          </a:bodyPr>
          <a:lstStyle/>
          <a:p>
            <a:pPr marL="0" indent="0">
              <a:buNone/>
            </a:pPr>
            <a:r>
              <a:rPr lang="en-US" sz="1060" b="1" dirty="0">
                <a:solidFill>
                  <a:srgbClr val="222222"/>
                </a:solidFill>
                <a:latin typeface="Arial" pitchFamily="34" charset="0"/>
                <a:ea typeface="Arial" pitchFamily="34" charset="-122"/>
                <a:cs typeface="Arial" pitchFamily="34" charset="-120"/>
              </a:rPr>
              <a:t>GPT timeout</a:t>
            </a:r>
            <a:endParaRPr lang="en-US" sz="1060" dirty="0"/>
          </a:p>
        </p:txBody>
      </p:sp>
      <p:sp>
        <p:nvSpPr>
          <p:cNvPr id="14" name="Shape 12"/>
          <p:cNvSpPr/>
          <p:nvPr/>
        </p:nvSpPr>
        <p:spPr>
          <a:xfrm>
            <a:off x="4443984" y="1755648"/>
            <a:ext cx="2176272" cy="384048"/>
          </a:xfrm>
          <a:prstGeom prst="rect">
            <a:avLst/>
          </a:prstGeom>
          <a:solidFill>
            <a:srgbClr val="EFEFEF"/>
          </a:solidFill>
          <a:ln w="10160">
            <a:solidFill>
              <a:srgbClr val="C9C9C9"/>
            </a:solidFill>
            <a:prstDash val="solid"/>
          </a:ln>
        </p:spPr>
        <p:txBody>
          <a:bodyPr/>
          <a:lstStyle/>
          <a:p>
            <a:endParaRPr lang="en-US"/>
          </a:p>
        </p:txBody>
      </p:sp>
      <p:sp>
        <p:nvSpPr>
          <p:cNvPr id="15" name="Text 13"/>
          <p:cNvSpPr/>
          <p:nvPr/>
        </p:nvSpPr>
        <p:spPr>
          <a:xfrm>
            <a:off x="4498848" y="1801368"/>
            <a:ext cx="2066544" cy="292608"/>
          </a:xfrm>
          <a:prstGeom prst="rect">
            <a:avLst/>
          </a:prstGeom>
          <a:noFill/>
          <a:ln/>
        </p:spPr>
        <p:txBody>
          <a:bodyPr wrap="square" lIns="0" tIns="0" rIns="0" bIns="0" rtlCol="0" anchor="ctr">
            <a:normAutofit/>
          </a:bodyPr>
          <a:lstStyle/>
          <a:p>
            <a:pPr marL="0" indent="0">
              <a:buNone/>
            </a:pPr>
            <a:r>
              <a:rPr lang="en-US" sz="1060" b="1" dirty="0">
                <a:solidFill>
                  <a:srgbClr val="222222"/>
                </a:solidFill>
                <a:latin typeface="Arial" pitchFamily="34" charset="0"/>
                <a:ea typeface="Arial" pitchFamily="34" charset="-122"/>
                <a:cs typeface="Arial" pitchFamily="34" charset="-120"/>
              </a:rPr>
              <a:t>Operational use</a:t>
            </a:r>
            <a:endParaRPr lang="en-US" sz="1060" dirty="0"/>
          </a:p>
        </p:txBody>
      </p:sp>
      <p:sp>
        <p:nvSpPr>
          <p:cNvPr id="16" name="Shape 14"/>
          <p:cNvSpPr/>
          <p:nvPr/>
        </p:nvSpPr>
        <p:spPr>
          <a:xfrm>
            <a:off x="749808" y="2139696"/>
            <a:ext cx="676656" cy="457200"/>
          </a:xfrm>
          <a:prstGeom prst="rect">
            <a:avLst/>
          </a:prstGeom>
          <a:solidFill>
            <a:srgbClr val="F6F6F6"/>
          </a:solidFill>
          <a:ln w="10160">
            <a:solidFill>
              <a:srgbClr val="C9C9C9"/>
            </a:solidFill>
            <a:prstDash val="solid"/>
          </a:ln>
        </p:spPr>
        <p:txBody>
          <a:bodyPr/>
          <a:lstStyle/>
          <a:p>
            <a:endParaRPr lang="en-US"/>
          </a:p>
        </p:txBody>
      </p:sp>
      <p:sp>
        <p:nvSpPr>
          <p:cNvPr id="17" name="Text 15"/>
          <p:cNvSpPr/>
          <p:nvPr/>
        </p:nvSpPr>
        <p:spPr>
          <a:xfrm>
            <a:off x="804672" y="2185416"/>
            <a:ext cx="566928" cy="365760"/>
          </a:xfrm>
          <a:prstGeom prst="rect">
            <a:avLst/>
          </a:prstGeom>
          <a:noFill/>
          <a:ln/>
        </p:spPr>
        <p:txBody>
          <a:bodyPr wrap="square" lIns="0" tIns="0" rIns="0" bIns="0" rtlCol="0" anchor="ctr">
            <a:normAutofit/>
          </a:bodyPr>
          <a:lstStyle/>
          <a:p>
            <a:pPr marL="0" indent="0">
              <a:buNone/>
            </a:pPr>
            <a:r>
              <a:rPr lang="en-US" sz="1060" dirty="0">
                <a:solidFill>
                  <a:srgbClr val="444444"/>
                </a:solidFill>
                <a:latin typeface="Arial" pitchFamily="34" charset="0"/>
                <a:ea typeface="Arial" pitchFamily="34" charset="-122"/>
                <a:cs typeface="Arial" pitchFamily="34" charset="-120"/>
              </a:rPr>
              <a:t>vm</a:t>
            </a:r>
            <a:endParaRPr lang="en-US" sz="1060" dirty="0"/>
          </a:p>
        </p:txBody>
      </p:sp>
      <p:sp>
        <p:nvSpPr>
          <p:cNvPr id="18" name="Shape 16"/>
          <p:cNvSpPr/>
          <p:nvPr/>
        </p:nvSpPr>
        <p:spPr>
          <a:xfrm>
            <a:off x="1426464" y="2139696"/>
            <a:ext cx="950976" cy="457200"/>
          </a:xfrm>
          <a:prstGeom prst="rect">
            <a:avLst/>
          </a:prstGeom>
          <a:solidFill>
            <a:srgbClr val="F6F6F6"/>
          </a:solidFill>
          <a:ln w="10160">
            <a:solidFill>
              <a:srgbClr val="C9C9C9"/>
            </a:solidFill>
            <a:prstDash val="solid"/>
          </a:ln>
        </p:spPr>
        <p:txBody>
          <a:bodyPr/>
          <a:lstStyle/>
          <a:p>
            <a:endParaRPr lang="en-US"/>
          </a:p>
        </p:txBody>
      </p:sp>
      <p:sp>
        <p:nvSpPr>
          <p:cNvPr id="19" name="Text 17"/>
          <p:cNvSpPr/>
          <p:nvPr/>
        </p:nvSpPr>
        <p:spPr>
          <a:xfrm>
            <a:off x="1481328" y="2185416"/>
            <a:ext cx="841248" cy="365760"/>
          </a:xfrm>
          <a:prstGeom prst="rect">
            <a:avLst/>
          </a:prstGeom>
          <a:noFill/>
          <a:ln/>
        </p:spPr>
        <p:txBody>
          <a:bodyPr wrap="square" lIns="0" tIns="0" rIns="0" bIns="0" rtlCol="0" anchor="ctr">
            <a:normAutofit/>
          </a:bodyPr>
          <a:lstStyle/>
          <a:p>
            <a:pPr marL="0" indent="0">
              <a:buNone/>
            </a:pPr>
            <a:r>
              <a:rPr lang="en-US" sz="1060" dirty="0">
                <a:solidFill>
                  <a:srgbClr val="444444"/>
                </a:solidFill>
                <a:latin typeface="Arial" pitchFamily="34" charset="0"/>
                <a:ea typeface="Arial" pitchFamily="34" charset="-122"/>
                <a:cs typeface="Arial" pitchFamily="34" charset="-120"/>
              </a:rPr>
              <a:t>64G</a:t>
            </a:r>
            <a:endParaRPr lang="en-US" sz="1060" dirty="0"/>
          </a:p>
        </p:txBody>
      </p:sp>
      <p:sp>
        <p:nvSpPr>
          <p:cNvPr id="20" name="Shape 18"/>
          <p:cNvSpPr/>
          <p:nvPr/>
        </p:nvSpPr>
        <p:spPr>
          <a:xfrm>
            <a:off x="2377440" y="2139696"/>
            <a:ext cx="1078992" cy="457200"/>
          </a:xfrm>
          <a:prstGeom prst="rect">
            <a:avLst/>
          </a:prstGeom>
          <a:solidFill>
            <a:srgbClr val="F6F6F6"/>
          </a:solidFill>
          <a:ln w="10160">
            <a:solidFill>
              <a:srgbClr val="C9C9C9"/>
            </a:solidFill>
            <a:prstDash val="solid"/>
          </a:ln>
        </p:spPr>
        <p:txBody>
          <a:bodyPr/>
          <a:lstStyle/>
          <a:p>
            <a:endParaRPr lang="en-US"/>
          </a:p>
        </p:txBody>
      </p:sp>
      <p:sp>
        <p:nvSpPr>
          <p:cNvPr id="21" name="Text 19"/>
          <p:cNvSpPr/>
          <p:nvPr/>
        </p:nvSpPr>
        <p:spPr>
          <a:xfrm>
            <a:off x="2432304" y="2185416"/>
            <a:ext cx="969264" cy="365760"/>
          </a:xfrm>
          <a:prstGeom prst="rect">
            <a:avLst/>
          </a:prstGeom>
          <a:noFill/>
          <a:ln/>
        </p:spPr>
        <p:txBody>
          <a:bodyPr wrap="square" lIns="0" tIns="0" rIns="0" bIns="0" rtlCol="0" anchor="ctr">
            <a:normAutofit/>
          </a:bodyPr>
          <a:lstStyle/>
          <a:p>
            <a:pPr marL="0" indent="0">
              <a:buNone/>
            </a:pPr>
            <a:r>
              <a:rPr lang="en-US" sz="1060" dirty="0">
                <a:solidFill>
                  <a:srgbClr val="444444"/>
                </a:solidFill>
                <a:latin typeface="Arial" pitchFamily="34" charset="0"/>
                <a:ea typeface="Arial" pitchFamily="34" charset="-122"/>
                <a:cs typeface="Arial" pitchFamily="34" charset="-120"/>
              </a:rPr>
              <a:t>16</a:t>
            </a:r>
            <a:endParaRPr lang="en-US" sz="1060" dirty="0"/>
          </a:p>
        </p:txBody>
      </p:sp>
      <p:sp>
        <p:nvSpPr>
          <p:cNvPr id="22" name="Shape 20"/>
          <p:cNvSpPr/>
          <p:nvPr/>
        </p:nvSpPr>
        <p:spPr>
          <a:xfrm>
            <a:off x="3456432" y="2139696"/>
            <a:ext cx="987552" cy="457200"/>
          </a:xfrm>
          <a:prstGeom prst="rect">
            <a:avLst/>
          </a:prstGeom>
          <a:solidFill>
            <a:srgbClr val="F6F6F6"/>
          </a:solidFill>
          <a:ln w="10160">
            <a:solidFill>
              <a:srgbClr val="C9C9C9"/>
            </a:solidFill>
            <a:prstDash val="solid"/>
          </a:ln>
        </p:spPr>
        <p:txBody>
          <a:bodyPr/>
          <a:lstStyle/>
          <a:p>
            <a:endParaRPr lang="en-US"/>
          </a:p>
        </p:txBody>
      </p:sp>
      <p:sp>
        <p:nvSpPr>
          <p:cNvPr id="23" name="Text 21"/>
          <p:cNvSpPr/>
          <p:nvPr/>
        </p:nvSpPr>
        <p:spPr>
          <a:xfrm>
            <a:off x="3511296" y="2185416"/>
            <a:ext cx="877824" cy="365760"/>
          </a:xfrm>
          <a:prstGeom prst="rect">
            <a:avLst/>
          </a:prstGeom>
          <a:noFill/>
          <a:ln/>
        </p:spPr>
        <p:txBody>
          <a:bodyPr wrap="square" lIns="0" tIns="0" rIns="0" bIns="0" rtlCol="0" anchor="ctr">
            <a:normAutofit/>
          </a:bodyPr>
          <a:lstStyle/>
          <a:p>
            <a:pPr marL="0" indent="0">
              <a:buNone/>
            </a:pPr>
            <a:r>
              <a:rPr lang="en-US" sz="1060" dirty="0">
                <a:solidFill>
                  <a:srgbClr val="444444"/>
                </a:solidFill>
                <a:latin typeface="Arial" pitchFamily="34" charset="0"/>
                <a:ea typeface="Arial" pitchFamily="34" charset="-122"/>
                <a:cs typeface="Arial" pitchFamily="34" charset="-120"/>
              </a:rPr>
              <a:t>3600 s</a:t>
            </a:r>
            <a:endParaRPr lang="en-US" sz="1060" dirty="0"/>
          </a:p>
        </p:txBody>
      </p:sp>
      <p:sp>
        <p:nvSpPr>
          <p:cNvPr id="24" name="Shape 22"/>
          <p:cNvSpPr/>
          <p:nvPr/>
        </p:nvSpPr>
        <p:spPr>
          <a:xfrm>
            <a:off x="4443984" y="2139696"/>
            <a:ext cx="2176272" cy="457200"/>
          </a:xfrm>
          <a:prstGeom prst="rect">
            <a:avLst/>
          </a:prstGeom>
          <a:solidFill>
            <a:srgbClr val="F6F6F6"/>
          </a:solidFill>
          <a:ln w="10160">
            <a:solidFill>
              <a:srgbClr val="C9C9C9"/>
            </a:solidFill>
            <a:prstDash val="solid"/>
          </a:ln>
        </p:spPr>
        <p:txBody>
          <a:bodyPr/>
          <a:lstStyle/>
          <a:p>
            <a:endParaRPr lang="en-US"/>
          </a:p>
        </p:txBody>
      </p:sp>
      <p:sp>
        <p:nvSpPr>
          <p:cNvPr id="25" name="Text 23"/>
          <p:cNvSpPr/>
          <p:nvPr/>
        </p:nvSpPr>
        <p:spPr>
          <a:xfrm>
            <a:off x="4498848" y="2185416"/>
            <a:ext cx="2066544" cy="365760"/>
          </a:xfrm>
          <a:prstGeom prst="rect">
            <a:avLst/>
          </a:prstGeom>
          <a:noFill/>
          <a:ln/>
        </p:spPr>
        <p:txBody>
          <a:bodyPr wrap="square" lIns="0" tIns="0" rIns="0" bIns="0" rtlCol="0" anchor="ctr">
            <a:normAutofit/>
          </a:bodyPr>
          <a:lstStyle/>
          <a:p>
            <a:pPr marL="0" indent="0">
              <a:buNone/>
            </a:pPr>
            <a:r>
              <a:rPr lang="en-US" sz="1060" dirty="0">
                <a:solidFill>
                  <a:srgbClr val="444444"/>
                </a:solidFill>
                <a:latin typeface="Arial" pitchFamily="34" charset="0"/>
                <a:ea typeface="Arial" pitchFamily="34" charset="-122"/>
                <a:cs typeface="Arial" pitchFamily="34" charset="-120"/>
              </a:rPr>
              <a:t>First local validation, low-risk debugging</a:t>
            </a:r>
            <a:endParaRPr lang="en-US" sz="1060" dirty="0"/>
          </a:p>
        </p:txBody>
      </p:sp>
      <p:sp>
        <p:nvSpPr>
          <p:cNvPr id="26" name="Shape 24"/>
          <p:cNvSpPr/>
          <p:nvPr/>
        </p:nvSpPr>
        <p:spPr>
          <a:xfrm>
            <a:off x="749808" y="2596896"/>
            <a:ext cx="676656" cy="457200"/>
          </a:xfrm>
          <a:prstGeom prst="rect">
            <a:avLst/>
          </a:prstGeom>
          <a:solidFill>
            <a:srgbClr val="F6F6F6"/>
          </a:solidFill>
          <a:ln w="10160">
            <a:solidFill>
              <a:srgbClr val="C9C9C9"/>
            </a:solidFill>
            <a:prstDash val="solid"/>
          </a:ln>
        </p:spPr>
        <p:txBody>
          <a:bodyPr/>
          <a:lstStyle/>
          <a:p>
            <a:endParaRPr lang="en-US"/>
          </a:p>
        </p:txBody>
      </p:sp>
      <p:sp>
        <p:nvSpPr>
          <p:cNvPr id="27" name="Text 25"/>
          <p:cNvSpPr/>
          <p:nvPr/>
        </p:nvSpPr>
        <p:spPr>
          <a:xfrm>
            <a:off x="804672" y="2642616"/>
            <a:ext cx="566928" cy="365760"/>
          </a:xfrm>
          <a:prstGeom prst="rect">
            <a:avLst/>
          </a:prstGeom>
          <a:noFill/>
          <a:ln/>
        </p:spPr>
        <p:txBody>
          <a:bodyPr wrap="square" lIns="0" tIns="0" rIns="0" bIns="0" rtlCol="0" anchor="ctr">
            <a:normAutofit/>
          </a:bodyPr>
          <a:lstStyle/>
          <a:p>
            <a:pPr marL="0" indent="0">
              <a:buNone/>
            </a:pPr>
            <a:r>
              <a:rPr lang="en-US" sz="1060" dirty="0">
                <a:solidFill>
                  <a:srgbClr val="444444"/>
                </a:solidFill>
                <a:latin typeface="Arial" pitchFamily="34" charset="0"/>
                <a:ea typeface="Arial" pitchFamily="34" charset="-122"/>
                <a:cs typeface="Arial" pitchFamily="34" charset="-120"/>
              </a:rPr>
              <a:t>hpc</a:t>
            </a:r>
            <a:endParaRPr lang="en-US" sz="1060" dirty="0"/>
          </a:p>
        </p:txBody>
      </p:sp>
      <p:sp>
        <p:nvSpPr>
          <p:cNvPr id="28" name="Shape 26"/>
          <p:cNvSpPr/>
          <p:nvPr/>
        </p:nvSpPr>
        <p:spPr>
          <a:xfrm>
            <a:off x="1426464" y="2596896"/>
            <a:ext cx="950976" cy="457200"/>
          </a:xfrm>
          <a:prstGeom prst="rect">
            <a:avLst/>
          </a:prstGeom>
          <a:solidFill>
            <a:srgbClr val="F6F6F6"/>
          </a:solidFill>
          <a:ln w="10160">
            <a:solidFill>
              <a:srgbClr val="C9C9C9"/>
            </a:solidFill>
            <a:prstDash val="solid"/>
          </a:ln>
        </p:spPr>
        <p:txBody>
          <a:bodyPr/>
          <a:lstStyle/>
          <a:p>
            <a:endParaRPr lang="en-US"/>
          </a:p>
        </p:txBody>
      </p:sp>
      <p:sp>
        <p:nvSpPr>
          <p:cNvPr id="29" name="Text 27"/>
          <p:cNvSpPr/>
          <p:nvPr/>
        </p:nvSpPr>
        <p:spPr>
          <a:xfrm>
            <a:off x="1481328" y="2642616"/>
            <a:ext cx="841248" cy="365760"/>
          </a:xfrm>
          <a:prstGeom prst="rect">
            <a:avLst/>
          </a:prstGeom>
          <a:noFill/>
          <a:ln/>
        </p:spPr>
        <p:txBody>
          <a:bodyPr wrap="square" lIns="0" tIns="0" rIns="0" bIns="0" rtlCol="0" anchor="ctr">
            <a:normAutofit/>
          </a:bodyPr>
          <a:lstStyle/>
          <a:p>
            <a:pPr marL="0" indent="0">
              <a:buNone/>
            </a:pPr>
            <a:r>
              <a:rPr lang="en-US" sz="1060" dirty="0">
                <a:solidFill>
                  <a:srgbClr val="444444"/>
                </a:solidFill>
                <a:latin typeface="Arial" pitchFamily="34" charset="0"/>
                <a:ea typeface="Arial" pitchFamily="34" charset="-122"/>
                <a:cs typeface="Arial" pitchFamily="34" charset="-120"/>
              </a:rPr>
              <a:t>128G</a:t>
            </a:r>
            <a:endParaRPr lang="en-US" sz="1060" dirty="0"/>
          </a:p>
        </p:txBody>
      </p:sp>
      <p:sp>
        <p:nvSpPr>
          <p:cNvPr id="30" name="Shape 28"/>
          <p:cNvSpPr/>
          <p:nvPr/>
        </p:nvSpPr>
        <p:spPr>
          <a:xfrm>
            <a:off x="2377440" y="2596896"/>
            <a:ext cx="1078992" cy="457200"/>
          </a:xfrm>
          <a:prstGeom prst="rect">
            <a:avLst/>
          </a:prstGeom>
          <a:solidFill>
            <a:srgbClr val="F6F6F6"/>
          </a:solidFill>
          <a:ln w="10160">
            <a:solidFill>
              <a:srgbClr val="C9C9C9"/>
            </a:solidFill>
            <a:prstDash val="solid"/>
          </a:ln>
        </p:spPr>
        <p:txBody>
          <a:bodyPr/>
          <a:lstStyle/>
          <a:p>
            <a:endParaRPr lang="en-US"/>
          </a:p>
        </p:txBody>
      </p:sp>
      <p:sp>
        <p:nvSpPr>
          <p:cNvPr id="31" name="Text 29"/>
          <p:cNvSpPr/>
          <p:nvPr/>
        </p:nvSpPr>
        <p:spPr>
          <a:xfrm>
            <a:off x="2432304" y="2642616"/>
            <a:ext cx="969264" cy="365760"/>
          </a:xfrm>
          <a:prstGeom prst="rect">
            <a:avLst/>
          </a:prstGeom>
          <a:noFill/>
          <a:ln/>
        </p:spPr>
        <p:txBody>
          <a:bodyPr wrap="square" lIns="0" tIns="0" rIns="0" bIns="0" rtlCol="0" anchor="ctr">
            <a:normAutofit/>
          </a:bodyPr>
          <a:lstStyle/>
          <a:p>
            <a:pPr marL="0" indent="0">
              <a:buNone/>
            </a:pPr>
            <a:r>
              <a:rPr lang="en-US" sz="1060" dirty="0">
                <a:solidFill>
                  <a:srgbClr val="444444"/>
                </a:solidFill>
                <a:latin typeface="Arial" pitchFamily="34" charset="0"/>
                <a:ea typeface="Arial" pitchFamily="34" charset="-122"/>
                <a:cs typeface="Arial" pitchFamily="34" charset="-120"/>
              </a:rPr>
              <a:t>164</a:t>
            </a:r>
            <a:endParaRPr lang="en-US" sz="1060" dirty="0"/>
          </a:p>
        </p:txBody>
      </p:sp>
      <p:sp>
        <p:nvSpPr>
          <p:cNvPr id="32" name="Shape 30"/>
          <p:cNvSpPr/>
          <p:nvPr/>
        </p:nvSpPr>
        <p:spPr>
          <a:xfrm>
            <a:off x="3456432" y="2596896"/>
            <a:ext cx="987552" cy="457200"/>
          </a:xfrm>
          <a:prstGeom prst="rect">
            <a:avLst/>
          </a:prstGeom>
          <a:solidFill>
            <a:srgbClr val="F6F6F6"/>
          </a:solidFill>
          <a:ln w="10160">
            <a:solidFill>
              <a:srgbClr val="C9C9C9"/>
            </a:solidFill>
            <a:prstDash val="solid"/>
          </a:ln>
        </p:spPr>
        <p:txBody>
          <a:bodyPr/>
          <a:lstStyle/>
          <a:p>
            <a:endParaRPr lang="en-US"/>
          </a:p>
        </p:txBody>
      </p:sp>
      <p:sp>
        <p:nvSpPr>
          <p:cNvPr id="33" name="Text 31"/>
          <p:cNvSpPr/>
          <p:nvPr/>
        </p:nvSpPr>
        <p:spPr>
          <a:xfrm>
            <a:off x="3511296" y="2642616"/>
            <a:ext cx="877824" cy="365760"/>
          </a:xfrm>
          <a:prstGeom prst="rect">
            <a:avLst/>
          </a:prstGeom>
          <a:noFill/>
          <a:ln/>
        </p:spPr>
        <p:txBody>
          <a:bodyPr wrap="square" lIns="0" tIns="0" rIns="0" bIns="0" rtlCol="0" anchor="ctr">
            <a:normAutofit/>
          </a:bodyPr>
          <a:lstStyle/>
          <a:p>
            <a:pPr marL="0" indent="0">
              <a:buNone/>
            </a:pPr>
            <a:r>
              <a:rPr lang="en-US" sz="1060" dirty="0">
                <a:solidFill>
                  <a:srgbClr val="444444"/>
                </a:solidFill>
                <a:latin typeface="Arial" pitchFamily="34" charset="0"/>
                <a:ea typeface="Arial" pitchFamily="34" charset="-122"/>
                <a:cs typeface="Arial" pitchFamily="34" charset="-120"/>
              </a:rPr>
              <a:t>7200 s</a:t>
            </a:r>
            <a:endParaRPr lang="en-US" sz="1060" dirty="0"/>
          </a:p>
        </p:txBody>
      </p:sp>
      <p:sp>
        <p:nvSpPr>
          <p:cNvPr id="34" name="Shape 32"/>
          <p:cNvSpPr/>
          <p:nvPr/>
        </p:nvSpPr>
        <p:spPr>
          <a:xfrm>
            <a:off x="4443984" y="2596896"/>
            <a:ext cx="2176272" cy="457200"/>
          </a:xfrm>
          <a:prstGeom prst="rect">
            <a:avLst/>
          </a:prstGeom>
          <a:solidFill>
            <a:srgbClr val="F6F6F6"/>
          </a:solidFill>
          <a:ln w="10160">
            <a:solidFill>
              <a:srgbClr val="C9C9C9"/>
            </a:solidFill>
            <a:prstDash val="solid"/>
          </a:ln>
        </p:spPr>
        <p:txBody>
          <a:bodyPr/>
          <a:lstStyle/>
          <a:p>
            <a:endParaRPr lang="en-US"/>
          </a:p>
        </p:txBody>
      </p:sp>
      <p:sp>
        <p:nvSpPr>
          <p:cNvPr id="35" name="Text 33"/>
          <p:cNvSpPr/>
          <p:nvPr/>
        </p:nvSpPr>
        <p:spPr>
          <a:xfrm>
            <a:off x="4498848" y="2642616"/>
            <a:ext cx="2066544" cy="365760"/>
          </a:xfrm>
          <a:prstGeom prst="rect">
            <a:avLst/>
          </a:prstGeom>
          <a:noFill/>
          <a:ln/>
        </p:spPr>
        <p:txBody>
          <a:bodyPr wrap="square" lIns="0" tIns="0" rIns="0" bIns="0" rtlCol="0" anchor="ctr">
            <a:normAutofit/>
          </a:bodyPr>
          <a:lstStyle/>
          <a:p>
            <a:pPr marL="0" indent="0">
              <a:buNone/>
            </a:pPr>
            <a:r>
              <a:rPr lang="en-US" sz="1060" dirty="0">
                <a:solidFill>
                  <a:srgbClr val="444444"/>
                </a:solidFill>
                <a:latin typeface="Arial" pitchFamily="34" charset="0"/>
                <a:ea typeface="Arial" pitchFamily="34" charset="-122"/>
                <a:cs typeface="Arial" pitchFamily="34" charset="-120"/>
              </a:rPr>
              <a:t>High-throughput cluster runs via PBS/qsub</a:t>
            </a:r>
            <a:endParaRPr lang="en-US" sz="1060" dirty="0"/>
          </a:p>
        </p:txBody>
      </p:sp>
      <p:sp>
        <p:nvSpPr>
          <p:cNvPr id="36" name="Shape 34"/>
          <p:cNvSpPr/>
          <p:nvPr/>
        </p:nvSpPr>
        <p:spPr>
          <a:xfrm>
            <a:off x="6912864" y="1755648"/>
            <a:ext cx="4517136" cy="1444752"/>
          </a:xfrm>
          <a:prstGeom prst="roundRect">
            <a:avLst>
              <a:gd name="adj" fmla="val 5063"/>
            </a:avLst>
          </a:prstGeom>
          <a:solidFill>
            <a:srgbClr val="F6F6F6"/>
          </a:solidFill>
          <a:ln w="12700">
            <a:solidFill>
              <a:srgbClr val="C9C9C9"/>
            </a:solidFill>
            <a:prstDash val="solid"/>
          </a:ln>
        </p:spPr>
        <p:txBody>
          <a:bodyPr/>
          <a:lstStyle/>
          <a:p>
            <a:endParaRPr lang="en-US"/>
          </a:p>
        </p:txBody>
      </p:sp>
      <p:sp>
        <p:nvSpPr>
          <p:cNvPr id="37" name="Text 35"/>
          <p:cNvSpPr/>
          <p:nvPr/>
        </p:nvSpPr>
        <p:spPr>
          <a:xfrm>
            <a:off x="7132320" y="1901952"/>
            <a:ext cx="4023360" cy="256032"/>
          </a:xfrm>
          <a:prstGeom prst="rect">
            <a:avLst/>
          </a:prstGeom>
          <a:noFill/>
          <a:ln/>
        </p:spPr>
        <p:txBody>
          <a:bodyPr wrap="square" lIns="0" tIns="0" rIns="0" bIns="0" rtlCol="0" anchor="ctr">
            <a:normAutofit/>
          </a:bodyPr>
          <a:lstStyle/>
          <a:p>
            <a:pPr marL="0" indent="0">
              <a:spcBef>
                <a:spcPts val="0"/>
              </a:spcBef>
              <a:spcAft>
                <a:spcPts val="0"/>
              </a:spcAft>
              <a:buNone/>
            </a:pPr>
            <a:r>
              <a:rPr sz="1100" b="1">
                <a:solidFill>
                  <a:srgbClr val="222222"/>
                </a:solidFill>
                <a:latin typeface="Arial"/>
              </a:rPr>
              <a:t>Monitoring commands + HPC defaults</a:t>
            </a:r>
            <a:endParaRPr lang="en-US" sz="1310" dirty="0"/>
          </a:p>
        </p:txBody>
      </p:sp>
      <p:sp>
        <p:nvSpPr>
          <p:cNvPr id="38" name="Text 36"/>
          <p:cNvSpPr/>
          <p:nvPr/>
        </p:nvSpPr>
        <p:spPr>
          <a:xfrm>
            <a:off x="7132320" y="2231136"/>
            <a:ext cx="3840480" cy="786384"/>
          </a:xfrm>
          <a:prstGeom prst="rect">
            <a:avLst/>
          </a:prstGeom>
          <a:noFill/>
          <a:ln/>
        </p:spPr>
        <p:txBody>
          <a:bodyPr wrap="square" lIns="0" tIns="0" rIns="0" bIns="0" rtlCol="0" anchor="t">
            <a:normAutofit/>
          </a:bodyPr>
          <a:lstStyle/>
          <a:p>
            <a:pPr marL="0" indent="0" algn="l">
              <a:lnSpc>
                <a:spcPct val="100000"/>
              </a:lnSpc>
              <a:spcBef>
                <a:spcPts val="0"/>
              </a:spcBef>
              <a:spcAft>
                <a:spcPts val="0"/>
              </a:spcAft>
              <a:buNone/>
            </a:pPr>
            <a:r>
              <a:rPr sz="890">
                <a:solidFill>
                  <a:srgbClr val="222222"/>
                </a:solidFill>
                <a:latin typeface="Courier New"/>
              </a:rPr>
              <a:t>make status | WORLDSAR_MODE=vm make status | make logs</a:t>
            </a:r>
            <a:endParaRPr lang="en-US" sz="1060" dirty="0"/>
          </a:p>
          <a:p>
            <a:pPr algn="l">
              <a:lnSpc>
                <a:spcPct val="100000"/>
              </a:lnSpc>
              <a:spcBef>
                <a:spcPts val="0"/>
              </a:spcBef>
              <a:spcAft>
                <a:spcPts val="0"/>
              </a:spcAft>
            </a:pPr>
            <a:r>
              <a:rPr sz="890">
                <a:solidFill>
                  <a:srgbClr val="222222"/>
                </a:solidFill>
                <a:latin typeface="Courier New"/>
              </a:rPr>
              <a:t>tail -f logs/*.stdout.log | tail -f logs/*.stderr.log</a:t>
            </a:r>
          </a:p>
          <a:p>
            <a:pPr algn="l">
              <a:lnSpc>
                <a:spcPct val="100000"/>
              </a:lnSpc>
              <a:spcBef>
                <a:spcPts val="0"/>
              </a:spcBef>
              <a:spcAft>
                <a:spcPts val="0"/>
              </a:spcAft>
            </a:pPr>
            <a:endParaRPr sz="890">
              <a:solidFill>
                <a:srgbClr val="222222"/>
              </a:solidFill>
              <a:latin typeface="Courier New"/>
            </a:endParaRPr>
          </a:p>
          <a:p>
            <a:pPr algn="l">
              <a:lnSpc>
                <a:spcPct val="100000"/>
              </a:lnSpc>
              <a:spcBef>
                <a:spcPts val="0"/>
              </a:spcBef>
              <a:spcAft>
                <a:spcPts val="0"/>
              </a:spcAft>
            </a:pPr>
            <a:r>
              <a:rPr sz="890">
                <a:solidFill>
                  <a:srgbClr val="222222"/>
                </a:solidFill>
                <a:latin typeface="Courier New"/>
              </a:rPr>
              <a:t>HPC defaults: queue=cpu_std</a:t>
            </a:r>
          </a:p>
          <a:p>
            <a:pPr algn="l">
              <a:lnSpc>
                <a:spcPct val="100000"/>
              </a:lnSpc>
              <a:spcBef>
                <a:spcPts val="0"/>
              </a:spcBef>
              <a:spcAft>
                <a:spcPts val="0"/>
              </a:spcAft>
            </a:pPr>
            <a:r>
              <a:rPr sz="890">
                <a:solidFill>
                  <a:srgbClr val="222222"/>
                </a:solidFill>
                <a:latin typeface="Courier New"/>
              </a:rPr>
              <a:t>select=1:ncpus=192:mem=160g | walltime=22:00:00</a:t>
            </a:r>
          </a:p>
        </p:txBody>
      </p:sp>
      <p:sp>
        <p:nvSpPr>
          <p:cNvPr id="39" name="Text 37"/>
          <p:cNvSpPr/>
          <p:nvPr/>
        </p:nvSpPr>
        <p:spPr>
          <a:xfrm>
            <a:off x="749808" y="3529584"/>
            <a:ext cx="2377440" cy="219456"/>
          </a:xfrm>
          <a:prstGeom prst="rect">
            <a:avLst/>
          </a:prstGeom>
          <a:noFill/>
          <a:ln/>
        </p:spPr>
        <p:txBody>
          <a:bodyPr wrap="square" lIns="0" tIns="0" rIns="0" bIns="0" rtlCol="0" anchor="ctr">
            <a:normAutofit/>
          </a:bodyPr>
          <a:lstStyle/>
          <a:p>
            <a:pPr marL="0" indent="0">
              <a:buNone/>
            </a:pPr>
            <a:r>
              <a:rPr lang="en-US" sz="1080" b="1" dirty="0">
                <a:solidFill>
                  <a:srgbClr val="6E6E6E"/>
                </a:solidFill>
                <a:latin typeface="Arial" pitchFamily="34" charset="0"/>
                <a:ea typeface="Arial" pitchFamily="34" charset="-122"/>
                <a:cs typeface="Arial" pitchFamily="34" charset="-120"/>
              </a:rPr>
              <a:t>DEPLOYMENT ORDER</a:t>
            </a:r>
            <a:endParaRPr lang="en-US" sz="1080" dirty="0"/>
          </a:p>
        </p:txBody>
      </p:sp>
      <p:sp>
        <p:nvSpPr>
          <p:cNvPr id="40" name="Shape 38"/>
          <p:cNvSpPr/>
          <p:nvPr/>
        </p:nvSpPr>
        <p:spPr>
          <a:xfrm>
            <a:off x="749808" y="3822192"/>
            <a:ext cx="10680192" cy="2176272"/>
          </a:xfrm>
          <a:prstGeom prst="roundRect">
            <a:avLst>
              <a:gd name="adj" fmla="val 3361"/>
            </a:avLst>
          </a:prstGeom>
          <a:solidFill>
            <a:srgbClr val="F6F6F6"/>
          </a:solidFill>
          <a:ln w="12700">
            <a:solidFill>
              <a:srgbClr val="C9C9C9"/>
            </a:solidFill>
            <a:prstDash val="solid"/>
          </a:ln>
        </p:spPr>
        <p:txBody>
          <a:bodyPr/>
          <a:lstStyle/>
          <a:p>
            <a:endParaRPr lang="en-US"/>
          </a:p>
        </p:txBody>
      </p:sp>
      <p:sp>
        <p:nvSpPr>
          <p:cNvPr id="41" name="Shape 39"/>
          <p:cNvSpPr/>
          <p:nvPr/>
        </p:nvSpPr>
        <p:spPr>
          <a:xfrm>
            <a:off x="987552" y="4151376"/>
            <a:ext cx="310896" cy="310896"/>
          </a:xfrm>
          <a:prstGeom prst="ellipse">
            <a:avLst/>
          </a:prstGeom>
          <a:solidFill>
            <a:srgbClr val="474747"/>
          </a:solidFill>
          <a:ln w="6350">
            <a:solidFill>
              <a:srgbClr val="474747"/>
            </a:solidFill>
            <a:prstDash val="solid"/>
          </a:ln>
        </p:spPr>
        <p:txBody>
          <a:bodyPr/>
          <a:lstStyle/>
          <a:p>
            <a:endParaRPr lang="en-US"/>
          </a:p>
        </p:txBody>
      </p:sp>
      <p:sp>
        <p:nvSpPr>
          <p:cNvPr id="42" name="Text 40"/>
          <p:cNvSpPr/>
          <p:nvPr/>
        </p:nvSpPr>
        <p:spPr>
          <a:xfrm>
            <a:off x="987552" y="4169664"/>
            <a:ext cx="310896" cy="21945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43" name="Text 41"/>
          <p:cNvSpPr/>
          <p:nvPr/>
        </p:nvSpPr>
        <p:spPr>
          <a:xfrm>
            <a:off x="1353312" y="4114800"/>
            <a:ext cx="9710928" cy="402336"/>
          </a:xfrm>
          <a:prstGeom prst="rect">
            <a:avLst/>
          </a:prstGeom>
          <a:noFill/>
          <a:ln/>
        </p:spPr>
        <p:txBody>
          <a:bodyPr wrap="square" lIns="0" tIns="0" rIns="0" bIns="0" rtlCol="0" anchor="t">
            <a:normAutofit/>
          </a:bodyPr>
          <a:lstStyle/>
          <a:p>
            <a:pPr marL="0" indent="0" algn="l">
              <a:spcBef>
                <a:spcPts val="0"/>
              </a:spcBef>
              <a:spcAft>
                <a:spcPts val="0"/>
              </a:spcAft>
              <a:buNone/>
            </a:pPr>
            <a:r>
              <a:rPr sz="1019">
                <a:solidFill>
                  <a:srgbClr val="444444"/>
                </a:solidFill>
                <a:latin typeface="Arial"/>
              </a:rPr>
              <a:t>Start with one Sentinel product in SARPyX or WORLDSAR vm mode. Validate the BEAM-DIMAP outputs, tile geometry, and metadata before scaling.</a:t>
            </a:r>
            <a:endParaRPr lang="en-US" sz="1110" dirty="0"/>
          </a:p>
        </p:txBody>
      </p:sp>
      <p:sp>
        <p:nvSpPr>
          <p:cNvPr id="44" name="Shape 42"/>
          <p:cNvSpPr/>
          <p:nvPr/>
        </p:nvSpPr>
        <p:spPr>
          <a:xfrm>
            <a:off x="987552" y="4736592"/>
            <a:ext cx="310896" cy="310896"/>
          </a:xfrm>
          <a:prstGeom prst="ellipse">
            <a:avLst/>
          </a:prstGeom>
          <a:solidFill>
            <a:srgbClr val="474747"/>
          </a:solidFill>
          <a:ln w="6350">
            <a:solidFill>
              <a:srgbClr val="474747"/>
            </a:solidFill>
            <a:prstDash val="solid"/>
          </a:ln>
        </p:spPr>
        <p:txBody>
          <a:bodyPr/>
          <a:lstStyle/>
          <a:p>
            <a:endParaRPr lang="en-US"/>
          </a:p>
        </p:txBody>
      </p:sp>
      <p:sp>
        <p:nvSpPr>
          <p:cNvPr id="45" name="Text 43"/>
          <p:cNvSpPr/>
          <p:nvPr/>
        </p:nvSpPr>
        <p:spPr>
          <a:xfrm>
            <a:off x="987552" y="4754880"/>
            <a:ext cx="310896" cy="21945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46" name="Text 44"/>
          <p:cNvSpPr/>
          <p:nvPr/>
        </p:nvSpPr>
        <p:spPr>
          <a:xfrm>
            <a:off x="1353312" y="4700016"/>
            <a:ext cx="9710928" cy="347472"/>
          </a:xfrm>
          <a:prstGeom prst="rect">
            <a:avLst/>
          </a:prstGeom>
          <a:noFill/>
          <a:ln/>
        </p:spPr>
        <p:txBody>
          <a:bodyPr wrap="square" lIns="0" tIns="0" rIns="0" bIns="0" rtlCol="0" anchor="t">
            <a:normAutofit/>
          </a:bodyPr>
          <a:lstStyle/>
          <a:p>
            <a:pPr marL="0" indent="0" algn="l">
              <a:spcBef>
                <a:spcPts val="0"/>
              </a:spcBef>
              <a:spcAft>
                <a:spcPts val="0"/>
              </a:spcAft>
              <a:buNone/>
            </a:pPr>
            <a:r>
              <a:rPr sz="1019">
                <a:solidFill>
                  <a:srgbClr val="444444"/>
                </a:solidFill>
                <a:latin typeface="Arial"/>
              </a:rPr>
              <a:t>Tune only after correctness is proven: GPT memory, GPT parallelism, GPT timeout, grid density, and the exact paths mounted into the container.</a:t>
            </a:r>
            <a:endParaRPr lang="en-US" sz="1110" dirty="0"/>
          </a:p>
        </p:txBody>
      </p:sp>
      <p:sp>
        <p:nvSpPr>
          <p:cNvPr id="47" name="Shape 45"/>
          <p:cNvSpPr/>
          <p:nvPr/>
        </p:nvSpPr>
        <p:spPr>
          <a:xfrm>
            <a:off x="987552" y="5303520"/>
            <a:ext cx="310896" cy="310896"/>
          </a:xfrm>
          <a:prstGeom prst="ellipse">
            <a:avLst/>
          </a:prstGeom>
          <a:solidFill>
            <a:srgbClr val="474747"/>
          </a:solidFill>
          <a:ln w="6350">
            <a:solidFill>
              <a:srgbClr val="474747"/>
            </a:solidFill>
            <a:prstDash val="solid"/>
          </a:ln>
        </p:spPr>
        <p:txBody>
          <a:bodyPr/>
          <a:lstStyle/>
          <a:p>
            <a:endParaRPr lang="en-US"/>
          </a:p>
        </p:txBody>
      </p:sp>
      <p:sp>
        <p:nvSpPr>
          <p:cNvPr id="48" name="Text 46"/>
          <p:cNvSpPr/>
          <p:nvPr/>
        </p:nvSpPr>
        <p:spPr>
          <a:xfrm>
            <a:off x="987552" y="5321808"/>
            <a:ext cx="310896" cy="21945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49" name="Text 47"/>
          <p:cNvSpPr/>
          <p:nvPr/>
        </p:nvSpPr>
        <p:spPr>
          <a:xfrm>
            <a:off x="1353312" y="5266944"/>
            <a:ext cx="9710928" cy="347472"/>
          </a:xfrm>
          <a:prstGeom prst="rect">
            <a:avLst/>
          </a:prstGeom>
          <a:noFill/>
          <a:ln/>
        </p:spPr>
        <p:txBody>
          <a:bodyPr wrap="square" lIns="0" tIns="0" rIns="0" bIns="0" rtlCol="0" anchor="t">
            <a:normAutofit/>
          </a:bodyPr>
          <a:lstStyle/>
          <a:p>
            <a:pPr marL="0" indent="0" algn="l">
              <a:spcBef>
                <a:spcPts val="0"/>
              </a:spcBef>
              <a:spcAft>
                <a:spcPts val="0"/>
              </a:spcAft>
              <a:buNone/>
            </a:pPr>
            <a:r>
              <a:rPr sz="1000">
                <a:solidFill>
                  <a:srgbClr val="444444"/>
                </a:solidFill>
                <a:latin typeface="Arial"/>
              </a:rPr>
              <a:t>Move the same recipe to hpc mode once logs are clean and coverage is acceptable. Keep PRODUCT, GRID_PATH, and output semantics identical between modes.</a:t>
            </a:r>
            <a:endParaRPr lang="en-US" sz="1110" dirty="0"/>
          </a:p>
        </p:txBody>
      </p:sp>
      <p:sp>
        <p:nvSpPr>
          <p:cNvPr id="50" name="Text 48"/>
          <p:cNvSpPr/>
          <p:nvPr/>
        </p:nvSpPr>
        <p:spPr>
          <a:xfrm>
            <a:off x="749808" y="6199632"/>
            <a:ext cx="10680192" cy="310896"/>
          </a:xfrm>
          <a:prstGeom prst="rect">
            <a:avLst/>
          </a:prstGeom>
          <a:noFill/>
          <a:ln/>
        </p:spPr>
        <p:txBody>
          <a:bodyPr wrap="square" lIns="0" tIns="0" rIns="0" bIns="0" rtlCol="0" anchor="t">
            <a:normAutofit/>
          </a:bodyPr>
          <a:lstStyle/>
          <a:p>
            <a:pPr marL="0" indent="0" algn="l">
              <a:spcBef>
                <a:spcPts val="0"/>
              </a:spcBef>
              <a:spcAft>
                <a:spcPts val="0"/>
              </a:spcAft>
              <a:buNone/>
            </a:pPr>
            <a:r>
              <a:rPr sz="1010">
                <a:solidFill>
                  <a:srgbClr val="444444"/>
                </a:solidFill>
                <a:latin typeface="Arial"/>
              </a:rPr>
              <a:t>Correctness first in vm, then identical semantics in hpc. Switching mode before stabilizing the product recipe is how you lose traceability.</a:t>
            </a:r>
            <a:endParaRPr lang="en-US" sz="11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640080" y="356616"/>
            <a:ext cx="11109960" cy="0"/>
          </a:xfrm>
          <a:prstGeom prst="line">
            <a:avLst/>
          </a:prstGeom>
          <a:noFill/>
          <a:ln w="19050">
            <a:solidFill>
              <a:srgbClr val="4A4A4A"/>
            </a:solidFill>
            <a:prstDash val="solid"/>
          </a:ln>
        </p:spPr>
        <p:txBody>
          <a:bodyPr/>
          <a:lstStyle/>
          <a:p>
            <a:endParaRPr lang="en-US"/>
          </a:p>
        </p:txBody>
      </p:sp>
      <p:sp>
        <p:nvSpPr>
          <p:cNvPr id="3" name="Text 1"/>
          <p:cNvSpPr/>
          <p:nvPr/>
        </p:nvSpPr>
        <p:spPr>
          <a:xfrm>
            <a:off x="694944" y="512064"/>
            <a:ext cx="7863840" cy="457200"/>
          </a:xfrm>
          <a:prstGeom prst="rect">
            <a:avLst/>
          </a:prstGeom>
          <a:noFill/>
          <a:ln/>
        </p:spPr>
        <p:txBody>
          <a:bodyPr wrap="square" lIns="0" tIns="0" rIns="0" bIns="0" rtlCol="0" anchor="ctr">
            <a:normAutofit/>
          </a:bodyPr>
          <a:lstStyle/>
          <a:p>
            <a:pPr marL="0" indent="0">
              <a:buNone/>
            </a:pPr>
            <a:r>
              <a:rPr lang="en-US" sz="2700" b="1" dirty="0">
                <a:solidFill>
                  <a:srgbClr val="222222"/>
                </a:solidFill>
                <a:latin typeface="Arial" pitchFamily="34" charset="0"/>
                <a:ea typeface="Arial" pitchFamily="34" charset="-122"/>
                <a:cs typeface="Arial" pitchFamily="34" charset="-120"/>
              </a:rPr>
              <a:t>Use the tool entry for the right problem</a:t>
            </a:r>
            <a:endParaRPr lang="en-US" sz="2700" dirty="0"/>
          </a:p>
        </p:txBody>
      </p:sp>
      <p:sp>
        <p:nvSpPr>
          <p:cNvPr id="4" name="Text 2"/>
          <p:cNvSpPr/>
          <p:nvPr/>
        </p:nvSpPr>
        <p:spPr>
          <a:xfrm>
            <a:off x="694944" y="987552"/>
            <a:ext cx="10424160" cy="256032"/>
          </a:xfrm>
          <a:prstGeom prst="rect">
            <a:avLst/>
          </a:prstGeom>
          <a:noFill/>
          <a:ln/>
        </p:spPr>
        <p:txBody>
          <a:bodyPr wrap="square" lIns="0" tIns="0" rIns="0" bIns="0" rtlCol="0" anchor="ctr">
            <a:normAutofit/>
          </a:bodyPr>
          <a:lstStyle/>
          <a:p>
            <a:pPr marL="0" indent="0">
              <a:buNone/>
            </a:pPr>
            <a:r>
              <a:rPr lang="en-US" sz="1150" dirty="0">
                <a:solidFill>
                  <a:srgbClr val="6E6E6E"/>
                </a:solidFill>
                <a:latin typeface="Arial" pitchFamily="34" charset="0"/>
                <a:ea typeface="Arial" pitchFamily="34" charset="-122"/>
                <a:cs typeface="Arial" pitchFamily="34" charset="-120"/>
              </a:rPr>
              <a:t>Final decision rule for SARPyX-first experimentation and WORLDSAR-first operations</a:t>
            </a:r>
            <a:endParaRPr lang="en-US" sz="1150" dirty="0"/>
          </a:p>
        </p:txBody>
      </p:sp>
      <p:sp>
        <p:nvSpPr>
          <p:cNvPr id="5" name="Text 3"/>
          <p:cNvSpPr/>
          <p:nvPr/>
        </p:nvSpPr>
        <p:spPr>
          <a:xfrm>
            <a:off x="749808" y="1426464"/>
            <a:ext cx="2194560" cy="219456"/>
          </a:xfrm>
          <a:prstGeom prst="rect">
            <a:avLst/>
          </a:prstGeom>
          <a:noFill/>
          <a:ln/>
        </p:spPr>
        <p:txBody>
          <a:bodyPr wrap="square" lIns="0" tIns="0" rIns="0" bIns="0" rtlCol="0" anchor="ctr">
            <a:normAutofit/>
          </a:bodyPr>
          <a:lstStyle/>
          <a:p>
            <a:pPr marL="0" indent="0">
              <a:buNone/>
            </a:pPr>
            <a:r>
              <a:rPr lang="en-US" sz="1080" b="1" dirty="0">
                <a:solidFill>
                  <a:srgbClr val="6E6E6E"/>
                </a:solidFill>
                <a:latin typeface="Arial" pitchFamily="34" charset="0"/>
                <a:ea typeface="Arial" pitchFamily="34" charset="-122"/>
                <a:cs typeface="Arial" pitchFamily="34" charset="-120"/>
              </a:rPr>
              <a:t>DECISION MATRIX</a:t>
            </a:r>
            <a:endParaRPr lang="en-US" sz="1080" dirty="0"/>
          </a:p>
        </p:txBody>
      </p:sp>
      <p:sp>
        <p:nvSpPr>
          <p:cNvPr id="6" name="Shape 4"/>
          <p:cNvSpPr/>
          <p:nvPr/>
        </p:nvSpPr>
        <p:spPr>
          <a:xfrm>
            <a:off x="749808" y="1755648"/>
            <a:ext cx="5212080" cy="3968496"/>
          </a:xfrm>
          <a:prstGeom prst="roundRect">
            <a:avLst>
              <a:gd name="adj" fmla="val 1843"/>
            </a:avLst>
          </a:prstGeom>
          <a:solidFill>
            <a:srgbClr val="F6F6F6"/>
          </a:solidFill>
          <a:ln w="12700">
            <a:solidFill>
              <a:srgbClr val="C9C9C9"/>
            </a:solidFill>
            <a:prstDash val="solid"/>
          </a:ln>
        </p:spPr>
        <p:txBody>
          <a:bodyPr/>
          <a:lstStyle/>
          <a:p>
            <a:endParaRPr lang="en-US"/>
          </a:p>
        </p:txBody>
      </p:sp>
      <p:sp>
        <p:nvSpPr>
          <p:cNvPr id="7" name="Shape 5"/>
          <p:cNvSpPr/>
          <p:nvPr/>
        </p:nvSpPr>
        <p:spPr>
          <a:xfrm>
            <a:off x="777240" y="1783080"/>
            <a:ext cx="5157216" cy="54864"/>
          </a:xfrm>
          <a:prstGeom prst="rect">
            <a:avLst/>
          </a:prstGeom>
          <a:solidFill>
            <a:srgbClr val="474747"/>
          </a:solidFill>
          <a:ln w="6350">
            <a:solidFill>
              <a:srgbClr val="474747"/>
            </a:solidFill>
            <a:prstDash val="solid"/>
          </a:ln>
        </p:spPr>
        <p:txBody>
          <a:bodyPr/>
          <a:lstStyle/>
          <a:p>
            <a:endParaRPr lang="en-US"/>
          </a:p>
        </p:txBody>
      </p:sp>
      <p:sp>
        <p:nvSpPr>
          <p:cNvPr id="8" name="Text 6"/>
          <p:cNvSpPr/>
          <p:nvPr/>
        </p:nvSpPr>
        <p:spPr>
          <a:xfrm>
            <a:off x="987552" y="1920240"/>
            <a:ext cx="4663440" cy="256032"/>
          </a:xfrm>
          <a:prstGeom prst="rect">
            <a:avLst/>
          </a:prstGeom>
          <a:noFill/>
          <a:ln/>
        </p:spPr>
        <p:txBody>
          <a:bodyPr wrap="square" lIns="0" tIns="0" rIns="0" bIns="0" rtlCol="0" anchor="ctr">
            <a:normAutofit/>
          </a:bodyPr>
          <a:lstStyle/>
          <a:p>
            <a:pPr marL="0" indent="0">
              <a:buNone/>
            </a:pPr>
            <a:r>
              <a:rPr lang="en-US" sz="1400" b="1" dirty="0">
                <a:solidFill>
                  <a:srgbClr val="222222"/>
                </a:solidFill>
                <a:latin typeface="Arial" pitchFamily="34" charset="0"/>
                <a:ea typeface="Arial" pitchFamily="34" charset="-122"/>
                <a:cs typeface="Arial" pitchFamily="34" charset="-120"/>
              </a:rPr>
              <a:t>Choose SARPyX directly</a:t>
            </a:r>
            <a:endParaRPr lang="en-US" sz="1400" dirty="0"/>
          </a:p>
        </p:txBody>
      </p:sp>
      <p:sp>
        <p:nvSpPr>
          <p:cNvPr id="9" name="Shape 7"/>
          <p:cNvSpPr/>
          <p:nvPr/>
        </p:nvSpPr>
        <p:spPr>
          <a:xfrm>
            <a:off x="987552" y="2322576"/>
            <a:ext cx="310896" cy="310896"/>
          </a:xfrm>
          <a:prstGeom prst="ellipse">
            <a:avLst/>
          </a:prstGeom>
          <a:solidFill>
            <a:srgbClr val="474747"/>
          </a:solidFill>
          <a:ln w="6350">
            <a:solidFill>
              <a:srgbClr val="474747"/>
            </a:solidFill>
            <a:prstDash val="solid"/>
          </a:ln>
        </p:spPr>
        <p:txBody>
          <a:bodyPr/>
          <a:lstStyle/>
          <a:p>
            <a:endParaRPr lang="en-US"/>
          </a:p>
        </p:txBody>
      </p:sp>
      <p:sp>
        <p:nvSpPr>
          <p:cNvPr id="10" name="Text 8"/>
          <p:cNvSpPr/>
          <p:nvPr/>
        </p:nvSpPr>
        <p:spPr>
          <a:xfrm>
            <a:off x="987552" y="2340864"/>
            <a:ext cx="310896" cy="21945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1" name="Text 9"/>
          <p:cNvSpPr/>
          <p:nvPr/>
        </p:nvSpPr>
        <p:spPr>
          <a:xfrm>
            <a:off x="1353312" y="2304288"/>
            <a:ext cx="4279392" cy="237744"/>
          </a:xfrm>
          <a:prstGeom prst="rect">
            <a:avLst/>
          </a:prstGeom>
          <a:noFill/>
          <a:ln/>
        </p:spPr>
        <p:txBody>
          <a:bodyPr wrap="square" lIns="0" tIns="0" rIns="0" bIns="0" rtlCol="0" anchor="t">
            <a:normAutofit/>
          </a:bodyPr>
          <a:lstStyle/>
          <a:p>
            <a:pPr marL="0" indent="0" algn="l">
              <a:buNone/>
            </a:pPr>
            <a:r>
              <a:rPr lang="en-US" sz="1120" dirty="0">
                <a:solidFill>
                  <a:srgbClr val="444444"/>
                </a:solidFill>
                <a:latin typeface="Arial" pitchFamily="34" charset="0"/>
                <a:ea typeface="Arial" pitchFamily="34" charset="-122"/>
                <a:cs typeface="Arial" pitchFamily="34" charset="-120"/>
              </a:rPr>
              <a:t>When you want to inspect decode/focus stages independently.</a:t>
            </a:r>
            <a:endParaRPr lang="en-US" sz="1120" dirty="0"/>
          </a:p>
        </p:txBody>
      </p:sp>
      <p:sp>
        <p:nvSpPr>
          <p:cNvPr id="12" name="Shape 10"/>
          <p:cNvSpPr/>
          <p:nvPr/>
        </p:nvSpPr>
        <p:spPr>
          <a:xfrm>
            <a:off x="987552" y="2761488"/>
            <a:ext cx="310896" cy="310896"/>
          </a:xfrm>
          <a:prstGeom prst="ellipse">
            <a:avLst/>
          </a:prstGeom>
          <a:solidFill>
            <a:srgbClr val="474747"/>
          </a:solidFill>
          <a:ln w="6350">
            <a:solidFill>
              <a:srgbClr val="474747"/>
            </a:solidFill>
            <a:prstDash val="solid"/>
          </a:ln>
        </p:spPr>
        <p:txBody>
          <a:bodyPr/>
          <a:lstStyle/>
          <a:p>
            <a:endParaRPr lang="en-US"/>
          </a:p>
        </p:txBody>
      </p:sp>
      <p:sp>
        <p:nvSpPr>
          <p:cNvPr id="13" name="Text 11"/>
          <p:cNvSpPr/>
          <p:nvPr/>
        </p:nvSpPr>
        <p:spPr>
          <a:xfrm>
            <a:off x="987552" y="2779776"/>
            <a:ext cx="310896" cy="21945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4" name="Text 12"/>
          <p:cNvSpPr/>
          <p:nvPr/>
        </p:nvSpPr>
        <p:spPr>
          <a:xfrm>
            <a:off x="1353312" y="2743200"/>
            <a:ext cx="4279392" cy="310896"/>
          </a:xfrm>
          <a:prstGeom prst="rect">
            <a:avLst/>
          </a:prstGeom>
          <a:noFill/>
          <a:ln/>
        </p:spPr>
        <p:txBody>
          <a:bodyPr wrap="square" lIns="0" tIns="0" rIns="0" bIns="0" rtlCol="0" anchor="t">
            <a:normAutofit lnSpcReduction="10000"/>
          </a:bodyPr>
          <a:lstStyle/>
          <a:p>
            <a:pPr marL="0" indent="0" algn="l">
              <a:buNone/>
            </a:pPr>
            <a:r>
              <a:rPr lang="en-US" sz="1120" dirty="0">
                <a:solidFill>
                  <a:srgbClr val="444444"/>
                </a:solidFill>
                <a:latin typeface="Arial" pitchFamily="34" charset="0"/>
                <a:ea typeface="Arial" pitchFamily="34" charset="-122"/>
                <a:cs typeface="Arial" pitchFamily="34" charset="-120"/>
              </a:rPr>
              <a:t>When you are tuning algorithms, sub-aperture logic, or custom Python analysis.</a:t>
            </a:r>
            <a:endParaRPr lang="en-US" sz="1120" dirty="0"/>
          </a:p>
        </p:txBody>
      </p:sp>
      <p:sp>
        <p:nvSpPr>
          <p:cNvPr id="15" name="Shape 13"/>
          <p:cNvSpPr/>
          <p:nvPr/>
        </p:nvSpPr>
        <p:spPr>
          <a:xfrm>
            <a:off x="987552" y="3255264"/>
            <a:ext cx="310896" cy="310896"/>
          </a:xfrm>
          <a:prstGeom prst="ellipse">
            <a:avLst/>
          </a:prstGeom>
          <a:solidFill>
            <a:srgbClr val="474747"/>
          </a:solidFill>
          <a:ln w="6350">
            <a:solidFill>
              <a:srgbClr val="474747"/>
            </a:solidFill>
            <a:prstDash val="solid"/>
          </a:ln>
        </p:spPr>
        <p:txBody>
          <a:bodyPr/>
          <a:lstStyle/>
          <a:p>
            <a:endParaRPr lang="en-US"/>
          </a:p>
        </p:txBody>
      </p:sp>
      <p:sp>
        <p:nvSpPr>
          <p:cNvPr id="16" name="Text 14"/>
          <p:cNvSpPr/>
          <p:nvPr/>
        </p:nvSpPr>
        <p:spPr>
          <a:xfrm>
            <a:off x="987552" y="3273552"/>
            <a:ext cx="310896" cy="21945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17" name="Text 15"/>
          <p:cNvSpPr/>
          <p:nvPr/>
        </p:nvSpPr>
        <p:spPr>
          <a:xfrm>
            <a:off x="1353312" y="3236976"/>
            <a:ext cx="4279392" cy="237744"/>
          </a:xfrm>
          <a:prstGeom prst="rect">
            <a:avLst/>
          </a:prstGeom>
          <a:noFill/>
          <a:ln/>
        </p:spPr>
        <p:txBody>
          <a:bodyPr wrap="square" lIns="0" tIns="0" rIns="0" bIns="0" rtlCol="0" anchor="t">
            <a:normAutofit/>
          </a:bodyPr>
          <a:lstStyle/>
          <a:p>
            <a:pPr marL="0" indent="0" algn="l">
              <a:buNone/>
            </a:pPr>
            <a:r>
              <a:rPr lang="en-US" sz="1120" dirty="0">
                <a:solidFill>
                  <a:srgbClr val="444444"/>
                </a:solidFill>
                <a:latin typeface="Arial" pitchFamily="34" charset="0"/>
                <a:ea typeface="Arial" pitchFamily="34" charset="-122"/>
                <a:cs typeface="Arial" pitchFamily="34" charset="-120"/>
              </a:rPr>
              <a:t>When you need fast CLI proofs on a small number of products.</a:t>
            </a:r>
            <a:endParaRPr lang="en-US" sz="1120" dirty="0"/>
          </a:p>
        </p:txBody>
      </p:sp>
      <p:sp>
        <p:nvSpPr>
          <p:cNvPr id="18" name="Shape 16"/>
          <p:cNvSpPr/>
          <p:nvPr/>
        </p:nvSpPr>
        <p:spPr>
          <a:xfrm>
            <a:off x="987552" y="3694176"/>
            <a:ext cx="310896" cy="310896"/>
          </a:xfrm>
          <a:prstGeom prst="ellipse">
            <a:avLst/>
          </a:prstGeom>
          <a:solidFill>
            <a:srgbClr val="474747"/>
          </a:solidFill>
          <a:ln w="6350">
            <a:solidFill>
              <a:srgbClr val="474747"/>
            </a:solidFill>
            <a:prstDash val="solid"/>
          </a:ln>
        </p:spPr>
        <p:txBody>
          <a:bodyPr/>
          <a:lstStyle/>
          <a:p>
            <a:endParaRPr lang="en-US"/>
          </a:p>
        </p:txBody>
      </p:sp>
      <p:sp>
        <p:nvSpPr>
          <p:cNvPr id="19" name="Text 17"/>
          <p:cNvSpPr/>
          <p:nvPr/>
        </p:nvSpPr>
        <p:spPr>
          <a:xfrm>
            <a:off x="987552" y="3712464"/>
            <a:ext cx="310896" cy="21945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20" name="Text 18"/>
          <p:cNvSpPr/>
          <p:nvPr/>
        </p:nvSpPr>
        <p:spPr>
          <a:xfrm>
            <a:off x="1353312" y="3675888"/>
            <a:ext cx="4279392" cy="310896"/>
          </a:xfrm>
          <a:prstGeom prst="rect">
            <a:avLst/>
          </a:prstGeom>
          <a:noFill/>
          <a:ln/>
        </p:spPr>
        <p:txBody>
          <a:bodyPr wrap="square" lIns="0" tIns="0" rIns="0" bIns="0" rtlCol="0" anchor="t">
            <a:normAutofit lnSpcReduction="10000"/>
          </a:bodyPr>
          <a:lstStyle/>
          <a:p>
            <a:pPr marL="0" indent="0" algn="l">
              <a:buNone/>
            </a:pPr>
            <a:r>
              <a:rPr lang="en-US" sz="1120" dirty="0">
                <a:solidFill>
                  <a:srgbClr val="444444"/>
                </a:solidFill>
                <a:latin typeface="Arial" pitchFamily="34" charset="0"/>
                <a:ea typeface="Arial" pitchFamily="34" charset="-122"/>
                <a:cs typeface="Arial" pitchFamily="34" charset="-120"/>
              </a:rPr>
              <a:t>When you want to import sarpyx.* directly in notebooks, scripts, or workflow managers.</a:t>
            </a:r>
            <a:endParaRPr lang="en-US" sz="1120" dirty="0"/>
          </a:p>
        </p:txBody>
      </p:sp>
      <p:sp>
        <p:nvSpPr>
          <p:cNvPr id="21" name="Shape 19"/>
          <p:cNvSpPr/>
          <p:nvPr/>
        </p:nvSpPr>
        <p:spPr>
          <a:xfrm>
            <a:off x="987552" y="4187952"/>
            <a:ext cx="310896" cy="310896"/>
          </a:xfrm>
          <a:prstGeom prst="ellipse">
            <a:avLst/>
          </a:prstGeom>
          <a:solidFill>
            <a:srgbClr val="474747"/>
          </a:solidFill>
          <a:ln w="6350">
            <a:solidFill>
              <a:srgbClr val="474747"/>
            </a:solidFill>
            <a:prstDash val="solid"/>
          </a:ln>
        </p:spPr>
        <p:txBody>
          <a:bodyPr/>
          <a:lstStyle/>
          <a:p>
            <a:endParaRPr lang="en-US"/>
          </a:p>
        </p:txBody>
      </p:sp>
      <p:sp>
        <p:nvSpPr>
          <p:cNvPr id="22" name="Text 20"/>
          <p:cNvSpPr/>
          <p:nvPr/>
        </p:nvSpPr>
        <p:spPr>
          <a:xfrm>
            <a:off x="987552" y="4206240"/>
            <a:ext cx="310896" cy="21945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23" name="Text 21"/>
          <p:cNvSpPr/>
          <p:nvPr/>
        </p:nvSpPr>
        <p:spPr>
          <a:xfrm>
            <a:off x="1353312" y="4233671"/>
            <a:ext cx="4279392" cy="338327"/>
          </a:xfrm>
          <a:prstGeom prst="rect">
            <a:avLst/>
          </a:prstGeom>
          <a:noFill/>
          <a:ln/>
        </p:spPr>
        <p:txBody>
          <a:bodyPr wrap="square" lIns="0" tIns="0" rIns="0" bIns="0" rtlCol="0" anchor="t">
            <a:normAutofit lnSpcReduction="10000"/>
          </a:bodyPr>
          <a:lstStyle/>
          <a:p>
            <a:pPr marL="0" indent="0" algn="l">
              <a:buNone/>
            </a:pPr>
            <a:r>
              <a:rPr lang="en-US" sz="1120" dirty="0">
                <a:solidFill>
                  <a:srgbClr val="444444"/>
                </a:solidFill>
                <a:latin typeface="Arial" pitchFamily="34" charset="0"/>
                <a:ea typeface="Arial" pitchFamily="34" charset="-122"/>
                <a:cs typeface="Arial" pitchFamily="34" charset="-120"/>
              </a:rPr>
              <a:t>When the repo wrapper would add ceremony without increasing repeatability.</a:t>
            </a:r>
            <a:endParaRPr lang="en-US" sz="1120" dirty="0"/>
          </a:p>
        </p:txBody>
      </p:sp>
      <p:sp>
        <p:nvSpPr>
          <p:cNvPr id="24" name="Shape 22"/>
          <p:cNvSpPr/>
          <p:nvPr/>
        </p:nvSpPr>
        <p:spPr>
          <a:xfrm>
            <a:off x="6217920" y="1755648"/>
            <a:ext cx="5212080" cy="3968496"/>
          </a:xfrm>
          <a:prstGeom prst="roundRect">
            <a:avLst>
              <a:gd name="adj" fmla="val 1843"/>
            </a:avLst>
          </a:prstGeom>
          <a:solidFill>
            <a:srgbClr val="F6F6F6"/>
          </a:solidFill>
          <a:ln w="12700">
            <a:solidFill>
              <a:srgbClr val="C9C9C9"/>
            </a:solidFill>
            <a:prstDash val="solid"/>
          </a:ln>
        </p:spPr>
        <p:txBody>
          <a:bodyPr/>
          <a:lstStyle/>
          <a:p>
            <a:endParaRPr lang="en-US"/>
          </a:p>
        </p:txBody>
      </p:sp>
      <p:sp>
        <p:nvSpPr>
          <p:cNvPr id="25" name="Shape 23"/>
          <p:cNvSpPr/>
          <p:nvPr/>
        </p:nvSpPr>
        <p:spPr>
          <a:xfrm>
            <a:off x="6245352" y="1783080"/>
            <a:ext cx="5157216" cy="54864"/>
          </a:xfrm>
          <a:prstGeom prst="rect">
            <a:avLst/>
          </a:prstGeom>
          <a:solidFill>
            <a:srgbClr val="474747"/>
          </a:solidFill>
          <a:ln w="6350">
            <a:solidFill>
              <a:srgbClr val="474747"/>
            </a:solidFill>
            <a:prstDash val="solid"/>
          </a:ln>
        </p:spPr>
        <p:txBody>
          <a:bodyPr/>
          <a:lstStyle/>
          <a:p>
            <a:endParaRPr lang="en-US"/>
          </a:p>
        </p:txBody>
      </p:sp>
      <p:sp>
        <p:nvSpPr>
          <p:cNvPr id="26" name="Text 24"/>
          <p:cNvSpPr/>
          <p:nvPr/>
        </p:nvSpPr>
        <p:spPr>
          <a:xfrm>
            <a:off x="6455664" y="1920240"/>
            <a:ext cx="4663440" cy="256032"/>
          </a:xfrm>
          <a:prstGeom prst="rect">
            <a:avLst/>
          </a:prstGeom>
          <a:noFill/>
          <a:ln/>
        </p:spPr>
        <p:txBody>
          <a:bodyPr wrap="square" lIns="0" tIns="0" rIns="0" bIns="0" rtlCol="0" anchor="ctr">
            <a:normAutofit/>
          </a:bodyPr>
          <a:lstStyle/>
          <a:p>
            <a:pPr marL="0" indent="0">
              <a:buNone/>
            </a:pPr>
            <a:r>
              <a:rPr lang="en-US" sz="1400" b="1" dirty="0">
                <a:solidFill>
                  <a:srgbClr val="222222"/>
                </a:solidFill>
                <a:latin typeface="Arial" pitchFamily="34" charset="0"/>
                <a:ea typeface="Arial" pitchFamily="34" charset="-122"/>
                <a:cs typeface="Arial" pitchFamily="34" charset="-120"/>
              </a:rPr>
              <a:t>Choose WORLDSAR</a:t>
            </a:r>
            <a:endParaRPr lang="en-US" sz="1400" dirty="0"/>
          </a:p>
        </p:txBody>
      </p:sp>
      <p:sp>
        <p:nvSpPr>
          <p:cNvPr id="27" name="Shape 25"/>
          <p:cNvSpPr/>
          <p:nvPr/>
        </p:nvSpPr>
        <p:spPr>
          <a:xfrm>
            <a:off x="6455664" y="2322576"/>
            <a:ext cx="310896" cy="310896"/>
          </a:xfrm>
          <a:prstGeom prst="ellipse">
            <a:avLst/>
          </a:prstGeom>
          <a:solidFill>
            <a:srgbClr val="474747"/>
          </a:solidFill>
          <a:ln w="6350">
            <a:solidFill>
              <a:srgbClr val="474747"/>
            </a:solidFill>
            <a:prstDash val="solid"/>
          </a:ln>
        </p:spPr>
        <p:txBody>
          <a:bodyPr/>
          <a:lstStyle/>
          <a:p>
            <a:endParaRPr lang="en-US"/>
          </a:p>
        </p:txBody>
      </p:sp>
      <p:sp>
        <p:nvSpPr>
          <p:cNvPr id="28" name="Text 26"/>
          <p:cNvSpPr/>
          <p:nvPr/>
        </p:nvSpPr>
        <p:spPr>
          <a:xfrm>
            <a:off x="6455664" y="2340864"/>
            <a:ext cx="310896" cy="21945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29" name="Text 27"/>
          <p:cNvSpPr/>
          <p:nvPr/>
        </p:nvSpPr>
        <p:spPr>
          <a:xfrm>
            <a:off x="6821424" y="2304288"/>
            <a:ext cx="4279392" cy="310896"/>
          </a:xfrm>
          <a:prstGeom prst="rect">
            <a:avLst/>
          </a:prstGeom>
          <a:noFill/>
          <a:ln/>
        </p:spPr>
        <p:txBody>
          <a:bodyPr wrap="square" lIns="0" tIns="0" rIns="0" bIns="0" rtlCol="0" anchor="t">
            <a:normAutofit lnSpcReduction="10000"/>
          </a:bodyPr>
          <a:lstStyle/>
          <a:p>
            <a:pPr marL="0" indent="0" algn="l">
              <a:buNone/>
            </a:pPr>
            <a:r>
              <a:rPr lang="en-US" sz="1120" dirty="0">
                <a:solidFill>
                  <a:srgbClr val="444444"/>
                </a:solidFill>
                <a:latin typeface="Arial" pitchFamily="34" charset="0"/>
                <a:ea typeface="Arial" pitchFamily="34" charset="-122"/>
                <a:cs typeface="Arial" pitchFamily="34" charset="-120"/>
              </a:rPr>
              <a:t>When the run must be reproducible across local VM and cluster environments.</a:t>
            </a:r>
            <a:endParaRPr lang="en-US" sz="1120" dirty="0"/>
          </a:p>
        </p:txBody>
      </p:sp>
      <p:sp>
        <p:nvSpPr>
          <p:cNvPr id="30" name="Shape 28"/>
          <p:cNvSpPr/>
          <p:nvPr/>
        </p:nvSpPr>
        <p:spPr>
          <a:xfrm>
            <a:off x="6455664" y="2761488"/>
            <a:ext cx="310896" cy="310896"/>
          </a:xfrm>
          <a:prstGeom prst="ellipse">
            <a:avLst/>
          </a:prstGeom>
          <a:solidFill>
            <a:srgbClr val="474747"/>
          </a:solidFill>
          <a:ln w="6350">
            <a:solidFill>
              <a:srgbClr val="474747"/>
            </a:solidFill>
            <a:prstDash val="solid"/>
          </a:ln>
        </p:spPr>
        <p:txBody>
          <a:bodyPr/>
          <a:lstStyle/>
          <a:p>
            <a:endParaRPr lang="en-US"/>
          </a:p>
        </p:txBody>
      </p:sp>
      <p:sp>
        <p:nvSpPr>
          <p:cNvPr id="31" name="Text 29"/>
          <p:cNvSpPr/>
          <p:nvPr/>
        </p:nvSpPr>
        <p:spPr>
          <a:xfrm>
            <a:off x="6455664" y="2779776"/>
            <a:ext cx="310896" cy="21945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32" name="Text 30"/>
          <p:cNvSpPr/>
          <p:nvPr/>
        </p:nvSpPr>
        <p:spPr>
          <a:xfrm>
            <a:off x="6821424" y="2743200"/>
            <a:ext cx="4279392" cy="310896"/>
          </a:xfrm>
          <a:prstGeom prst="rect">
            <a:avLst/>
          </a:prstGeom>
          <a:noFill/>
          <a:ln/>
        </p:spPr>
        <p:txBody>
          <a:bodyPr wrap="square" lIns="0" tIns="0" rIns="0" bIns="0" rtlCol="0" anchor="t">
            <a:normAutofit lnSpcReduction="10000"/>
          </a:bodyPr>
          <a:lstStyle/>
          <a:p>
            <a:pPr marL="0" indent="0" algn="l">
              <a:buNone/>
            </a:pPr>
            <a:r>
              <a:rPr lang="en-US" sz="1120" dirty="0">
                <a:solidFill>
                  <a:srgbClr val="444444"/>
                </a:solidFill>
                <a:latin typeface="Arial" pitchFamily="34" charset="0"/>
                <a:ea typeface="Arial" pitchFamily="34" charset="-122"/>
                <a:cs typeface="Arial" pitchFamily="34" charset="-120"/>
              </a:rPr>
              <a:t>When you need standardized tiling, cut reports, metadata DB creation, and run logs.</a:t>
            </a:r>
            <a:endParaRPr lang="en-US" sz="1120" dirty="0"/>
          </a:p>
        </p:txBody>
      </p:sp>
      <p:sp>
        <p:nvSpPr>
          <p:cNvPr id="33" name="Shape 31"/>
          <p:cNvSpPr/>
          <p:nvPr/>
        </p:nvSpPr>
        <p:spPr>
          <a:xfrm>
            <a:off x="6455664" y="3255264"/>
            <a:ext cx="310896" cy="310896"/>
          </a:xfrm>
          <a:prstGeom prst="ellipse">
            <a:avLst/>
          </a:prstGeom>
          <a:solidFill>
            <a:srgbClr val="474747"/>
          </a:solidFill>
          <a:ln w="6350">
            <a:solidFill>
              <a:srgbClr val="474747"/>
            </a:solidFill>
            <a:prstDash val="solid"/>
          </a:ln>
        </p:spPr>
        <p:txBody>
          <a:bodyPr/>
          <a:lstStyle/>
          <a:p>
            <a:endParaRPr lang="en-US"/>
          </a:p>
        </p:txBody>
      </p:sp>
      <p:sp>
        <p:nvSpPr>
          <p:cNvPr id="34" name="Text 32"/>
          <p:cNvSpPr/>
          <p:nvPr/>
        </p:nvSpPr>
        <p:spPr>
          <a:xfrm>
            <a:off x="6455664" y="3273552"/>
            <a:ext cx="310896" cy="21945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35" name="Text 33"/>
          <p:cNvSpPr/>
          <p:nvPr/>
        </p:nvSpPr>
        <p:spPr>
          <a:xfrm>
            <a:off x="6821424" y="3236976"/>
            <a:ext cx="4279392" cy="384048"/>
          </a:xfrm>
          <a:prstGeom prst="rect">
            <a:avLst/>
          </a:prstGeom>
          <a:noFill/>
          <a:ln/>
        </p:spPr>
        <p:txBody>
          <a:bodyPr wrap="square" lIns="0" tIns="0" rIns="0" bIns="0" rtlCol="0" anchor="t">
            <a:normAutofit/>
          </a:bodyPr>
          <a:lstStyle/>
          <a:p>
            <a:pPr marL="0" indent="0" algn="l">
              <a:buNone/>
            </a:pPr>
            <a:r>
              <a:rPr lang="en-US" sz="1120" dirty="0">
                <a:solidFill>
                  <a:srgbClr val="444444"/>
                </a:solidFill>
                <a:latin typeface="Arial" pitchFamily="34" charset="0"/>
                <a:ea typeface="Arial" pitchFamily="34" charset="-122"/>
                <a:cs typeface="Arial" pitchFamily="34" charset="-120"/>
              </a:rPr>
              <a:t>When mission-specific routing and container assets must be part of the interface, not tribal knowledge.</a:t>
            </a:r>
            <a:endParaRPr lang="en-US" sz="1120" dirty="0"/>
          </a:p>
        </p:txBody>
      </p:sp>
      <p:sp>
        <p:nvSpPr>
          <p:cNvPr id="36" name="Shape 34"/>
          <p:cNvSpPr/>
          <p:nvPr/>
        </p:nvSpPr>
        <p:spPr>
          <a:xfrm>
            <a:off x="6455664" y="3785616"/>
            <a:ext cx="310896" cy="310896"/>
          </a:xfrm>
          <a:prstGeom prst="ellipse">
            <a:avLst/>
          </a:prstGeom>
          <a:solidFill>
            <a:srgbClr val="474747"/>
          </a:solidFill>
          <a:ln w="6350">
            <a:solidFill>
              <a:srgbClr val="474747"/>
            </a:solidFill>
            <a:prstDash val="solid"/>
          </a:ln>
        </p:spPr>
        <p:txBody>
          <a:bodyPr/>
          <a:lstStyle/>
          <a:p>
            <a:endParaRPr lang="en-US"/>
          </a:p>
        </p:txBody>
      </p:sp>
      <p:sp>
        <p:nvSpPr>
          <p:cNvPr id="37" name="Text 35"/>
          <p:cNvSpPr/>
          <p:nvPr/>
        </p:nvSpPr>
        <p:spPr>
          <a:xfrm>
            <a:off x="6455664" y="3803904"/>
            <a:ext cx="310896" cy="21945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38" name="Text 36"/>
          <p:cNvSpPr/>
          <p:nvPr/>
        </p:nvSpPr>
        <p:spPr>
          <a:xfrm>
            <a:off x="6821424" y="3767328"/>
            <a:ext cx="4279392" cy="310896"/>
          </a:xfrm>
          <a:prstGeom prst="rect">
            <a:avLst/>
          </a:prstGeom>
          <a:noFill/>
          <a:ln/>
        </p:spPr>
        <p:txBody>
          <a:bodyPr wrap="square" lIns="0" tIns="0" rIns="0" bIns="0" rtlCol="0" anchor="t">
            <a:normAutofit lnSpcReduction="10000"/>
          </a:bodyPr>
          <a:lstStyle/>
          <a:p>
            <a:pPr marL="0" indent="0" algn="l">
              <a:buNone/>
            </a:pPr>
            <a:r>
              <a:rPr lang="en-US" sz="1120" dirty="0">
                <a:solidFill>
                  <a:srgbClr val="444444"/>
                </a:solidFill>
                <a:latin typeface="Arial" pitchFamily="34" charset="0"/>
                <a:ea typeface="Arial" pitchFamily="34" charset="-122"/>
                <a:cs typeface="Arial" pitchFamily="34" charset="-120"/>
              </a:rPr>
              <a:t>When the same command must survive handoff from research to operations.</a:t>
            </a:r>
            <a:endParaRPr lang="en-US" sz="1120" dirty="0"/>
          </a:p>
        </p:txBody>
      </p:sp>
      <p:sp>
        <p:nvSpPr>
          <p:cNvPr id="39" name="Shape 37"/>
          <p:cNvSpPr/>
          <p:nvPr/>
        </p:nvSpPr>
        <p:spPr>
          <a:xfrm>
            <a:off x="6455664" y="4279392"/>
            <a:ext cx="310896" cy="310896"/>
          </a:xfrm>
          <a:prstGeom prst="ellipse">
            <a:avLst/>
          </a:prstGeom>
          <a:solidFill>
            <a:srgbClr val="474747"/>
          </a:solidFill>
          <a:ln w="6350">
            <a:solidFill>
              <a:srgbClr val="474747"/>
            </a:solidFill>
            <a:prstDash val="solid"/>
          </a:ln>
        </p:spPr>
        <p:txBody>
          <a:bodyPr/>
          <a:lstStyle/>
          <a:p>
            <a:endParaRPr lang="en-US"/>
          </a:p>
        </p:txBody>
      </p:sp>
      <p:sp>
        <p:nvSpPr>
          <p:cNvPr id="40" name="Text 38"/>
          <p:cNvSpPr/>
          <p:nvPr/>
        </p:nvSpPr>
        <p:spPr>
          <a:xfrm>
            <a:off x="6455664" y="4297680"/>
            <a:ext cx="310896" cy="21945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5</a:t>
            </a:r>
            <a:endParaRPr lang="en-US" sz="1100" dirty="0"/>
          </a:p>
        </p:txBody>
      </p:sp>
      <p:sp>
        <p:nvSpPr>
          <p:cNvPr id="41" name="Text 39"/>
          <p:cNvSpPr/>
          <p:nvPr/>
        </p:nvSpPr>
        <p:spPr>
          <a:xfrm>
            <a:off x="6821424" y="4334254"/>
            <a:ext cx="4279392" cy="237744"/>
          </a:xfrm>
          <a:prstGeom prst="rect">
            <a:avLst/>
          </a:prstGeom>
          <a:noFill/>
          <a:ln/>
        </p:spPr>
        <p:txBody>
          <a:bodyPr wrap="square" lIns="0" tIns="0" rIns="0" bIns="0" rtlCol="0" anchor="t">
            <a:normAutofit/>
          </a:bodyPr>
          <a:lstStyle/>
          <a:p>
            <a:pPr marL="0" indent="0" algn="l">
              <a:buNone/>
            </a:pPr>
            <a:r>
              <a:rPr lang="en-US" sz="1120" dirty="0">
                <a:solidFill>
                  <a:srgbClr val="444444"/>
                </a:solidFill>
                <a:latin typeface="Arial" pitchFamily="34" charset="0"/>
                <a:ea typeface="Arial" pitchFamily="34" charset="-122"/>
                <a:cs typeface="Arial" pitchFamily="34" charset="-120"/>
              </a:rPr>
              <a:t>When scale and observability matter more than minimal setup.</a:t>
            </a:r>
            <a:endParaRPr lang="en-US" sz="1120" dirty="0"/>
          </a:p>
        </p:txBody>
      </p:sp>
      <p:sp>
        <p:nvSpPr>
          <p:cNvPr id="42" name="Shape 40"/>
          <p:cNvSpPr/>
          <p:nvPr/>
        </p:nvSpPr>
        <p:spPr>
          <a:xfrm>
            <a:off x="749808" y="5687568"/>
            <a:ext cx="10680192" cy="0"/>
          </a:xfrm>
          <a:prstGeom prst="line">
            <a:avLst/>
          </a:prstGeom>
          <a:noFill/>
          <a:ln w="12700">
            <a:solidFill>
              <a:srgbClr val="D6D6D6"/>
            </a:solidFill>
            <a:prstDash val="solid"/>
          </a:ln>
        </p:spPr>
        <p:txBody>
          <a:bodyPr/>
          <a:lstStyle/>
          <a:p>
            <a:endParaRPr lang="en-US"/>
          </a:p>
        </p:txBody>
      </p:sp>
      <p:sp>
        <p:nvSpPr>
          <p:cNvPr id="43" name="Text 41"/>
          <p:cNvSpPr/>
          <p:nvPr/>
        </p:nvSpPr>
        <p:spPr>
          <a:xfrm>
            <a:off x="749808" y="5852160"/>
            <a:ext cx="10680192" cy="347472"/>
          </a:xfrm>
          <a:prstGeom prst="rect">
            <a:avLst/>
          </a:prstGeom>
          <a:noFill/>
          <a:ln/>
        </p:spPr>
        <p:txBody>
          <a:bodyPr wrap="square" lIns="0" tIns="0" rIns="0" bIns="0" rtlCol="0" anchor="t">
            <a:normAutofit/>
          </a:bodyPr>
          <a:lstStyle/>
          <a:p>
            <a:pPr marL="0" indent="0" algn="l">
              <a:buNone/>
            </a:pPr>
            <a:r>
              <a:rPr lang="en-US" sz="1100" b="1" dirty="0">
                <a:solidFill>
                  <a:srgbClr val="222222"/>
                </a:solidFill>
                <a:latin typeface="Arial" pitchFamily="34" charset="0"/>
                <a:ea typeface="Arial" pitchFamily="34" charset="-122"/>
                <a:cs typeface="Arial" pitchFamily="34" charset="-120"/>
              </a:rPr>
              <a:t>Recommendation: validate the Sentinel pipeline with SARPyX on one product, then operationalize the exact same logic in the apptainer branch of WORLDSAR. That sequence preserves technical clarity and avoids scaling unstable assumptions.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3976fa30-1907-4356-8241-62ea5e1c0256}" enabled="1" method="Privileged" siteId="{9a5cacd0-2bef-4dd7-ac5c-7ebe1f54f495}" removed="0"/>
</clbl:labelList>
</file>

<file path=docProps/app.xml><?xml version="1.0" encoding="utf-8"?>
<Properties xmlns="http://schemas.openxmlformats.org/officeDocument/2006/extended-properties" xmlns:vt="http://schemas.openxmlformats.org/officeDocument/2006/docPropsVTypes">
  <TotalTime>23</TotalTime>
  <Words>3261</Words>
  <Application>Microsoft Macintosh PowerPoint</Application>
  <PresentationFormat>Widescreen</PresentationFormat>
  <Paragraphs>360</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Courier New</vt:lpstr>
      <vt:lpstr>NotesEsa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SARPyX and WORLDSAR demo</dc:title>
  <dc:subject>SARPyX and WORLDSAR operational demo</dc:subject>
  <dc:creator>OpenAI</dc:creator>
  <cp:lastModifiedBy>Roberto Del Prete</cp:lastModifiedBy>
  <cp:revision>3</cp:revision>
  <dcterms:created xsi:type="dcterms:W3CDTF">2026-03-09T17:33:47Z</dcterms:created>
  <dcterms:modified xsi:type="dcterms:W3CDTF">2026-03-27T12:00:58Z</dcterms:modified>
</cp:coreProperties>
</file>